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BB873-5FD4-4490-B0B7-79F65198807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046F5-D873-4794-A230-D869964AC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46F5-D873-4794-A230-D869964AC9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1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Mô Hình ML Trong Hệ Thống Gợi Ý Gói Thầu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F0"/>
                </a:solidFill>
              </a:defRPr>
            </a:pPr>
            <a:r>
              <a:t>TF-IDF &amp; Sentence Transformer | VIETINBANK DauThau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1.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Hybrid Retrieval Architecture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5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2.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1: TF-IDF (Lexical Retrieval)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Nguyên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project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Code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hoạ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3.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2: Sentence Transformer (Semantic Retrieval)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paraphrase-multilingual-MiniLM-L12-v2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project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Code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hoạ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4.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2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— Hybrid Scoring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5.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&amp; Định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Tổng Quan Hệ Thống Gợi 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CEEC9-A97C-F5C1-632C-6C7B5DC0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B5568-98A2-42FE-E907-F69FF76F95F7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4FF05-CF9E-DC1E-C97A-A4A56FC200D4}"/>
              </a:ext>
            </a:extLst>
          </p:cNvPr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Kiến Trúc Hệ Thống Hybrid 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63C5C-F324-5629-26F6-1EC32BBB61AE}"/>
              </a:ext>
            </a:extLst>
          </p:cNvPr>
          <p:cNvSpPr txBox="1"/>
          <p:nvPr/>
        </p:nvSpPr>
        <p:spPr>
          <a:xfrm>
            <a:off x="457200" y="6400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t>Mỗi gói thầu nhận điểm tổng = tổng có trọng số (max = 100)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C57E7F-2068-1FB5-BCBF-1D26EEA5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1379"/>
              </p:ext>
            </p:extLst>
          </p:nvPr>
        </p:nvGraphicFramePr>
        <p:xfrm>
          <a:off x="2552007" y="1599348"/>
          <a:ext cx="8229601" cy="4206240"/>
        </p:xfrm>
        <a:graphic>
          <a:graphicData uri="http://schemas.openxmlformats.org/drawingml/2006/table">
            <a:tbl>
              <a:tblPr/>
              <a:tblGrid>
                <a:gridCol w="2574099">
                  <a:extLst>
                    <a:ext uri="{9D8B030D-6E8A-4147-A177-3AD203B41FA5}">
                      <a16:colId xmlns:a16="http://schemas.microsoft.com/office/drawing/2014/main" val="1062698739"/>
                    </a:ext>
                  </a:extLst>
                </a:gridCol>
                <a:gridCol w="2574099">
                  <a:extLst>
                    <a:ext uri="{9D8B030D-6E8A-4147-A177-3AD203B41FA5}">
                      <a16:colId xmlns:a16="http://schemas.microsoft.com/office/drawing/2014/main" val="2732092214"/>
                    </a:ext>
                  </a:extLst>
                </a:gridCol>
                <a:gridCol w="3081403">
                  <a:extLst>
                    <a:ext uri="{9D8B030D-6E8A-4147-A177-3AD203B41FA5}">
                      <a16:colId xmlns:a16="http://schemas.microsoft.com/office/drawing/2014/main" val="9113637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Thành phần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Trọng số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Công nghệ / Quy tắc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642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Lexical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TF-IDF (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Sklearn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):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Khớp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chính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xác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từ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khóa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chuyên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môn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11405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Semantic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35%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Sentence Transformer: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Hiểu ngữ nghĩa và ngữ cảnh.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46007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Historical Fit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Heuristics:</a:t>
                      </a:r>
                      <a:r>
                        <a:rPr lang="vi-V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Khớp lĩnh vực, địa bàn &amp; chủ đầu tư cũ.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490418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Price Fit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Profile Matching: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Phù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hợp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khung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ngân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sách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doanh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nghiệp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67314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Recency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 Decay:</a:t>
                      </a:r>
                      <a:r>
                        <a:rPr lang="vi-V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Ưu tiên gói thầu mới hoặc sắp hết hạn.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3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78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Thành Phần Điểm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786" y="1685999"/>
            <a:ext cx="45415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Lexical Score  (35%)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TF-IDF cosine similarity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So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query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gói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thầu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Tin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nhắn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Semantic Score  (35%)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Sentence Transformer embedding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 → vector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256B6-0AF9-7DFC-6EA4-4D57CACB57FB}"/>
              </a:ext>
            </a:extLst>
          </p:cNvPr>
          <p:cNvSpPr txBox="1"/>
          <p:nvPr/>
        </p:nvSpPr>
        <p:spPr>
          <a:xfrm>
            <a:off x="5357553" y="1685999"/>
            <a:ext cx="61375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Historical Fit  (15%)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Lĩnh vực mạnh doanh nghiệp đã thắng: +50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</a:t>
            </a:r>
            <a:r>
              <a:rPr lang="vi-VN" dirty="0"/>
              <a:t> </a:t>
            </a:r>
            <a:r>
              <a:rPr lang="vi-VN" sz="1800" dirty="0"/>
              <a:t>Địa bàn mạnh đã thắng: +30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Cùng chủ đầu tư quen: +20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Price Fit  (10%)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Giá gói thầu nằm trong khung giá doanh nghiệp: 100 điểm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Ngoài khung: tính partial score theo khoảng cách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Recency  (5%)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Sắp đóng thầu (≤7 ngày): 100 điểm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7-30 ngày: 80 điểm | 30-90 ngày: 60 điểm | &gt;90 ngày: 40 điểm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Mô Hình 1: TF-IDF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TF-IDF: Nguyên Lý Toán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Công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TF-IDF = TF(</a:t>
            </a:r>
            <a:r>
              <a:rPr dirty="0" err="1"/>
              <a:t>t,d</a:t>
            </a:r>
            <a:r>
              <a:rPr dirty="0"/>
              <a:t>) x IDF(t) 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TF(</a:t>
            </a:r>
            <a:r>
              <a:rPr dirty="0" err="1"/>
              <a:t>t,d</a:t>
            </a:r>
            <a:r>
              <a:rPr dirty="0"/>
              <a:t>)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d /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d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</a:t>
            </a: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en-US" dirty="0">
                <a:highlight>
                  <a:srgbClr val="FFFF00"/>
                </a:highlight>
              </a:rPr>
              <a:t> </a:t>
            </a: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 đó: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N: Tổng số văn bản trong tập Data D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|{d D:T\t d}|:Số lượng văn bản có chứa từ t (nếu từ đó không có thì sẽ cộng 1 vào mẫu để tránh lỗi chia cho 0)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Ý nghĩa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TF: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→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IDF: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phổ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ở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→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: vector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bản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Cosine Similarity:</a:t>
            </a:r>
            <a:r>
              <a:rPr lang="vi-VN" dirty="0"/>
              <a:t> </a:t>
            </a:r>
            <a:r>
              <a:rPr dirty="0"/>
              <a:t> </a:t>
            </a:r>
            <a:r>
              <a:rPr lang="vi-VN" dirty="0"/>
              <a:t>cas</a:t>
            </a:r>
            <a:r>
              <a:rPr dirty="0"/>
              <a:t>(A,B) = (A · B) / (|A| × |B|)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→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góc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2 vector (0→1)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t>Trong project dùng sublinear_tf=True: log(1+TF) thay vì TF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EA79D5-D9A8-F2E3-3FC3-2CE0D754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7041"/>
            <a:ext cx="3929091" cy="695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1B717F-C016-E086-C9B7-358E4E664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5" y="3315583"/>
            <a:ext cx="3057547" cy="700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Cấu Hình TF-IDF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File: `</a:t>
            </a:r>
            <a:r>
              <a:rPr dirty="0" err="1"/>
              <a:t>src</a:t>
            </a:r>
            <a:r>
              <a:rPr dirty="0"/>
              <a:t>/ranking/lexical.py`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TfidfVectorizer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sklearn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Tham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ngram_range</a:t>
            </a:r>
            <a:r>
              <a:rPr dirty="0"/>
              <a:t>=(1, 2)  →  unigram + bigram (</a:t>
            </a:r>
            <a:r>
              <a:rPr dirty="0" err="1"/>
              <a:t>vd</a:t>
            </a:r>
            <a:r>
              <a:rPr dirty="0"/>
              <a:t>: '</a:t>
            </a:r>
            <a:r>
              <a:rPr dirty="0" err="1"/>
              <a:t>đấu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', '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sắm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tư</a:t>
            </a:r>
            <a:r>
              <a:rPr dirty="0"/>
              <a:t>')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min_df</a:t>
            </a:r>
            <a:r>
              <a:rPr dirty="0"/>
              <a:t>=2  → 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dưới</a:t>
            </a:r>
            <a:r>
              <a:rPr dirty="0"/>
              <a:t> 2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max_df</a:t>
            </a:r>
            <a:r>
              <a:rPr dirty="0"/>
              <a:t>=0.95  → 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&gt;95%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max_features</a:t>
            </a:r>
            <a:r>
              <a:rPr dirty="0"/>
              <a:t>=25,000  → 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25K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sublinear_tf</a:t>
            </a:r>
            <a:r>
              <a:rPr dirty="0"/>
              <a:t>=True  →  </a:t>
            </a:r>
            <a:r>
              <a:rPr dirty="0" err="1"/>
              <a:t>dùng</a:t>
            </a:r>
            <a:r>
              <a:rPr dirty="0"/>
              <a:t> log(1+TF) </a:t>
            </a:r>
            <a:r>
              <a:rPr dirty="0" err="1"/>
              <a:t>giảm</a:t>
            </a:r>
            <a:r>
              <a:rPr dirty="0"/>
              <a:t> bias </a:t>
            </a:r>
            <a:r>
              <a:rPr dirty="0" err="1"/>
              <a:t>tần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</a:t>
            </a:r>
            <a:r>
              <a:rPr dirty="0" err="1"/>
              <a:t>cao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Input: `</a:t>
            </a:r>
            <a:r>
              <a:rPr dirty="0" err="1"/>
              <a:t>tender_text_ascii</a:t>
            </a:r>
            <a:r>
              <a:rPr dirty="0"/>
              <a:t>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Text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sang ASCII (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đích</a:t>
            </a:r>
            <a:r>
              <a:rPr dirty="0"/>
              <a:t>: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lexical matching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Output: Ma </a:t>
            </a:r>
            <a:r>
              <a:rPr dirty="0" err="1"/>
              <a:t>trận</a:t>
            </a:r>
            <a:r>
              <a:rPr dirty="0"/>
              <a:t> TF-IDF sparse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Shape: (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, 25,000 features)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= 1 vector TF-IDF </a:t>
            </a:r>
            <a:r>
              <a:rPr dirty="0" err="1"/>
              <a:t>của</a:t>
            </a:r>
            <a:r>
              <a:rPr dirty="0"/>
              <a:t> 1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TF-IDF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class </a:t>
            </a:r>
            <a:r>
              <a:rPr dirty="0" err="1"/>
              <a:t>LexicalIndexer</a:t>
            </a:r>
            <a:r>
              <a:rPr dirty="0"/>
              <a:t>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@classmethod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def build(</a:t>
            </a:r>
            <a:r>
              <a:rPr dirty="0" err="1"/>
              <a:t>cls</a:t>
            </a:r>
            <a:r>
              <a:rPr dirty="0"/>
              <a:t>, </a:t>
            </a:r>
            <a:r>
              <a:rPr dirty="0" err="1"/>
              <a:t>tender_df</a:t>
            </a:r>
            <a:r>
              <a:rPr dirty="0"/>
              <a:t>: </a:t>
            </a:r>
            <a:r>
              <a:rPr dirty="0" err="1"/>
              <a:t>pd.DataFrame</a:t>
            </a:r>
            <a:r>
              <a:rPr dirty="0"/>
              <a:t>) -&gt; '</a:t>
            </a:r>
            <a:r>
              <a:rPr dirty="0" err="1"/>
              <a:t>LexicalIndexer</a:t>
            </a:r>
            <a:r>
              <a:rPr dirty="0"/>
              <a:t>':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texts = </a:t>
            </a:r>
            <a:r>
              <a:rPr dirty="0" err="1"/>
              <a:t>tender_df</a:t>
            </a:r>
            <a:r>
              <a:rPr dirty="0"/>
              <a:t>['</a:t>
            </a:r>
            <a:r>
              <a:rPr dirty="0" err="1"/>
              <a:t>tender_text_ascii</a:t>
            </a:r>
            <a:r>
              <a:rPr dirty="0"/>
              <a:t>'].</a:t>
            </a:r>
            <a:r>
              <a:rPr dirty="0" err="1"/>
              <a:t>fillna</a:t>
            </a:r>
            <a:r>
              <a:rPr dirty="0"/>
              <a:t>('').</a:t>
            </a:r>
            <a:r>
              <a:rPr dirty="0" err="1"/>
              <a:t>tolist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tender_ids</a:t>
            </a:r>
            <a:r>
              <a:rPr dirty="0"/>
              <a:t> = </a:t>
            </a:r>
            <a:r>
              <a:rPr dirty="0" err="1"/>
              <a:t>tender_df</a:t>
            </a:r>
            <a:r>
              <a:rPr dirty="0"/>
              <a:t>['</a:t>
            </a:r>
            <a:r>
              <a:rPr dirty="0" err="1"/>
              <a:t>bidonotifycontractormnotifyno</a:t>
            </a:r>
            <a:r>
              <a:rPr dirty="0"/>
              <a:t>'].</a:t>
            </a:r>
            <a:r>
              <a:rPr dirty="0" err="1"/>
              <a:t>tolist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vectorizer = </a:t>
            </a:r>
            <a:r>
              <a:rPr dirty="0" err="1"/>
              <a:t>TfidfVectorizer</a:t>
            </a:r>
            <a:r>
              <a:rPr dirty="0"/>
              <a:t>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ngram_range</a:t>
            </a:r>
            <a:r>
              <a:rPr dirty="0"/>
              <a:t>=(1, 2),    # unigram + bigram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min_df</a:t>
            </a:r>
            <a:r>
              <a:rPr dirty="0"/>
              <a:t>=2,             #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hiếm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max_df</a:t>
            </a:r>
            <a:r>
              <a:rPr dirty="0"/>
              <a:t>=0.95,          #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phổ</a:t>
            </a:r>
            <a:r>
              <a:rPr dirty="0"/>
              <a:t> </a:t>
            </a:r>
            <a:r>
              <a:rPr dirty="0" err="1"/>
              <a:t>biến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max_features</a:t>
            </a:r>
            <a:r>
              <a:rPr dirty="0"/>
              <a:t>=25000,  #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25K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sublinear_tf</a:t>
            </a:r>
            <a:r>
              <a:rPr dirty="0"/>
              <a:t>=True     # log(1+TF)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matrix = </a:t>
            </a:r>
            <a:r>
              <a:rPr dirty="0" err="1"/>
              <a:t>vectorizer.fit_transform</a:t>
            </a:r>
            <a:r>
              <a:rPr dirty="0"/>
              <a:t>(texts)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return </a:t>
            </a:r>
            <a:r>
              <a:rPr dirty="0" err="1"/>
              <a:t>cls</a:t>
            </a:r>
            <a:r>
              <a:rPr dirty="0"/>
              <a:t>(vectorizer, matrix, </a:t>
            </a:r>
            <a:r>
              <a:rPr dirty="0" err="1"/>
              <a:t>tender_ids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def score(self, query: str) -&gt; </a:t>
            </a:r>
            <a:r>
              <a:rPr dirty="0" err="1"/>
              <a:t>dict</a:t>
            </a:r>
            <a:r>
              <a:rPr dirty="0"/>
              <a:t>[str, float]: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q_vec</a:t>
            </a:r>
            <a:r>
              <a:rPr dirty="0"/>
              <a:t> = </a:t>
            </a:r>
            <a:r>
              <a:rPr dirty="0" err="1"/>
              <a:t>self.vectorizer.transform</a:t>
            </a:r>
            <a:r>
              <a:rPr dirty="0"/>
              <a:t>([</a:t>
            </a:r>
            <a:r>
              <a:rPr dirty="0" err="1"/>
              <a:t>query.lower</a:t>
            </a:r>
            <a:r>
              <a:rPr dirty="0"/>
              <a:t>()])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scores = (</a:t>
            </a:r>
            <a:r>
              <a:rPr dirty="0" err="1"/>
              <a:t>q_vec</a:t>
            </a:r>
            <a:r>
              <a:rPr dirty="0"/>
              <a:t> @ </a:t>
            </a:r>
            <a:r>
              <a:rPr dirty="0" err="1"/>
              <a:t>self.matrix.T</a:t>
            </a:r>
            <a:r>
              <a:rPr dirty="0"/>
              <a:t>).</a:t>
            </a:r>
            <a:r>
              <a:rPr dirty="0" err="1"/>
              <a:t>toarray</a:t>
            </a:r>
            <a:r>
              <a:rPr dirty="0"/>
              <a:t>().flatten()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# scores[</a:t>
            </a:r>
            <a:r>
              <a:rPr dirty="0" err="1"/>
              <a:t>i</a:t>
            </a:r>
            <a:r>
              <a:rPr dirty="0"/>
              <a:t>] = cosine similarity query vs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Lưu vectorizer + ma trận bằng joblib để reuse không cần retrain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Luồng TF-IDF Trong Hệ Thống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589339-9890-4B6C-D73F-28A862B0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2081202"/>
            <a:ext cx="5862680" cy="26955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72BF3-A727-FBAC-B4D6-7AC86C44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26" y="1813808"/>
            <a:ext cx="6338934" cy="3152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Mô Hình 2: Sentence Transformer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paraphrase-multilingual-MiniLM-L12-v2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Thông số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: </a:t>
            </a:r>
            <a:r>
              <a:rPr dirty="0" err="1"/>
              <a:t>MiniLM</a:t>
            </a:r>
            <a:r>
              <a:rPr dirty="0"/>
              <a:t> (MiniLingual Model)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Số</a:t>
            </a:r>
            <a:r>
              <a:rPr dirty="0"/>
              <a:t> layers (L): 12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Embedding: 384 </a:t>
            </a:r>
            <a:r>
              <a:rPr dirty="0" err="1"/>
              <a:t>chiều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Hidden size: 768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Attention heads: 12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Params: ~118 </a:t>
            </a:r>
            <a:r>
              <a:rPr dirty="0" err="1"/>
              <a:t>triệu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: 50+ (bao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Framework: sentence-transformers (</a:t>
            </a:r>
            <a:r>
              <a:rPr dirty="0" err="1"/>
              <a:t>PyTorch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Điểm mạnh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Multilingual: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dịch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Sentence-level: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Paraphrase-aware: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→ vector </a:t>
            </a:r>
            <a:r>
              <a:rPr dirty="0" err="1"/>
              <a:t>gần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MiniLM</a:t>
            </a:r>
            <a:r>
              <a:rPr dirty="0"/>
              <a:t>: </a:t>
            </a:r>
            <a:r>
              <a:rPr dirty="0" err="1"/>
              <a:t>nhẹ</a:t>
            </a:r>
            <a:r>
              <a:rPr dirty="0"/>
              <a:t>, </a:t>
            </a:r>
            <a:r>
              <a:rPr dirty="0" err="1"/>
              <a:t>nhanh</a:t>
            </a:r>
            <a:r>
              <a:rPr dirty="0"/>
              <a:t>,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CPU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Pre-trained: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train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data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Normalized: embeddings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→ cosine sim = dot product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Semantic vs Lexical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Query: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  Lexical (TF-IDF)         </a:t>
            </a:r>
            <a:r>
              <a:rPr lang="vi-VN" dirty="0"/>
              <a:t>     </a:t>
            </a:r>
            <a:r>
              <a:rPr dirty="0"/>
              <a:t>     |  Semantic (Sentence-BERT)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----------------------------</a:t>
            </a:r>
            <a:r>
              <a:rPr lang="vi-VN" dirty="0"/>
              <a:t>------</a:t>
            </a:r>
            <a:r>
              <a:rPr dirty="0"/>
              <a:t>--|--------------------------------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'     </a:t>
            </a:r>
            <a:r>
              <a:rPr lang="vi-VN" dirty="0"/>
              <a:t>    </a:t>
            </a:r>
            <a:r>
              <a:rPr dirty="0"/>
              <a:t>  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✓ '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            </a:t>
            </a:r>
            <a:r>
              <a:rPr lang="vi-VN" dirty="0"/>
              <a:t>    </a:t>
            </a:r>
            <a:r>
              <a:rPr dirty="0"/>
              <a:t>  |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GT'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?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       </a:t>
            </a:r>
            <a:r>
              <a:rPr lang="vi-VN" dirty="0"/>
              <a:t>   </a:t>
            </a:r>
            <a:r>
              <a:rPr dirty="0"/>
              <a:t> 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hạ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</a:t>
            </a:r>
            <a:r>
              <a:rPr lang="vi-VN" dirty="0"/>
              <a:t> </a:t>
            </a:r>
            <a:r>
              <a:rPr dirty="0"/>
              <a:t>   ? '</a:t>
            </a:r>
            <a:r>
              <a:rPr dirty="0" err="1"/>
              <a:t>hạ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        </a:t>
            </a:r>
            <a:r>
              <a:rPr lang="vi-VN" dirty="0"/>
              <a:t>   </a:t>
            </a:r>
            <a:r>
              <a:rPr dirty="0"/>
              <a:t>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?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GT'    |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--------------------</a:t>
            </a:r>
            <a:r>
              <a:rPr lang="vi-VN" dirty="0"/>
              <a:t>-------</a:t>
            </a:r>
            <a:r>
              <a:rPr dirty="0"/>
              <a:t>----------|--------------------------------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</a:t>
            </a:r>
            <a:r>
              <a:rPr lang="vi-VN" dirty="0"/>
              <a:t>          </a:t>
            </a:r>
            <a:r>
              <a:rPr dirty="0"/>
              <a:t>   Score: 1.0                     |</a:t>
            </a:r>
            <a:r>
              <a:rPr lang="vi-VN" dirty="0"/>
              <a:t>      </a:t>
            </a:r>
            <a:r>
              <a:rPr dirty="0"/>
              <a:t>  Score: 0.87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Lexical: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y </a:t>
            </a:r>
            <a:r>
              <a:rPr dirty="0" err="1"/>
              <a:t>hệt</a:t>
            </a:r>
            <a:r>
              <a:rPr dirty="0"/>
              <a:t>,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sót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khác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Semantic: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,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ý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cao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2: </a:t>
            </a:r>
            <a:r>
              <a:rPr dirty="0" err="1"/>
              <a:t>vừa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, </a:t>
            </a:r>
            <a:r>
              <a:rPr dirty="0" err="1"/>
              <a:t>vừa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Cấu Hình Sentence Transformer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File: `</a:t>
            </a:r>
            <a:r>
              <a:rPr dirty="0" err="1"/>
              <a:t>src</a:t>
            </a:r>
            <a:r>
              <a:rPr dirty="0"/>
              <a:t>/ranking/semantic.py`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SentenceTransformer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sentence-transformers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Model: `paraphrase-multilingual-MiniLM-L12-v2`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Default </a:t>
            </a:r>
            <a:r>
              <a:rPr dirty="0" err="1"/>
              <a:t>trong</a:t>
            </a:r>
            <a:r>
              <a:rPr dirty="0"/>
              <a:t> settings: DAUTHAU_SEMANTIC_MODEL_NAME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model </a:t>
            </a:r>
            <a:r>
              <a:rPr dirty="0" err="1"/>
              <a:t>khác</a:t>
            </a:r>
            <a:r>
              <a:rPr dirty="0"/>
              <a:t> qua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encode: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batch_size</a:t>
            </a:r>
            <a:r>
              <a:rPr dirty="0"/>
              <a:t>=256  →  encode 256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/</a:t>
            </a:r>
            <a:r>
              <a:rPr dirty="0" err="1"/>
              <a:t>lần</a:t>
            </a:r>
            <a:r>
              <a:rPr dirty="0"/>
              <a:t> (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kiệm</a:t>
            </a:r>
            <a:r>
              <a:rPr dirty="0"/>
              <a:t> memory)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normalize_embeddings</a:t>
            </a:r>
            <a:r>
              <a:rPr dirty="0"/>
              <a:t>=True  →  L2 normalized → cosine sim = dot product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show_progress_bar</a:t>
            </a:r>
            <a:r>
              <a:rPr dirty="0"/>
              <a:t>=True  → 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encode </a:t>
            </a:r>
            <a:r>
              <a:rPr dirty="0" err="1"/>
              <a:t>nhiều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Input: `</a:t>
            </a:r>
            <a:r>
              <a:rPr dirty="0" err="1"/>
              <a:t>tender_text</a:t>
            </a:r>
            <a:r>
              <a:rPr dirty="0"/>
              <a:t>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Text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(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 - multilingual model </a:t>
            </a:r>
            <a:r>
              <a:rPr dirty="0" err="1"/>
              <a:t>hiểu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Output: Ma </a:t>
            </a:r>
            <a:r>
              <a:rPr dirty="0" err="1"/>
              <a:t>trận</a:t>
            </a:r>
            <a:r>
              <a:rPr dirty="0"/>
              <a:t> embedding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Shape: (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, 384)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Lưu: artifacts/</a:t>
            </a:r>
            <a:r>
              <a:rPr dirty="0" err="1"/>
              <a:t>semantic_index.joblib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Sentence Transformer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class </a:t>
            </a:r>
            <a:r>
              <a:rPr sz="1200" dirty="0" err="1"/>
              <a:t>SemanticIndexer</a:t>
            </a:r>
            <a:r>
              <a:rPr sz="1200" dirty="0"/>
              <a:t>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@classmethod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def build(</a:t>
            </a:r>
            <a:r>
              <a:rPr sz="1200" dirty="0" err="1"/>
              <a:t>cls</a:t>
            </a:r>
            <a:r>
              <a:rPr sz="1200" dirty="0"/>
              <a:t>, </a:t>
            </a:r>
            <a:r>
              <a:rPr sz="1200" dirty="0" err="1"/>
              <a:t>tender_df</a:t>
            </a:r>
            <a:r>
              <a:rPr sz="1200" dirty="0"/>
              <a:t>, </a:t>
            </a:r>
            <a:r>
              <a:rPr sz="1200" dirty="0" err="1"/>
              <a:t>model_name</a:t>
            </a:r>
            <a:r>
              <a:rPr sz="1200" dirty="0"/>
              <a:t>="paraphrase-multilingual-MiniLM-L12-v2"):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from </a:t>
            </a:r>
            <a:r>
              <a:rPr sz="1200" dirty="0" err="1"/>
              <a:t>sentence_transformers</a:t>
            </a:r>
            <a:r>
              <a:rPr sz="1200" dirty="0"/>
              <a:t> import </a:t>
            </a:r>
            <a:r>
              <a:rPr sz="1200" dirty="0" err="1"/>
              <a:t>SentenceTransformer</a:t>
            </a: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texts = </a:t>
            </a:r>
            <a:r>
              <a:rPr sz="1200" dirty="0" err="1"/>
              <a:t>tender_df</a:t>
            </a:r>
            <a:r>
              <a:rPr sz="1200" dirty="0"/>
              <a:t>['</a:t>
            </a:r>
            <a:r>
              <a:rPr sz="1200" dirty="0" err="1"/>
              <a:t>tender_text</a:t>
            </a:r>
            <a:r>
              <a:rPr sz="1200" dirty="0"/>
              <a:t>'].</a:t>
            </a:r>
            <a:r>
              <a:rPr sz="1200" dirty="0" err="1"/>
              <a:t>fillna</a:t>
            </a:r>
            <a:r>
              <a:rPr sz="1200" dirty="0"/>
              <a:t>('').</a:t>
            </a:r>
            <a:r>
              <a:rPr sz="1200" dirty="0" err="1"/>
              <a:t>tolist</a:t>
            </a:r>
            <a:r>
              <a:rPr sz="1200"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</a:t>
            </a:r>
            <a:r>
              <a:rPr sz="1200" dirty="0" err="1"/>
              <a:t>tender_ids</a:t>
            </a:r>
            <a:r>
              <a:rPr sz="1200" dirty="0"/>
              <a:t> = </a:t>
            </a:r>
            <a:r>
              <a:rPr sz="1200" dirty="0" err="1"/>
              <a:t>tender_df</a:t>
            </a:r>
            <a:r>
              <a:rPr sz="1200" dirty="0"/>
              <a:t>['</a:t>
            </a:r>
            <a:r>
              <a:rPr sz="1200" dirty="0" err="1"/>
              <a:t>bidonotifycontractormnotifyno</a:t>
            </a:r>
            <a:r>
              <a:rPr sz="1200" dirty="0"/>
              <a:t>'].</a:t>
            </a:r>
            <a:r>
              <a:rPr sz="1200" dirty="0" err="1"/>
              <a:t>tolist</a:t>
            </a:r>
            <a:r>
              <a:rPr sz="1200"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print(f'[Semantic] Loading model: {</a:t>
            </a:r>
            <a:r>
              <a:rPr sz="1200" dirty="0" err="1"/>
              <a:t>model_name</a:t>
            </a:r>
            <a:r>
              <a:rPr sz="1200" dirty="0"/>
              <a:t>}')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model = </a:t>
            </a:r>
            <a:r>
              <a:rPr sz="1200" dirty="0" err="1"/>
              <a:t>SentenceTransformer</a:t>
            </a:r>
            <a:r>
              <a:rPr sz="1200" dirty="0"/>
              <a:t>(</a:t>
            </a:r>
            <a:r>
              <a:rPr sz="1200" dirty="0" err="1"/>
              <a:t>model_name</a:t>
            </a:r>
            <a:r>
              <a:rPr sz="1200" dirty="0"/>
              <a:t>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print(f'[Semantic] Encoding {</a:t>
            </a:r>
            <a:r>
              <a:rPr sz="1200" dirty="0" err="1"/>
              <a:t>len</a:t>
            </a:r>
            <a:r>
              <a:rPr sz="1200" dirty="0"/>
              <a:t>(texts)} tenders...')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embeddings = </a:t>
            </a:r>
            <a:r>
              <a:rPr sz="1200" dirty="0" err="1"/>
              <a:t>model.encode</a:t>
            </a:r>
            <a:r>
              <a:rPr sz="1200" dirty="0"/>
              <a:t>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texts,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batch_size</a:t>
            </a:r>
            <a:r>
              <a:rPr sz="1200" dirty="0"/>
              <a:t>=256,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show_progress_bar</a:t>
            </a:r>
            <a:r>
              <a:rPr sz="1200" dirty="0"/>
              <a:t>=True,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normalize_embeddings</a:t>
            </a:r>
            <a:r>
              <a:rPr sz="1200" dirty="0"/>
              <a:t>=True,   # cosine sim = dot product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return </a:t>
            </a:r>
            <a:r>
              <a:rPr sz="1200" dirty="0" err="1"/>
              <a:t>cls</a:t>
            </a:r>
            <a:r>
              <a:rPr sz="1200" dirty="0"/>
              <a:t>(</a:t>
            </a:r>
            <a:r>
              <a:rPr sz="1200" dirty="0" err="1"/>
              <a:t>model_name</a:t>
            </a:r>
            <a:r>
              <a:rPr sz="1200" dirty="0"/>
              <a:t>, embeddings, </a:t>
            </a:r>
            <a:r>
              <a:rPr sz="1200" dirty="0" err="1"/>
              <a:t>tender_ids</a:t>
            </a:r>
            <a:r>
              <a:rPr sz="1200" dirty="0"/>
              <a:t>, ready=True)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def score(self, query: str) -&gt; </a:t>
            </a:r>
            <a:r>
              <a:rPr sz="1200" dirty="0" err="1"/>
              <a:t>dict</a:t>
            </a:r>
            <a:r>
              <a:rPr sz="1200" dirty="0"/>
              <a:t>[str, float]: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</a:t>
            </a:r>
            <a:r>
              <a:rPr sz="1200" dirty="0" err="1"/>
              <a:t>q_emb</a:t>
            </a:r>
            <a:r>
              <a:rPr sz="1200" dirty="0"/>
              <a:t> = </a:t>
            </a:r>
            <a:r>
              <a:rPr sz="1200" dirty="0" err="1"/>
              <a:t>model.encode</a:t>
            </a:r>
            <a:r>
              <a:rPr sz="1200" dirty="0"/>
              <a:t>([query], </a:t>
            </a:r>
            <a:r>
              <a:rPr sz="1200" dirty="0" err="1"/>
              <a:t>normalize_embeddings</a:t>
            </a:r>
            <a:r>
              <a:rPr sz="1200" dirty="0"/>
              <a:t>=True)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sims = (</a:t>
            </a:r>
            <a:r>
              <a:rPr sz="1200" dirty="0" err="1"/>
              <a:t>q_emb</a:t>
            </a:r>
            <a:r>
              <a:rPr sz="1200" dirty="0"/>
              <a:t> @ </a:t>
            </a:r>
            <a:r>
              <a:rPr sz="1200" dirty="0" err="1"/>
              <a:t>self.embeddings.T</a:t>
            </a:r>
            <a:r>
              <a:rPr sz="1200" dirty="0"/>
              <a:t>).flatten()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# sims[</a:t>
            </a:r>
            <a:r>
              <a:rPr sz="1200" dirty="0" err="1"/>
              <a:t>i</a:t>
            </a:r>
            <a:r>
              <a:rPr sz="1200" dirty="0"/>
              <a:t>] = cosine similarity query vs </a:t>
            </a:r>
            <a:r>
              <a:rPr sz="1200" dirty="0" err="1"/>
              <a:t>gói</a:t>
            </a:r>
            <a:r>
              <a:rPr sz="1200" dirty="0"/>
              <a:t> </a:t>
            </a:r>
            <a:r>
              <a:rPr sz="1200" dirty="0" err="1"/>
              <a:t>thầu</a:t>
            </a:r>
            <a:r>
              <a:rPr sz="1200" dirty="0"/>
              <a:t> </a:t>
            </a:r>
            <a:r>
              <a:rPr sz="1200" dirty="0" err="1"/>
              <a:t>i</a:t>
            </a: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Semantic scoring tắt tự động nếu sentence-transformers chưa cài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Luồng Sentence Transformer Trong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353" y="1479666"/>
            <a:ext cx="515409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BUILD TIME (offline):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data/dauthau_data.csv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  <a:r>
              <a:rPr dirty="0" err="1"/>
              <a:t>tender_text</a:t>
            </a:r>
            <a:r>
              <a:rPr dirty="0"/>
              <a:t> (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  <a:r>
              <a:rPr dirty="0" err="1"/>
              <a:t>SentenceTransformer.encode</a:t>
            </a:r>
            <a:r>
              <a:rPr dirty="0"/>
              <a:t>()  →  embeddings (N x 384)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Lưu: artifacts/</a:t>
            </a:r>
            <a:r>
              <a:rPr dirty="0" err="1"/>
              <a:t>semantic_index.joblib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978A8-6C14-CBA7-610F-ADD6654FE44C}"/>
              </a:ext>
            </a:extLst>
          </p:cNvPr>
          <p:cNvSpPr txBox="1"/>
          <p:nvPr/>
        </p:nvSpPr>
        <p:spPr>
          <a:xfrm>
            <a:off x="5878484" y="1611161"/>
            <a:ext cx="613756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RUNTIME (mỗi query):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User query: 'Thi công cầu đường'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model.encode([query])  →  q_emb (1 x 384)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dot(q_emb, embeddings.T)  →  cosine similarity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↑ Điểm semantic_score cho mỗi gói thầu (0-100)</a:t>
            </a:r>
          </a:p>
        </p:txBody>
      </p:sp>
      <p:sp>
        <p:nvSpPr>
          <p:cNvPr id="7" name="AutoShape 2" descr="Quy trình tìm kiếm dữ liệu AI">
            <a:extLst>
              <a:ext uri="{FF2B5EF4-FFF2-40B4-BE49-F238E27FC236}">
                <a16:creationId xmlns:a16="http://schemas.microsoft.com/office/drawing/2014/main" id="{CC8DD02C-B9CE-539C-2930-505887EDA8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3476" y="-481937"/>
            <a:ext cx="4063337" cy="406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3A58A0-ABBC-0131-0D16-54EF67052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58" y="1234440"/>
            <a:ext cx="8048684" cy="5286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Kết Hợp Hybrid Scoring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Công Thức Hybrid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</a:t>
            </a:r>
            <a:r>
              <a:rPr dirty="0" err="1"/>
              <a:t>Điểm</a:t>
            </a:r>
            <a:r>
              <a:rPr dirty="0"/>
              <a:t> raw (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scale 0→1 </a:t>
            </a:r>
            <a:r>
              <a:rPr dirty="0" err="1"/>
              <a:t>hoặc</a:t>
            </a:r>
            <a:r>
              <a:rPr dirty="0"/>
              <a:t> 0→100)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lex_score</a:t>
            </a:r>
            <a:r>
              <a:rPr dirty="0"/>
              <a:t>      = min(</a:t>
            </a:r>
            <a:r>
              <a:rPr dirty="0" err="1"/>
              <a:t>raw_lex</a:t>
            </a:r>
            <a:r>
              <a:rPr dirty="0"/>
              <a:t> * 100, 100.0) 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sem_score</a:t>
            </a:r>
            <a:r>
              <a:rPr dirty="0"/>
              <a:t>      = min(</a:t>
            </a:r>
            <a:r>
              <a:rPr dirty="0" err="1"/>
              <a:t>raw_sem</a:t>
            </a:r>
            <a:r>
              <a:rPr dirty="0"/>
              <a:t> * 100, 100.0) 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hist_fit</a:t>
            </a:r>
            <a:r>
              <a:rPr dirty="0"/>
              <a:t>       = ...  (0→100, profile-based)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price_fit</a:t>
            </a:r>
            <a:r>
              <a:rPr dirty="0"/>
              <a:t>      = ...  (0→100, heuristic)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recency_score</a:t>
            </a:r>
            <a:r>
              <a:rPr dirty="0"/>
              <a:t>  = ...  (0→100, deadline-based)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Công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total = 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0.35 * </a:t>
            </a:r>
            <a:r>
              <a:rPr dirty="0" err="1"/>
              <a:t>lex_score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+ 0.35 * </a:t>
            </a:r>
            <a:r>
              <a:rPr dirty="0" err="1"/>
              <a:t>sem_score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+ 0.15 * </a:t>
            </a:r>
            <a:r>
              <a:rPr dirty="0" err="1"/>
              <a:t>hist_fit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+ 0.10 * </a:t>
            </a:r>
            <a:r>
              <a:rPr dirty="0" err="1"/>
              <a:t>price_fit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+ 0.05 * </a:t>
            </a:r>
            <a:r>
              <a:rPr dirty="0" err="1"/>
              <a:t>recency_score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=&gt; total ∈ [0, 100]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mặc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(settings.py)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lexical_weight</a:t>
            </a:r>
            <a:r>
              <a:rPr dirty="0"/>
              <a:t>     = 0.35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semantic_weight</a:t>
            </a:r>
            <a:r>
              <a:rPr dirty="0"/>
              <a:t>   = 0.35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historical_weight</a:t>
            </a:r>
            <a:r>
              <a:rPr dirty="0"/>
              <a:t> = 0.15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price_weight</a:t>
            </a:r>
            <a:r>
              <a:rPr dirty="0"/>
              <a:t>       = 0.10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recency_weight</a:t>
            </a:r>
            <a:r>
              <a:rPr dirty="0"/>
              <a:t>    = 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Nếu semantic chưa sẵn sàng, trọng số được re-normalize: lexical=1.0, bỏ semantic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Hybrid Scoring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6655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Trong </a:t>
            </a:r>
            <a:r>
              <a:rPr dirty="0" err="1"/>
              <a:t>HybridRanker.score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for _, row in </a:t>
            </a:r>
            <a:r>
              <a:rPr dirty="0" err="1"/>
              <a:t>candidate_df.iterrows</a:t>
            </a:r>
            <a:r>
              <a:rPr dirty="0"/>
              <a:t>():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nid</a:t>
            </a:r>
            <a:r>
              <a:rPr dirty="0"/>
              <a:t> = row['</a:t>
            </a:r>
            <a:r>
              <a:rPr dirty="0" err="1"/>
              <a:t>bidonotifycontractormnotifyno</a:t>
            </a:r>
            <a:r>
              <a:rPr dirty="0"/>
              <a:t>']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Lexical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lex = </a:t>
            </a:r>
            <a:r>
              <a:rPr dirty="0" err="1"/>
              <a:t>lex_scores.get</a:t>
            </a:r>
            <a:r>
              <a:rPr dirty="0"/>
              <a:t>(</a:t>
            </a:r>
            <a:r>
              <a:rPr dirty="0" err="1"/>
              <a:t>nid</a:t>
            </a:r>
            <a:r>
              <a:rPr dirty="0"/>
              <a:t>, 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lex = min(lex * 100.0, 100.0)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Semantic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sem</a:t>
            </a:r>
            <a:r>
              <a:rPr dirty="0"/>
              <a:t> = </a:t>
            </a:r>
            <a:r>
              <a:rPr dirty="0" err="1"/>
              <a:t>sem_scores.get</a:t>
            </a:r>
            <a:r>
              <a:rPr dirty="0"/>
              <a:t>(</a:t>
            </a:r>
            <a:r>
              <a:rPr dirty="0" err="1"/>
              <a:t>nid</a:t>
            </a:r>
            <a:r>
              <a:rPr dirty="0"/>
              <a:t>, 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sem</a:t>
            </a:r>
            <a:r>
              <a:rPr dirty="0"/>
              <a:t> = min(</a:t>
            </a:r>
            <a:r>
              <a:rPr dirty="0" err="1"/>
              <a:t>sem</a:t>
            </a:r>
            <a:r>
              <a:rPr dirty="0"/>
              <a:t> * 100.0, 100.0)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Profile-based (historical + price)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if profile: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</a:t>
            </a:r>
            <a:r>
              <a:rPr dirty="0" err="1"/>
              <a:t>hist_fit</a:t>
            </a:r>
            <a:r>
              <a:rPr dirty="0"/>
              <a:t>, </a:t>
            </a:r>
            <a:r>
              <a:rPr dirty="0" err="1"/>
              <a:t>price_fit</a:t>
            </a:r>
            <a:r>
              <a:rPr dirty="0"/>
              <a:t>, </a:t>
            </a:r>
            <a:r>
              <a:rPr dirty="0" err="1"/>
              <a:t>why_parts</a:t>
            </a:r>
            <a:r>
              <a:rPr dirty="0"/>
              <a:t> = _</a:t>
            </a:r>
            <a:r>
              <a:rPr dirty="0" err="1"/>
              <a:t>compute_profile_scores</a:t>
            </a:r>
            <a:r>
              <a:rPr dirty="0"/>
              <a:t>(...)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Recency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rec = self._</a:t>
            </a:r>
            <a:r>
              <a:rPr dirty="0" err="1"/>
              <a:t>compute_recency</a:t>
            </a:r>
            <a:r>
              <a:rPr dirty="0"/>
              <a:t>(row)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total = 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0.35 * lex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+ 0.35 * </a:t>
            </a:r>
            <a:r>
              <a:rPr dirty="0" err="1"/>
              <a:t>sem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+ 0.15 * </a:t>
            </a:r>
            <a:r>
              <a:rPr dirty="0" err="1"/>
              <a:t>hist_fit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+ 0.10 * </a:t>
            </a:r>
            <a:r>
              <a:rPr dirty="0" err="1"/>
              <a:t>price_fit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+ 0.05 * rec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results.append</a:t>
            </a:r>
            <a:r>
              <a:rPr dirty="0"/>
              <a:t>(</a:t>
            </a:r>
            <a:r>
              <a:rPr dirty="0" err="1"/>
              <a:t>RankedTender</a:t>
            </a:r>
            <a:r>
              <a:rPr dirty="0"/>
              <a:t>(</a:t>
            </a:r>
            <a:r>
              <a:rPr dirty="0" err="1"/>
              <a:t>total_score</a:t>
            </a:r>
            <a:r>
              <a:rPr dirty="0"/>
              <a:t>=round(total, 2), ...))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results.sort</a:t>
            </a:r>
            <a:r>
              <a:rPr dirty="0"/>
              <a:t>(key=lambda x: </a:t>
            </a:r>
            <a:r>
              <a:rPr dirty="0" err="1"/>
              <a:t>x.total_score</a:t>
            </a:r>
            <a:r>
              <a:rPr dirty="0"/>
              <a:t>, reverse=True)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Kết quả cuối: danh sách top-K gói thầu xếp hạng theo total_score giảm dần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Ví Dụ Điểm Số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Gói thầu A (khớp hoàn hảo)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Query: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Lĩnh</a:t>
            </a:r>
            <a:r>
              <a:rPr dirty="0"/>
              <a:t> </a:t>
            </a:r>
            <a:r>
              <a:rPr dirty="0" err="1"/>
              <a:t>vực</a:t>
            </a:r>
            <a:r>
              <a:rPr dirty="0"/>
              <a:t>: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' (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'Hà </a:t>
            </a:r>
            <a:r>
              <a:rPr dirty="0" err="1"/>
              <a:t>Nội</a:t>
            </a:r>
            <a:r>
              <a:rPr dirty="0"/>
              <a:t>' (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Giá</a:t>
            </a:r>
            <a:r>
              <a:rPr dirty="0"/>
              <a:t>: 10 </a:t>
            </a:r>
            <a:r>
              <a:rPr dirty="0" err="1"/>
              <a:t>Tỷ</a:t>
            </a:r>
            <a:r>
              <a:rPr dirty="0"/>
              <a:t> (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 5-15T)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Deadline: 5 </a:t>
            </a:r>
            <a:r>
              <a:rPr dirty="0" err="1"/>
              <a:t>ngày</a:t>
            </a:r>
            <a:r>
              <a:rPr dirty="0"/>
              <a:t> </a:t>
            </a:r>
            <a:r>
              <a:rPr dirty="0" err="1"/>
              <a:t>nữa</a:t>
            </a:r>
            <a:r>
              <a:rPr dirty="0"/>
              <a:t> (</a:t>
            </a:r>
            <a:r>
              <a:rPr dirty="0" err="1"/>
              <a:t>sắp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/>
              <a:t>---------------------------------------------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lexical:  0.35 x 95 = 33.25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semantic: 0.35 x 91 = 31.85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historical: 0.15 x 80 = 12.00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price:    0.10 x 100 = 10.00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recency:  0.05 x 100 =  5.00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TOTAL:              = 92.10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Gói thầu B (khớp trung bình)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Query: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Lĩnh</a:t>
            </a:r>
            <a:r>
              <a:rPr dirty="0"/>
              <a:t> </a:t>
            </a:r>
            <a:r>
              <a:rPr dirty="0" err="1"/>
              <a:t>vực</a:t>
            </a:r>
            <a:r>
              <a:rPr dirty="0"/>
              <a:t>: '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khớp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'</a:t>
            </a:r>
            <a:r>
              <a:rPr dirty="0" err="1"/>
              <a:t>Cà</a:t>
            </a:r>
            <a:r>
              <a:rPr dirty="0"/>
              <a:t> Mau' (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Giá</a:t>
            </a:r>
            <a:r>
              <a:rPr dirty="0"/>
              <a:t>: 800 </a:t>
            </a:r>
            <a:r>
              <a:rPr dirty="0" err="1"/>
              <a:t>Tỷ</a:t>
            </a:r>
            <a:r>
              <a:rPr dirty="0"/>
              <a:t> (</a:t>
            </a:r>
            <a:r>
              <a:rPr dirty="0" err="1"/>
              <a:t>ngoài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Deadline: 60 </a:t>
            </a:r>
            <a:r>
              <a:rPr dirty="0" err="1"/>
              <a:t>ngày</a:t>
            </a:r>
            <a:r>
              <a:rPr dirty="0"/>
              <a:t> </a:t>
            </a:r>
            <a:r>
              <a:rPr dirty="0" err="1"/>
              <a:t>nữa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/>
              <a:t>---------------------------------------------------------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lexical:  0.35 x 42 = 14.70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semantic: 0.35 x 55 = 19.25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historical: 0.15 x 0  =  0.00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price:    0.10 x 15  =  1.50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recency:  0.05 x 60  =  3.00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TOTAL:              = 38.45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Kết Luận &amp; Định Hướng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Điểm mạnh của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TF-IDF: nhanh, đơn giản, keyword match chính xác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Sentence-BERT: hiểu ngữ nghĩa tiếng Việt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Hybrid: kết hợp cả 2, cân bằng precision và recall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Company Profile: personalization dựa trên lịch sử DN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Recency: ưu tiên gói thầu gấp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Không cần train model: pre-trained, off-the-shelf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Artifact-based: build offline, query online nhanh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Graceful degradation: semantic tắt được nếu chưa cài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Hạn chế &amp; Cải tiến tiềm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TF-IDF: không hiểu ngữ cảnh, nhạy với từ hiếm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Sentence-BERT: model nhỏ, có thể yếu với ngữ pháp PV phức tạp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Heuristic scoring: chưa tối ưu bằng learn-to-rank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Thiếu re-ranking: BM25 / cross-encoder có thể tốt hơn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Chưa dùng fine-tuning: nên fine-tune BERT trên data dauthau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BM25 thay thế TF-IDF?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Cross-encoder re-ranking top-K?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Điều chỉnh trọng số bằng offline evaluation?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3;p9" descr="Image result for Q&amp;A">
            <a:extLst>
              <a:ext uri="{FF2B5EF4-FFF2-40B4-BE49-F238E27FC236}">
                <a16:creationId xmlns:a16="http://schemas.microsoft.com/office/drawing/2014/main" id="{CC1D5C9D-9272-016B-7131-4430912A8B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8375" y="1092455"/>
            <a:ext cx="6996183" cy="4673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438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2689</Words>
  <Application>Microsoft Office PowerPoint</Application>
  <PresentationFormat>Custom</PresentationFormat>
  <Paragraphs>320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Cong Minh Nguyen</cp:lastModifiedBy>
  <cp:revision>5</cp:revision>
  <dcterms:created xsi:type="dcterms:W3CDTF">2013-01-27T09:14:16Z</dcterms:created>
  <dcterms:modified xsi:type="dcterms:W3CDTF">2026-03-27T07:13:01Z</dcterms:modified>
  <cp:category/>
</cp:coreProperties>
</file>