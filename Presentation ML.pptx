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80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1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6" d="100"/>
          <a:sy n="86" d="100"/>
        </p:scale>
        <p:origin x="288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BB873-5FD4-4490-B0B7-79F651988079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D046F5-D873-4794-A230-D869964AC9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63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D046F5-D873-4794-A230-D869964AC94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914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D046F5-D873-4794-A230-D869964AC94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977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0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Mô Hình ML Trong Hệ Thống Gợi Ý Gói Thầu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B4C8F0"/>
                </a:solidFill>
              </a:defRPr>
            </a:pPr>
            <a:r>
              <a:t>TF-IDF &amp; Sentence Transformer | VIETINBANK DauThau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Nội Dung Trình Bày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1.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hệ</a:t>
            </a:r>
            <a:r>
              <a:rPr dirty="0"/>
              <a:t> </a:t>
            </a:r>
            <a:r>
              <a:rPr dirty="0" err="1"/>
              <a:t>thống</a:t>
            </a:r>
            <a:r>
              <a:rPr dirty="0"/>
              <a:t> </a:t>
            </a:r>
            <a:r>
              <a:rPr dirty="0" err="1"/>
              <a:t>gợi</a:t>
            </a:r>
            <a:r>
              <a:rPr dirty="0"/>
              <a:t> ý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Hybrid Retrieval Architecture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5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2.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1: TF-IDF (Lexical Retrieval)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Nguyên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hoạt</a:t>
            </a:r>
            <a:r>
              <a:rPr dirty="0"/>
              <a:t> </a:t>
            </a:r>
            <a:r>
              <a:rPr dirty="0" err="1"/>
              <a:t>động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project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Code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hoạ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3.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2: Sentence Transformer (Semantic Retrieval)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thiệu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paraphrase-multilingual-MiniLM-L12-v2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áp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project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Code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hoạ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4.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2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— Hybrid Scoring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5.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luận</a:t>
            </a:r>
            <a:r>
              <a:rPr dirty="0"/>
              <a:t> &amp; Định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1. Tổng Quan Hệ Thống Gợi 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CCEEC9-A97C-F5C1-632C-6C7B5DC00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4B5568-98A2-42FE-E907-F69FF76F95F7}"/>
              </a:ext>
            </a:extLst>
          </p:cNvPr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34FF05-CF9E-DC1E-C97A-A4A56FC200D4}"/>
              </a:ext>
            </a:extLst>
          </p:cNvPr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Kiến Trúc Hệ Thống Hybrid Retrieval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63C5C-F324-5629-26F6-1EC32BBB61AE}"/>
              </a:ext>
            </a:extLst>
          </p:cNvPr>
          <p:cNvSpPr txBox="1"/>
          <p:nvPr/>
        </p:nvSpPr>
        <p:spPr>
          <a:xfrm>
            <a:off x="457200" y="64008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646464"/>
                </a:solidFill>
              </a:defRPr>
            </a:pPr>
            <a:r>
              <a:t>Mỗi gói thầu nhận điểm tổng = tổng có trọng số (max = 100)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BC57E7F-2068-1FB5-BCBF-1D26EEA5E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51379"/>
              </p:ext>
            </p:extLst>
          </p:nvPr>
        </p:nvGraphicFramePr>
        <p:xfrm>
          <a:off x="2552007" y="1599348"/>
          <a:ext cx="8229601" cy="4206240"/>
        </p:xfrm>
        <a:graphic>
          <a:graphicData uri="http://schemas.openxmlformats.org/drawingml/2006/table">
            <a:tbl>
              <a:tblPr/>
              <a:tblGrid>
                <a:gridCol w="2574099">
                  <a:extLst>
                    <a:ext uri="{9D8B030D-6E8A-4147-A177-3AD203B41FA5}">
                      <a16:colId xmlns:a16="http://schemas.microsoft.com/office/drawing/2014/main" val="1062698739"/>
                    </a:ext>
                  </a:extLst>
                </a:gridCol>
                <a:gridCol w="2574099">
                  <a:extLst>
                    <a:ext uri="{9D8B030D-6E8A-4147-A177-3AD203B41FA5}">
                      <a16:colId xmlns:a16="http://schemas.microsoft.com/office/drawing/2014/main" val="2732092214"/>
                    </a:ext>
                  </a:extLst>
                </a:gridCol>
                <a:gridCol w="3081403">
                  <a:extLst>
                    <a:ext uri="{9D8B030D-6E8A-4147-A177-3AD203B41FA5}">
                      <a16:colId xmlns:a16="http://schemas.microsoft.com/office/drawing/2014/main" val="911363703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Thành phần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Trọng số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Công nghệ / Quy tắc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642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Lexical Score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35%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TF-IDF (</a:t>
                      </a:r>
                      <a:r>
                        <a:rPr lang="en-US" sz="18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Sklearn</a:t>
                      </a: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):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Khớp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chính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xác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từ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khóa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chuyên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môn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211405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Semantic Score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35%</a:t>
                      </a:r>
                      <a:endParaRPr lang="en-US" sz="18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Sentence Transformer:</a:t>
                      </a:r>
                      <a:r>
                        <a:rPr lang="en-US" sz="18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Hiểu ngữ nghĩa và ngữ cảnh.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46007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Historical Fit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15%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vi-VN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Heuristics:</a:t>
                      </a:r>
                      <a:r>
                        <a:rPr lang="vi-VN" sz="18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Khớp lĩnh vực, địa bàn &amp; chủ đầu tư cũ.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490418"/>
                  </a:ext>
                </a:extLst>
              </a:tr>
              <a:tr h="97536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Price Fit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10%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Profile Matching: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Phù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hợp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khung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ngân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sách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doanh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US" sz="18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nghiệp</a:t>
                      </a:r>
                      <a:r>
                        <a:rPr lang="en-US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567314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Recency Score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8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5%</a:t>
                      </a:r>
                      <a:endParaRPr lang="en-US" sz="18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57150"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vi-VN" sz="18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Time Decay:</a:t>
                      </a:r>
                      <a:r>
                        <a:rPr lang="vi-VN" sz="18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Ưu tiên gói thầu mới hoặc sắp hết hạn.</a:t>
                      </a:r>
                    </a:p>
                  </a:txBody>
                  <a:tcPr marT="76200" marB="76200" anchor="ctr">
                    <a:lnL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3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53503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4787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 Thành Phần Điểm Số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4786" y="1685999"/>
            <a:ext cx="454152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• Lexical Score  (35%)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TF-IDF cosine similarity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So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khớp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khóa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query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dung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gói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thầu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Tin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nhắn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rõ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 →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khớp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• Semantic Score  (35%)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Sentence Transformer embedding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Hiểu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nghĩa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diễn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cùng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ý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nhưng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từ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dụ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: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thi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đường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 → vector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gần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'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trình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'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256B6-0AF9-7DFC-6EA4-4D57CACB57FB}"/>
              </a:ext>
            </a:extLst>
          </p:cNvPr>
          <p:cNvSpPr txBox="1"/>
          <p:nvPr/>
        </p:nvSpPr>
        <p:spPr>
          <a:xfrm>
            <a:off x="5357553" y="1685999"/>
            <a:ext cx="613756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lang="vi-VN" sz="1800" dirty="0"/>
              <a:t>• Historical Fit  (15%)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Lĩnh vực mạnh doanh nghiệp đã thắng: +50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</a:t>
            </a:r>
            <a:r>
              <a:rPr lang="vi-VN" dirty="0"/>
              <a:t> </a:t>
            </a:r>
            <a:r>
              <a:rPr lang="vi-VN" sz="1800" dirty="0"/>
              <a:t>Địa bàn mạnh đã thắng: +30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Cùng chủ đầu tư quen: +20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lang="vi-VN" sz="1800" dirty="0"/>
              <a:t>• Price Fit  (10%)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Giá gói thầu nằm trong khung giá doanh nghiệp: 100 điểm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Ngoài khung: tính partial score theo khoảng cách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lang="vi-VN" sz="1800" dirty="0"/>
              <a:t>• Recency  (5%)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Sắp đóng thầu (≤7 ngày): 100 điểm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lang="vi-VN" sz="1800" dirty="0"/>
              <a:t>     7-30 ngày: 80 điểm | 30-90 ngày: 60 điểm | &gt;90 ngày: 40 điểm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2. Mô Hình 1: TF-IDF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TF-IDF: Nguyên Lý Toán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t>Công thức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5486400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TF-IDF = TF(</a:t>
            </a:r>
            <a:r>
              <a:rPr dirty="0" err="1"/>
              <a:t>t,d</a:t>
            </a:r>
            <a:r>
              <a:rPr dirty="0"/>
              <a:t>) x IDF(t) 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 TF(</a:t>
            </a:r>
            <a:r>
              <a:rPr dirty="0" err="1"/>
              <a:t>t,d</a:t>
            </a:r>
            <a:r>
              <a:rPr dirty="0"/>
              <a:t>) =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lần</a:t>
            </a:r>
            <a:r>
              <a:rPr dirty="0"/>
              <a:t> t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d /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d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 </a:t>
            </a: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en-US" dirty="0">
                <a:highlight>
                  <a:srgbClr val="FFFF00"/>
                </a:highlight>
              </a:rPr>
              <a:t> </a:t>
            </a: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Trong đó: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N: Tổng số văn bản trong tập Data D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|{d D:T\t d}|:Số lượng văn bản có chứa từ t (nếu từ đó không có thì sẽ cộng 1 vào mẫu để tránh lỗi chia cho 0)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lang="vi-VN" dirty="0">
              <a:highlight>
                <a:srgbClr val="FFFF00"/>
              </a:highlight>
            </a:endParaRP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t>Ý nghĩa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TF: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nhiều</a:t>
            </a:r>
            <a:r>
              <a:rPr dirty="0"/>
              <a:t> → </a:t>
            </a:r>
            <a:r>
              <a:rPr dirty="0" err="1"/>
              <a:t>quan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IDF: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biến</a:t>
            </a:r>
            <a:r>
              <a:rPr dirty="0"/>
              <a:t> ở </a:t>
            </a:r>
            <a:r>
              <a:rPr dirty="0" err="1"/>
              <a:t>nhiều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→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quả</a:t>
            </a:r>
            <a:r>
              <a:rPr dirty="0"/>
              <a:t>: vector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văn</a:t>
            </a:r>
            <a:r>
              <a:rPr dirty="0"/>
              <a:t> </a:t>
            </a:r>
            <a:r>
              <a:rPr dirty="0" err="1"/>
              <a:t>bản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Cosine Similarity:</a:t>
            </a:r>
            <a:r>
              <a:rPr lang="vi-VN" dirty="0"/>
              <a:t> </a:t>
            </a:r>
            <a:r>
              <a:rPr dirty="0"/>
              <a:t> </a:t>
            </a:r>
            <a:r>
              <a:rPr lang="vi-VN" dirty="0"/>
              <a:t>cas</a:t>
            </a:r>
            <a:r>
              <a:rPr dirty="0"/>
              <a:t>(A,B) = (A · B) / (|A| × |B|)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 → </a:t>
            </a:r>
            <a:r>
              <a:rPr dirty="0" err="1"/>
              <a:t>Đo</a:t>
            </a:r>
            <a:r>
              <a:rPr dirty="0"/>
              <a:t> </a:t>
            </a:r>
            <a:r>
              <a:rPr dirty="0" err="1"/>
              <a:t>góc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2 vector (0→1)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646464"/>
                </a:solidFill>
              </a:defRPr>
            </a:pPr>
            <a:r>
              <a:t>Trong project dùng sublinear_tf=True: log(1+TF) thay vì TF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EA79D5-D9A8-F2E3-3FC3-2CE0D7546E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97041"/>
            <a:ext cx="3929091" cy="6953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1B717F-C016-E086-C9B7-358E4E664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05" y="3315583"/>
            <a:ext cx="3057547" cy="7000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Cấu Hình TF-IDF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534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File: `</a:t>
            </a:r>
            <a:r>
              <a:rPr dirty="0" err="1"/>
              <a:t>src</a:t>
            </a:r>
            <a:r>
              <a:rPr dirty="0"/>
              <a:t>/ranking/lexical.py`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TfidfVectorizer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sklearn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Tham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cấu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: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ngram_range</a:t>
            </a:r>
            <a:r>
              <a:rPr dirty="0"/>
              <a:t>=(1, 2)  →  unigram + bigram (</a:t>
            </a:r>
            <a:r>
              <a:rPr dirty="0" err="1"/>
              <a:t>vd</a:t>
            </a:r>
            <a:r>
              <a:rPr dirty="0"/>
              <a:t>: '</a:t>
            </a:r>
            <a:r>
              <a:rPr dirty="0" err="1"/>
              <a:t>đấu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', '</a:t>
            </a:r>
            <a:r>
              <a:rPr dirty="0" err="1"/>
              <a:t>mua</a:t>
            </a:r>
            <a:r>
              <a:rPr dirty="0"/>
              <a:t> </a:t>
            </a:r>
            <a:r>
              <a:rPr dirty="0" err="1"/>
              <a:t>sắm</a:t>
            </a:r>
            <a:r>
              <a:rPr dirty="0"/>
              <a:t> </a:t>
            </a:r>
            <a:r>
              <a:rPr dirty="0" err="1"/>
              <a:t>vật</a:t>
            </a:r>
            <a:r>
              <a:rPr dirty="0"/>
              <a:t> </a:t>
            </a:r>
            <a:r>
              <a:rPr dirty="0" err="1"/>
              <a:t>tư</a:t>
            </a:r>
            <a:r>
              <a:rPr dirty="0"/>
              <a:t>')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min_df</a:t>
            </a:r>
            <a:r>
              <a:rPr dirty="0"/>
              <a:t>=2  → 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dưới</a:t>
            </a:r>
            <a:r>
              <a:rPr dirty="0"/>
              <a:t> 2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max_df</a:t>
            </a:r>
            <a:r>
              <a:rPr dirty="0"/>
              <a:t>=0.95  → 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&gt;95%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liệu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max_features</a:t>
            </a:r>
            <a:r>
              <a:rPr dirty="0"/>
              <a:t>=25,000  → 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điển</a:t>
            </a:r>
            <a:r>
              <a:rPr dirty="0"/>
              <a:t> 25K </a:t>
            </a:r>
            <a:r>
              <a:rPr dirty="0" err="1"/>
              <a:t>từ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sublinear_tf</a:t>
            </a:r>
            <a:r>
              <a:rPr dirty="0"/>
              <a:t>=True  →  </a:t>
            </a:r>
            <a:r>
              <a:rPr dirty="0" err="1"/>
              <a:t>dùng</a:t>
            </a:r>
            <a:r>
              <a:rPr dirty="0"/>
              <a:t> log(1+TF) </a:t>
            </a:r>
            <a:r>
              <a:rPr dirty="0" err="1"/>
              <a:t>giảm</a:t>
            </a:r>
            <a:r>
              <a:rPr dirty="0"/>
              <a:t> bias </a:t>
            </a:r>
            <a:r>
              <a:rPr dirty="0" err="1"/>
              <a:t>tần</a:t>
            </a:r>
            <a:r>
              <a:rPr dirty="0"/>
              <a:t> </a:t>
            </a:r>
            <a:r>
              <a:rPr dirty="0" err="1"/>
              <a:t>suất</a:t>
            </a:r>
            <a:r>
              <a:rPr dirty="0"/>
              <a:t> </a:t>
            </a:r>
            <a:r>
              <a:rPr dirty="0" err="1"/>
              <a:t>cao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Input: `</a:t>
            </a:r>
            <a:r>
              <a:rPr dirty="0" err="1"/>
              <a:t>tender_text_ascii</a:t>
            </a:r>
            <a:r>
              <a:rPr dirty="0"/>
              <a:t>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Text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chuyển</a:t>
            </a:r>
            <a:r>
              <a:rPr dirty="0"/>
              <a:t> sang ASCII (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đích</a:t>
            </a:r>
            <a:r>
              <a:rPr dirty="0"/>
              <a:t>: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lexical matching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Output: Ma </a:t>
            </a:r>
            <a:r>
              <a:rPr dirty="0" err="1"/>
              <a:t>trận</a:t>
            </a:r>
            <a:r>
              <a:rPr dirty="0"/>
              <a:t> TF-IDF sparse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Shape: (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, 25,000 features)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dòng</a:t>
            </a:r>
            <a:r>
              <a:rPr dirty="0"/>
              <a:t> = 1 vector TF-IDF </a:t>
            </a:r>
            <a:r>
              <a:rPr dirty="0" err="1"/>
              <a:t>của</a:t>
            </a:r>
            <a:r>
              <a:rPr dirty="0"/>
              <a:t> 1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Code: TF-IDF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class </a:t>
            </a:r>
            <a:r>
              <a:rPr dirty="0" err="1"/>
              <a:t>LexicalIndexer</a:t>
            </a:r>
            <a:r>
              <a:rPr dirty="0"/>
              <a:t>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@classmethod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def build(</a:t>
            </a:r>
            <a:r>
              <a:rPr dirty="0" err="1"/>
              <a:t>cls</a:t>
            </a:r>
            <a:r>
              <a:rPr dirty="0"/>
              <a:t>, </a:t>
            </a:r>
            <a:r>
              <a:rPr dirty="0" err="1"/>
              <a:t>tender_df</a:t>
            </a:r>
            <a:r>
              <a:rPr dirty="0"/>
              <a:t>: </a:t>
            </a:r>
            <a:r>
              <a:rPr dirty="0" err="1"/>
              <a:t>pd.DataFrame</a:t>
            </a:r>
            <a:r>
              <a:rPr dirty="0"/>
              <a:t>) -&gt; '</a:t>
            </a:r>
            <a:r>
              <a:rPr dirty="0" err="1"/>
              <a:t>LexicalIndexer</a:t>
            </a:r>
            <a:r>
              <a:rPr dirty="0"/>
              <a:t>':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texts = </a:t>
            </a:r>
            <a:r>
              <a:rPr dirty="0" err="1"/>
              <a:t>tender_df</a:t>
            </a:r>
            <a:r>
              <a:rPr dirty="0"/>
              <a:t>['</a:t>
            </a:r>
            <a:r>
              <a:rPr dirty="0" err="1"/>
              <a:t>tender_text_ascii</a:t>
            </a:r>
            <a:r>
              <a:rPr dirty="0"/>
              <a:t>'].</a:t>
            </a:r>
            <a:r>
              <a:rPr dirty="0" err="1"/>
              <a:t>fillna</a:t>
            </a:r>
            <a:r>
              <a:rPr dirty="0"/>
              <a:t>('').</a:t>
            </a:r>
            <a:r>
              <a:rPr dirty="0" err="1"/>
              <a:t>tolist</a:t>
            </a:r>
            <a:r>
              <a:rPr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</a:t>
            </a:r>
            <a:r>
              <a:rPr dirty="0" err="1"/>
              <a:t>tender_ids</a:t>
            </a:r>
            <a:r>
              <a:rPr dirty="0"/>
              <a:t> = </a:t>
            </a:r>
            <a:r>
              <a:rPr dirty="0" err="1"/>
              <a:t>tender_df</a:t>
            </a:r>
            <a:r>
              <a:rPr dirty="0"/>
              <a:t>['</a:t>
            </a:r>
            <a:r>
              <a:rPr dirty="0" err="1"/>
              <a:t>bidonotifycontractormnotifyno</a:t>
            </a:r>
            <a:r>
              <a:rPr dirty="0"/>
              <a:t>'].</a:t>
            </a:r>
            <a:r>
              <a:rPr dirty="0" err="1"/>
              <a:t>tolist</a:t>
            </a:r>
            <a:r>
              <a:rPr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vectorizer = </a:t>
            </a:r>
            <a:r>
              <a:rPr dirty="0" err="1"/>
              <a:t>TfidfVectorizer</a:t>
            </a:r>
            <a:r>
              <a:rPr dirty="0"/>
              <a:t>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ngram_range</a:t>
            </a:r>
            <a:r>
              <a:rPr dirty="0"/>
              <a:t>=(1, 2),    # unigram + bigram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min_df</a:t>
            </a:r>
            <a:r>
              <a:rPr dirty="0"/>
              <a:t>=2,             #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hiếm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max_df</a:t>
            </a:r>
            <a:r>
              <a:rPr dirty="0"/>
              <a:t>=0.95,          #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quá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biến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max_features</a:t>
            </a:r>
            <a:r>
              <a:rPr dirty="0"/>
              <a:t>=25000,  #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25K </a:t>
            </a:r>
            <a:r>
              <a:rPr dirty="0" err="1"/>
              <a:t>từ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  </a:t>
            </a:r>
            <a:r>
              <a:rPr dirty="0" err="1"/>
              <a:t>sublinear_tf</a:t>
            </a:r>
            <a:r>
              <a:rPr dirty="0"/>
              <a:t>=True     # log(1+TF)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matrix = </a:t>
            </a:r>
            <a:r>
              <a:rPr dirty="0" err="1"/>
              <a:t>vectorizer.fit_transform</a:t>
            </a:r>
            <a:r>
              <a:rPr dirty="0"/>
              <a:t>(texts)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return </a:t>
            </a:r>
            <a:r>
              <a:rPr dirty="0" err="1"/>
              <a:t>cls</a:t>
            </a:r>
            <a:r>
              <a:rPr dirty="0"/>
              <a:t>(vectorizer, matrix, </a:t>
            </a:r>
            <a:r>
              <a:rPr dirty="0" err="1"/>
              <a:t>tender_ids</a:t>
            </a:r>
            <a:r>
              <a:rPr dirty="0"/>
              <a:t>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def score(self, query: str) -&gt; </a:t>
            </a:r>
            <a:r>
              <a:rPr dirty="0" err="1"/>
              <a:t>dict</a:t>
            </a:r>
            <a:r>
              <a:rPr dirty="0"/>
              <a:t>[str, float]: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</a:t>
            </a:r>
            <a:r>
              <a:rPr dirty="0" err="1"/>
              <a:t>q_vec</a:t>
            </a:r>
            <a:r>
              <a:rPr dirty="0"/>
              <a:t> = </a:t>
            </a:r>
            <a:r>
              <a:rPr dirty="0" err="1"/>
              <a:t>self.vectorizer.transform</a:t>
            </a:r>
            <a:r>
              <a:rPr dirty="0"/>
              <a:t>([</a:t>
            </a:r>
            <a:r>
              <a:rPr dirty="0" err="1"/>
              <a:t>query.lower</a:t>
            </a:r>
            <a:r>
              <a:rPr dirty="0"/>
              <a:t>()])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scores = (</a:t>
            </a:r>
            <a:r>
              <a:rPr dirty="0" err="1"/>
              <a:t>q_vec</a:t>
            </a:r>
            <a:r>
              <a:rPr dirty="0"/>
              <a:t> @ </a:t>
            </a:r>
            <a:r>
              <a:rPr dirty="0" err="1"/>
              <a:t>self.matrix.T</a:t>
            </a:r>
            <a:r>
              <a:rPr dirty="0"/>
              <a:t>).</a:t>
            </a:r>
            <a:r>
              <a:rPr dirty="0" err="1"/>
              <a:t>toarray</a:t>
            </a:r>
            <a:r>
              <a:rPr dirty="0"/>
              <a:t>().flatten()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# scores[</a:t>
            </a:r>
            <a:r>
              <a:rPr dirty="0" err="1"/>
              <a:t>i</a:t>
            </a:r>
            <a:r>
              <a:rPr dirty="0"/>
              <a:t>] = cosine similarity query vs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 </a:t>
            </a:r>
            <a:r>
              <a:rPr dirty="0" err="1"/>
              <a:t>i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Lưu vectorizer + ma trận bằng joblib để reuse không cần retrain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Luồng TF-IDF Trong Hệ Thống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589339-9890-4B6C-D73F-28A862B0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6" y="2081202"/>
            <a:ext cx="5862680" cy="26955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0572BF3-A727-FBAC-B4D6-7AC86C441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7526" y="1813808"/>
            <a:ext cx="6338934" cy="31527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3. Mô Hình 2: Sentence Transformer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paraphrase-multilingual-MiniLM-L12-v2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t>Thông số kỹ thuật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: </a:t>
            </a:r>
            <a:r>
              <a:rPr dirty="0" err="1"/>
              <a:t>MiniLM</a:t>
            </a:r>
            <a:r>
              <a:rPr dirty="0"/>
              <a:t> (MiniLingual Model)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Số</a:t>
            </a:r>
            <a:r>
              <a:rPr dirty="0"/>
              <a:t> layers (L): 12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Embedding: 384 </a:t>
            </a:r>
            <a:r>
              <a:rPr dirty="0" err="1"/>
              <a:t>chiều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Hidden size: 768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Attention heads: 12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Params: ~118 </a:t>
            </a:r>
            <a:r>
              <a:rPr dirty="0" err="1"/>
              <a:t>triệu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Ngôn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: 50+ (bao </a:t>
            </a:r>
            <a:r>
              <a:rPr dirty="0" err="1"/>
              <a:t>gồm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Framework: sentence-transformers (</a:t>
            </a:r>
            <a:r>
              <a:rPr dirty="0" err="1"/>
              <a:t>PyTorch</a:t>
            </a:r>
            <a:r>
              <a:rPr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t>Điểm mạnh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Multilingual: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dịch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Sentence-level: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cảnh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</a:t>
            </a:r>
            <a:r>
              <a:rPr dirty="0" err="1"/>
              <a:t>câu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từ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Paraphrase-aware: </a:t>
            </a: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</a:t>
            </a:r>
            <a:r>
              <a:rPr dirty="0" err="1"/>
              <a:t>nghĩa</a:t>
            </a:r>
            <a:r>
              <a:rPr dirty="0"/>
              <a:t> → vector </a:t>
            </a:r>
            <a:r>
              <a:rPr dirty="0" err="1"/>
              <a:t>gần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MiniLM</a:t>
            </a:r>
            <a:r>
              <a:rPr dirty="0"/>
              <a:t>: </a:t>
            </a:r>
            <a:r>
              <a:rPr dirty="0" err="1"/>
              <a:t>nhẹ</a:t>
            </a:r>
            <a:r>
              <a:rPr dirty="0"/>
              <a:t>, </a:t>
            </a:r>
            <a:r>
              <a:rPr dirty="0" err="1"/>
              <a:t>nhanh</a:t>
            </a:r>
            <a:r>
              <a:rPr dirty="0"/>
              <a:t>, </a:t>
            </a: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tốt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CPU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Pre-trained: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train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data </a:t>
            </a:r>
            <a:r>
              <a:rPr dirty="0" err="1"/>
              <a:t>dự</a:t>
            </a:r>
            <a:r>
              <a:rPr dirty="0"/>
              <a:t> </a:t>
            </a:r>
            <a:r>
              <a:rPr dirty="0" err="1"/>
              <a:t>án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Normalized: embeddings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hoá</a:t>
            </a:r>
            <a:r>
              <a:rPr dirty="0"/>
              <a:t> → cosine sim = dot product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 err="1"/>
              <a:t>Ví</a:t>
            </a:r>
            <a:r>
              <a:rPr dirty="0"/>
              <a:t> </a:t>
            </a:r>
            <a:r>
              <a:rPr dirty="0" err="1"/>
              <a:t>Dụ</a:t>
            </a:r>
            <a:r>
              <a:rPr dirty="0"/>
              <a:t>: Semantic vs Lexical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667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Query: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•   Lexical (TF-IDF)         </a:t>
            </a:r>
            <a:r>
              <a:rPr lang="vi-VN" dirty="0"/>
              <a:t>     </a:t>
            </a:r>
            <a:r>
              <a:rPr dirty="0"/>
              <a:t>     |  Semantic (Sentence-BERT)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----------------------------</a:t>
            </a:r>
            <a:r>
              <a:rPr lang="vi-VN" dirty="0"/>
              <a:t>------</a:t>
            </a:r>
            <a:r>
              <a:rPr dirty="0"/>
              <a:t>--|--------------------------------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✓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'     </a:t>
            </a:r>
            <a:r>
              <a:rPr lang="vi-VN" dirty="0"/>
              <a:t>    </a:t>
            </a:r>
            <a:r>
              <a:rPr dirty="0"/>
              <a:t>  |  ✓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✓ '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'            </a:t>
            </a:r>
            <a:r>
              <a:rPr lang="vi-VN" dirty="0"/>
              <a:t>    </a:t>
            </a:r>
            <a:r>
              <a:rPr dirty="0"/>
              <a:t>  |  ✓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GT'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?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       </a:t>
            </a:r>
            <a:r>
              <a:rPr lang="vi-VN" dirty="0"/>
              <a:t>   </a:t>
            </a:r>
            <a:r>
              <a:rPr dirty="0"/>
              <a:t> |  ✓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hạ</a:t>
            </a:r>
            <a:r>
              <a:rPr dirty="0"/>
              <a:t> </a:t>
            </a:r>
            <a:r>
              <a:rPr dirty="0" err="1"/>
              <a:t>tầng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</a:t>
            </a:r>
            <a:r>
              <a:rPr lang="vi-VN" dirty="0"/>
              <a:t> </a:t>
            </a:r>
            <a:r>
              <a:rPr dirty="0"/>
              <a:t>   ? '</a:t>
            </a:r>
            <a:r>
              <a:rPr dirty="0" err="1"/>
              <a:t>hạ</a:t>
            </a:r>
            <a:r>
              <a:rPr dirty="0"/>
              <a:t> </a:t>
            </a: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        </a:t>
            </a:r>
            <a:r>
              <a:rPr lang="vi-VN" dirty="0"/>
              <a:t>   </a:t>
            </a:r>
            <a:r>
              <a:rPr dirty="0"/>
              <a:t>|  ✓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?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GT'    |  ✓ '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đường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'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  --------------------</a:t>
            </a:r>
            <a:r>
              <a:rPr lang="vi-VN" dirty="0"/>
              <a:t>-------</a:t>
            </a:r>
            <a:r>
              <a:rPr dirty="0"/>
              <a:t>----------|--------------------------------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</a:t>
            </a:r>
            <a:r>
              <a:rPr lang="vi-VN" dirty="0"/>
              <a:t>          </a:t>
            </a:r>
            <a:r>
              <a:rPr dirty="0"/>
              <a:t>   Score: 1.0                     |</a:t>
            </a:r>
            <a:r>
              <a:rPr lang="vi-VN" dirty="0"/>
              <a:t>      </a:t>
            </a:r>
            <a:r>
              <a:rPr dirty="0"/>
              <a:t>  Score: 0.87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luận</a:t>
            </a:r>
            <a:r>
              <a:rPr dirty="0"/>
              <a:t>: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Lexical: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khớp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y </a:t>
            </a:r>
            <a:r>
              <a:rPr dirty="0" err="1"/>
              <a:t>hệt</a:t>
            </a:r>
            <a:r>
              <a:rPr dirty="0"/>
              <a:t>, 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sót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diễn</a:t>
            </a:r>
            <a:r>
              <a:rPr dirty="0"/>
              <a:t> </a:t>
            </a:r>
            <a:r>
              <a:rPr dirty="0" err="1"/>
              <a:t>đạt</a:t>
            </a:r>
            <a:r>
              <a:rPr dirty="0"/>
              <a:t> </a:t>
            </a:r>
            <a:r>
              <a:rPr dirty="0" err="1"/>
              <a:t>khác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Semantic: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nghĩa</a:t>
            </a:r>
            <a:r>
              <a:rPr dirty="0"/>
              <a:t>, </a:t>
            </a:r>
            <a:r>
              <a:rPr dirty="0" err="1"/>
              <a:t>diễn</a:t>
            </a:r>
            <a:r>
              <a:rPr dirty="0"/>
              <a:t> </a:t>
            </a:r>
            <a:r>
              <a:rPr dirty="0" err="1"/>
              <a:t>đạt</a:t>
            </a:r>
            <a:r>
              <a:rPr dirty="0"/>
              <a:t>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ý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cao</a:t>
            </a:r>
            <a:endParaRPr dirty="0"/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2: </a:t>
            </a:r>
            <a:r>
              <a:rPr dirty="0" err="1"/>
              <a:t>vừa</a:t>
            </a:r>
            <a:r>
              <a:rPr dirty="0"/>
              <a:t> </a:t>
            </a:r>
            <a:r>
              <a:rPr dirty="0" err="1"/>
              <a:t>khớp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, </a:t>
            </a:r>
            <a:r>
              <a:rPr dirty="0" err="1"/>
              <a:t>vừa</a:t>
            </a:r>
            <a:r>
              <a:rPr dirty="0"/>
              <a:t> </a:t>
            </a:r>
            <a:r>
              <a:rPr dirty="0" err="1"/>
              <a:t>hiểu</a:t>
            </a:r>
            <a:r>
              <a:rPr dirty="0"/>
              <a:t> </a:t>
            </a:r>
            <a:r>
              <a:rPr dirty="0" err="1"/>
              <a:t>ngữ</a:t>
            </a:r>
            <a:r>
              <a:rPr dirty="0"/>
              <a:t> </a:t>
            </a:r>
            <a:r>
              <a:rPr dirty="0" err="1"/>
              <a:t>cảnh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Cấu Hình Sentence Transformer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File: `</a:t>
            </a:r>
            <a:r>
              <a:rPr dirty="0" err="1"/>
              <a:t>src</a:t>
            </a:r>
            <a:r>
              <a:rPr dirty="0"/>
              <a:t>/ranking/semantic.py`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SentenceTransformer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sentence-transformers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Model: `paraphrase-multilingual-MiniLM-L12-v2`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Default </a:t>
            </a:r>
            <a:r>
              <a:rPr dirty="0" err="1"/>
              <a:t>trong</a:t>
            </a:r>
            <a:r>
              <a:rPr dirty="0"/>
              <a:t> settings: DAUTHAU_SEMANTIC_MODEL_NAME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đổi</a:t>
            </a:r>
            <a:r>
              <a:rPr dirty="0"/>
              <a:t> model </a:t>
            </a:r>
            <a:r>
              <a:rPr dirty="0" err="1"/>
              <a:t>khác</a:t>
            </a:r>
            <a:r>
              <a:rPr dirty="0"/>
              <a:t> qua </a:t>
            </a:r>
            <a:r>
              <a:rPr dirty="0" err="1"/>
              <a:t>biến</a:t>
            </a:r>
            <a:r>
              <a:rPr dirty="0"/>
              <a:t> </a:t>
            </a:r>
            <a:r>
              <a:rPr dirty="0" err="1"/>
              <a:t>môi</a:t>
            </a:r>
            <a:r>
              <a:rPr dirty="0"/>
              <a:t> </a:t>
            </a:r>
            <a:r>
              <a:rPr dirty="0" err="1"/>
              <a:t>trường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Cấu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encode: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batch_size</a:t>
            </a:r>
            <a:r>
              <a:rPr dirty="0"/>
              <a:t>=256  →  encode 256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/</a:t>
            </a:r>
            <a:r>
              <a:rPr dirty="0" err="1"/>
              <a:t>lần</a:t>
            </a:r>
            <a:r>
              <a:rPr dirty="0"/>
              <a:t> (</a:t>
            </a:r>
            <a:r>
              <a:rPr dirty="0" err="1"/>
              <a:t>tiết</a:t>
            </a:r>
            <a:r>
              <a:rPr dirty="0"/>
              <a:t> </a:t>
            </a:r>
            <a:r>
              <a:rPr dirty="0" err="1"/>
              <a:t>kiệm</a:t>
            </a:r>
            <a:r>
              <a:rPr dirty="0"/>
              <a:t> memory)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normalize_embeddings</a:t>
            </a:r>
            <a:r>
              <a:rPr dirty="0"/>
              <a:t>=True  →  L2 normalized → cosine sim = dot product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</a:t>
            </a:r>
            <a:r>
              <a:rPr dirty="0" err="1"/>
              <a:t>show_progress_bar</a:t>
            </a:r>
            <a:r>
              <a:rPr dirty="0"/>
              <a:t>=True  → 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dõi</a:t>
            </a:r>
            <a:r>
              <a:rPr dirty="0"/>
              <a:t> </a:t>
            </a:r>
            <a:r>
              <a:rPr dirty="0" err="1"/>
              <a:t>tiến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encode </a:t>
            </a:r>
            <a:r>
              <a:rPr dirty="0" err="1"/>
              <a:t>nhiều</a:t>
            </a:r>
            <a:endParaRPr dirty="0"/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Input: `</a:t>
            </a:r>
            <a:r>
              <a:rPr dirty="0" err="1"/>
              <a:t>tender_text</a:t>
            </a:r>
            <a:r>
              <a:rPr dirty="0"/>
              <a:t>`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Text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 (</a:t>
            </a:r>
            <a:r>
              <a:rPr dirty="0" err="1"/>
              <a:t>giữ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 - multilingual model </a:t>
            </a:r>
            <a:r>
              <a:rPr dirty="0" err="1"/>
              <a:t>hiểu</a:t>
            </a:r>
            <a:r>
              <a:rPr dirty="0"/>
              <a:t>)</a:t>
            </a:r>
          </a:p>
          <a:p>
            <a:pPr>
              <a:spcAft>
                <a:spcPts val="800"/>
              </a:spcAft>
              <a:defRPr sz="1800">
                <a:solidFill>
                  <a:srgbClr val="14143C"/>
                </a:solidFill>
              </a:defRPr>
            </a:pPr>
            <a:r>
              <a:rPr dirty="0"/>
              <a:t>• Output: Ma </a:t>
            </a:r>
            <a:r>
              <a:rPr dirty="0" err="1"/>
              <a:t>trận</a:t>
            </a:r>
            <a:r>
              <a:rPr dirty="0"/>
              <a:t> embedding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Shape: (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, 384)</a:t>
            </a:r>
          </a:p>
          <a:p>
            <a:pPr>
              <a:spcAft>
                <a:spcPts val="400"/>
              </a:spcAft>
              <a:defRPr sz="1600">
                <a:solidFill>
                  <a:srgbClr val="282864"/>
                </a:solidFill>
              </a:defRPr>
            </a:pPr>
            <a:r>
              <a:rPr dirty="0"/>
              <a:t>     Lưu: artifacts/</a:t>
            </a:r>
            <a:r>
              <a:rPr dirty="0" err="1"/>
              <a:t>semantic_index.joblib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Code: Sentence Transformer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51860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class </a:t>
            </a:r>
            <a:r>
              <a:rPr sz="1200" dirty="0" err="1"/>
              <a:t>SemanticIndexer</a:t>
            </a:r>
            <a:r>
              <a:rPr sz="1200" dirty="0"/>
              <a:t>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@classmethod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def build(</a:t>
            </a:r>
            <a:r>
              <a:rPr sz="1200" dirty="0" err="1"/>
              <a:t>cls</a:t>
            </a:r>
            <a:r>
              <a:rPr sz="1200" dirty="0"/>
              <a:t>, </a:t>
            </a:r>
            <a:r>
              <a:rPr sz="1200" dirty="0" err="1"/>
              <a:t>tender_df</a:t>
            </a:r>
            <a:r>
              <a:rPr sz="1200" dirty="0"/>
              <a:t>, </a:t>
            </a:r>
            <a:r>
              <a:rPr sz="1200" dirty="0" err="1"/>
              <a:t>model_name</a:t>
            </a:r>
            <a:r>
              <a:rPr sz="1200" dirty="0"/>
              <a:t>="paraphrase-multilingual-MiniLM-L12-v2"):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from </a:t>
            </a:r>
            <a:r>
              <a:rPr sz="1200" dirty="0" err="1"/>
              <a:t>sentence_transformers</a:t>
            </a:r>
            <a:r>
              <a:rPr sz="1200" dirty="0"/>
              <a:t> import </a:t>
            </a:r>
            <a:r>
              <a:rPr sz="1200" dirty="0" err="1"/>
              <a:t>SentenceTransformer</a:t>
            </a: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texts = </a:t>
            </a:r>
            <a:r>
              <a:rPr sz="1200" dirty="0" err="1"/>
              <a:t>tender_df</a:t>
            </a:r>
            <a:r>
              <a:rPr sz="1200" dirty="0"/>
              <a:t>['</a:t>
            </a:r>
            <a:r>
              <a:rPr sz="1200" dirty="0" err="1"/>
              <a:t>tender_text</a:t>
            </a:r>
            <a:r>
              <a:rPr sz="1200" dirty="0"/>
              <a:t>'].</a:t>
            </a:r>
            <a:r>
              <a:rPr sz="1200" dirty="0" err="1"/>
              <a:t>fillna</a:t>
            </a:r>
            <a:r>
              <a:rPr sz="1200" dirty="0"/>
              <a:t>('').</a:t>
            </a:r>
            <a:r>
              <a:rPr sz="1200" dirty="0" err="1"/>
              <a:t>tolist</a:t>
            </a:r>
            <a:r>
              <a:rPr sz="1200"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</a:t>
            </a:r>
            <a:r>
              <a:rPr sz="1200" dirty="0" err="1"/>
              <a:t>tender_ids</a:t>
            </a:r>
            <a:r>
              <a:rPr sz="1200" dirty="0"/>
              <a:t> = </a:t>
            </a:r>
            <a:r>
              <a:rPr sz="1200" dirty="0" err="1"/>
              <a:t>tender_df</a:t>
            </a:r>
            <a:r>
              <a:rPr sz="1200" dirty="0"/>
              <a:t>['</a:t>
            </a:r>
            <a:r>
              <a:rPr sz="1200" dirty="0" err="1"/>
              <a:t>bidonotifycontractormnotifyno</a:t>
            </a:r>
            <a:r>
              <a:rPr sz="1200" dirty="0"/>
              <a:t>'].</a:t>
            </a:r>
            <a:r>
              <a:rPr sz="1200" dirty="0" err="1"/>
              <a:t>tolist</a:t>
            </a:r>
            <a:r>
              <a:rPr sz="1200"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print(f'[Semantic] Loading model: {</a:t>
            </a:r>
            <a:r>
              <a:rPr sz="1200" dirty="0" err="1"/>
              <a:t>model_name</a:t>
            </a:r>
            <a:r>
              <a:rPr sz="1200" dirty="0"/>
              <a:t>}')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model = </a:t>
            </a:r>
            <a:r>
              <a:rPr sz="1200" dirty="0" err="1"/>
              <a:t>SentenceTransformer</a:t>
            </a:r>
            <a:r>
              <a:rPr sz="1200" dirty="0"/>
              <a:t>(</a:t>
            </a:r>
            <a:r>
              <a:rPr sz="1200" dirty="0" err="1"/>
              <a:t>model_name</a:t>
            </a:r>
            <a:r>
              <a:rPr sz="1200" dirty="0"/>
              <a:t>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print(f'[Semantic] Encoding {</a:t>
            </a:r>
            <a:r>
              <a:rPr sz="1200" dirty="0" err="1"/>
              <a:t>len</a:t>
            </a:r>
            <a:r>
              <a:rPr sz="1200" dirty="0"/>
              <a:t>(texts)} tenders...')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embeddings = </a:t>
            </a:r>
            <a:r>
              <a:rPr sz="1200" dirty="0" err="1"/>
              <a:t>model.encode</a:t>
            </a:r>
            <a:r>
              <a:rPr sz="1200" dirty="0"/>
              <a:t>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texts,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</a:t>
            </a:r>
            <a:r>
              <a:rPr sz="1200" dirty="0" err="1"/>
              <a:t>batch_size</a:t>
            </a:r>
            <a:r>
              <a:rPr sz="1200" dirty="0"/>
              <a:t>=256,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</a:t>
            </a:r>
            <a:r>
              <a:rPr sz="1200" dirty="0" err="1"/>
              <a:t>show_progress_bar</a:t>
            </a:r>
            <a:r>
              <a:rPr sz="1200" dirty="0"/>
              <a:t>=True,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    </a:t>
            </a:r>
            <a:r>
              <a:rPr sz="1200" dirty="0" err="1"/>
              <a:t>normalize_embeddings</a:t>
            </a:r>
            <a:r>
              <a:rPr sz="1200" dirty="0"/>
              <a:t>=True,   # cosine sim = dot product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return </a:t>
            </a:r>
            <a:r>
              <a:rPr sz="1200" dirty="0" err="1"/>
              <a:t>cls</a:t>
            </a:r>
            <a:r>
              <a:rPr sz="1200" dirty="0"/>
              <a:t>(</a:t>
            </a:r>
            <a:r>
              <a:rPr sz="1200" dirty="0" err="1"/>
              <a:t>model_name</a:t>
            </a:r>
            <a:r>
              <a:rPr sz="1200" dirty="0"/>
              <a:t>, embeddings, </a:t>
            </a:r>
            <a:r>
              <a:rPr sz="1200" dirty="0" err="1"/>
              <a:t>tender_ids</a:t>
            </a:r>
            <a:r>
              <a:rPr sz="1200" dirty="0"/>
              <a:t>, ready=True)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sz="1200"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def score(self, query: str) -&gt; </a:t>
            </a:r>
            <a:r>
              <a:rPr sz="1200" dirty="0" err="1"/>
              <a:t>dict</a:t>
            </a:r>
            <a:r>
              <a:rPr sz="1200" dirty="0"/>
              <a:t>[str, float]: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</a:t>
            </a:r>
            <a:r>
              <a:rPr sz="1200" dirty="0" err="1"/>
              <a:t>q_emb</a:t>
            </a:r>
            <a:r>
              <a:rPr sz="1200" dirty="0"/>
              <a:t> = </a:t>
            </a:r>
            <a:r>
              <a:rPr sz="1200" dirty="0" err="1"/>
              <a:t>model.encode</a:t>
            </a:r>
            <a:r>
              <a:rPr sz="1200" dirty="0"/>
              <a:t>([query], </a:t>
            </a:r>
            <a:r>
              <a:rPr sz="1200" dirty="0" err="1"/>
              <a:t>normalize_embeddings</a:t>
            </a:r>
            <a:r>
              <a:rPr sz="1200" dirty="0"/>
              <a:t>=True)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sims = (</a:t>
            </a:r>
            <a:r>
              <a:rPr sz="1200" dirty="0" err="1"/>
              <a:t>q_emb</a:t>
            </a:r>
            <a:r>
              <a:rPr sz="1200" dirty="0"/>
              <a:t> @ </a:t>
            </a:r>
            <a:r>
              <a:rPr sz="1200" dirty="0" err="1"/>
              <a:t>self.embeddings.T</a:t>
            </a:r>
            <a:r>
              <a:rPr sz="1200" dirty="0"/>
              <a:t>).flatten()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sz="1200" dirty="0"/>
              <a:t>        # sims[</a:t>
            </a:r>
            <a:r>
              <a:rPr sz="1200" dirty="0" err="1"/>
              <a:t>i</a:t>
            </a:r>
            <a:r>
              <a:rPr sz="1200" dirty="0"/>
              <a:t>] = cosine similarity query vs </a:t>
            </a:r>
            <a:r>
              <a:rPr sz="1200" dirty="0" err="1"/>
              <a:t>gói</a:t>
            </a:r>
            <a:r>
              <a:rPr sz="1200" dirty="0"/>
              <a:t> </a:t>
            </a:r>
            <a:r>
              <a:rPr sz="1200" dirty="0" err="1"/>
              <a:t>thầu</a:t>
            </a:r>
            <a:r>
              <a:rPr sz="1200" dirty="0"/>
              <a:t> </a:t>
            </a:r>
            <a:r>
              <a:rPr sz="1200" dirty="0" err="1"/>
              <a:t>i</a:t>
            </a:r>
            <a:endParaRPr sz="1200" dirty="0"/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Semantic scoring tắt tự động nếu sentence-transformers chưa cài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Luồng Sentence Transformer Trong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7353" y="1479666"/>
            <a:ext cx="5154093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BUILD TIME (offline):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data/dauthau_data.csv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</a:t>
            </a:r>
            <a:r>
              <a:rPr dirty="0" err="1"/>
              <a:t>tender_text</a:t>
            </a:r>
            <a:r>
              <a:rPr dirty="0"/>
              <a:t> (</a:t>
            </a:r>
            <a:r>
              <a:rPr dirty="0" err="1"/>
              <a:t>giữ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Việt)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</a:t>
            </a:r>
            <a:r>
              <a:rPr dirty="0" err="1"/>
              <a:t>SentenceTransformer.encode</a:t>
            </a:r>
            <a:r>
              <a:rPr dirty="0"/>
              <a:t>()  →  embeddings (N x 384)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Lưu: artifacts/</a:t>
            </a:r>
            <a:r>
              <a:rPr dirty="0" err="1"/>
              <a:t>semantic_index.joblib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dirty="0"/>
              <a:t> 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1978A8-6C14-CBA7-610F-ADD6654FE44C}"/>
              </a:ext>
            </a:extLst>
          </p:cNvPr>
          <p:cNvSpPr txBox="1"/>
          <p:nvPr/>
        </p:nvSpPr>
        <p:spPr>
          <a:xfrm>
            <a:off x="5878484" y="1611161"/>
            <a:ext cx="6137564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RUNTIME (mỗi query):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endParaRPr lang="vi-VN" dirty="0"/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User query: 'Thi công cầu đường'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model.encode([query])  →  q_emb (1 x 384)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dot(q_emb, embeddings.T)  →  cosine similarity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|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      v</a:t>
            </a:r>
          </a:p>
          <a:p>
            <a:pPr>
              <a:spcAft>
                <a:spcPts val="600"/>
              </a:spcAft>
              <a:defRPr sz="1600">
                <a:solidFill>
                  <a:srgbClr val="0F2041"/>
                </a:solidFill>
              </a:defRPr>
            </a:pPr>
            <a:r>
              <a:rPr lang="vi-VN" dirty="0"/>
              <a:t>  ↑ Điểm semantic_score cho mỗi gói thầu (0-100)</a:t>
            </a:r>
          </a:p>
        </p:txBody>
      </p:sp>
      <p:sp>
        <p:nvSpPr>
          <p:cNvPr id="7" name="AutoShape 2" descr="Quy trình tìm kiếm dữ liệu AI">
            <a:extLst>
              <a:ext uri="{FF2B5EF4-FFF2-40B4-BE49-F238E27FC236}">
                <a16:creationId xmlns:a16="http://schemas.microsoft.com/office/drawing/2014/main" id="{CC8DD02C-B9CE-539C-2930-505887EDA8C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83476" y="-481937"/>
            <a:ext cx="4063337" cy="4063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03A58A0-ABBC-0131-0D16-54EF67052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558" y="1234440"/>
            <a:ext cx="8048684" cy="52864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4. Kết Hợp Hybrid Scoring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Công Thức Hybrid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5386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</a:t>
            </a:r>
            <a:r>
              <a:rPr dirty="0" err="1"/>
              <a:t>Điểm</a:t>
            </a:r>
            <a:r>
              <a:rPr dirty="0"/>
              <a:t> raw (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scale 0→1 </a:t>
            </a:r>
            <a:r>
              <a:rPr dirty="0" err="1"/>
              <a:t>hoặc</a:t>
            </a:r>
            <a:r>
              <a:rPr dirty="0"/>
              <a:t> 0→100)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lex_score</a:t>
            </a:r>
            <a:r>
              <a:rPr dirty="0"/>
              <a:t>      = min(</a:t>
            </a:r>
            <a:r>
              <a:rPr dirty="0" err="1"/>
              <a:t>raw_lex</a:t>
            </a:r>
            <a:r>
              <a:rPr dirty="0"/>
              <a:t> * 100, 100.0)     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sem_score</a:t>
            </a:r>
            <a:r>
              <a:rPr dirty="0"/>
              <a:t>      = min(</a:t>
            </a:r>
            <a:r>
              <a:rPr dirty="0" err="1"/>
              <a:t>raw_sem</a:t>
            </a:r>
            <a:r>
              <a:rPr dirty="0"/>
              <a:t> * 100, 100.0)     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hist_fit</a:t>
            </a:r>
            <a:r>
              <a:rPr dirty="0"/>
              <a:t>       = ...  (0→100, profile-based)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price_fit</a:t>
            </a:r>
            <a:r>
              <a:rPr dirty="0"/>
              <a:t>      = ...  (0→100, heuristic)     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recency_score</a:t>
            </a:r>
            <a:r>
              <a:rPr dirty="0"/>
              <a:t>  = ...  (0→100, deadline-based)    # 0→100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Công </a:t>
            </a:r>
            <a:r>
              <a:rPr dirty="0" err="1"/>
              <a:t>thức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total = 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0.35 * </a:t>
            </a:r>
            <a:r>
              <a:rPr dirty="0" err="1"/>
              <a:t>lex_score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+ 0.35 * </a:t>
            </a:r>
            <a:r>
              <a:rPr dirty="0" err="1"/>
              <a:t>sem_score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+ 0.15 * </a:t>
            </a:r>
            <a:r>
              <a:rPr dirty="0" err="1"/>
              <a:t>hist_fit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+ 0.10 * </a:t>
            </a:r>
            <a:r>
              <a:rPr dirty="0" err="1"/>
              <a:t>price_fit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+ 0.05 * </a:t>
            </a:r>
            <a:r>
              <a:rPr dirty="0" err="1"/>
              <a:t>recency_score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=&gt; total ∈ [0, 100]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mặc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(settings.py)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lexical_weight</a:t>
            </a:r>
            <a:r>
              <a:rPr dirty="0"/>
              <a:t>     = 0.35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semantic_weight</a:t>
            </a:r>
            <a:r>
              <a:rPr dirty="0"/>
              <a:t>   = 0.35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historical_weight</a:t>
            </a:r>
            <a:r>
              <a:rPr dirty="0"/>
              <a:t> = 0.15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price_weight</a:t>
            </a:r>
            <a:r>
              <a:rPr dirty="0"/>
              <a:t>       = 0.10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recency_weight</a:t>
            </a:r>
            <a:r>
              <a:rPr dirty="0"/>
              <a:t>    = 0.05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Nếu semantic chưa sẵn sàng, trọng số được re-normalize: lexical=1.0, bỏ semantic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0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Code: Hybrid Scoring Trong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612880" cy="6655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# Trong </a:t>
            </a:r>
            <a:r>
              <a:rPr dirty="0" err="1"/>
              <a:t>HybridRanker.score</a:t>
            </a:r>
            <a:r>
              <a:rPr dirty="0"/>
              <a:t>()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for _, row in </a:t>
            </a:r>
            <a:r>
              <a:rPr dirty="0" err="1"/>
              <a:t>candidate_df.iterrows</a:t>
            </a:r>
            <a:r>
              <a:rPr dirty="0"/>
              <a:t>():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nid</a:t>
            </a:r>
            <a:r>
              <a:rPr dirty="0"/>
              <a:t> = row['</a:t>
            </a:r>
            <a:r>
              <a:rPr dirty="0" err="1"/>
              <a:t>bidonotifycontractormnotifyno</a:t>
            </a:r>
            <a:r>
              <a:rPr dirty="0"/>
              <a:t>']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Lexical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lex = </a:t>
            </a:r>
            <a:r>
              <a:rPr dirty="0" err="1"/>
              <a:t>lex_scores.get</a:t>
            </a:r>
            <a:r>
              <a:rPr dirty="0"/>
              <a:t>(</a:t>
            </a:r>
            <a:r>
              <a:rPr dirty="0" err="1"/>
              <a:t>nid</a:t>
            </a:r>
            <a:r>
              <a:rPr dirty="0"/>
              <a:t>, 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lex = min(lex * 100.0, 100.0)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Semantic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sem</a:t>
            </a:r>
            <a:r>
              <a:rPr dirty="0"/>
              <a:t> = </a:t>
            </a:r>
            <a:r>
              <a:rPr dirty="0" err="1"/>
              <a:t>sem_scores.get</a:t>
            </a:r>
            <a:r>
              <a:rPr dirty="0"/>
              <a:t>(</a:t>
            </a:r>
            <a:r>
              <a:rPr dirty="0" err="1"/>
              <a:t>nid</a:t>
            </a:r>
            <a:r>
              <a:rPr dirty="0"/>
              <a:t>, 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sem</a:t>
            </a:r>
            <a:r>
              <a:rPr dirty="0"/>
              <a:t> = min(</a:t>
            </a:r>
            <a:r>
              <a:rPr dirty="0" err="1"/>
              <a:t>sem</a:t>
            </a:r>
            <a:r>
              <a:rPr dirty="0"/>
              <a:t> * 100.0, 100.0)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Profile-based (historical + price)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if profile: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</a:t>
            </a:r>
            <a:r>
              <a:rPr dirty="0" err="1"/>
              <a:t>hist_fit</a:t>
            </a:r>
            <a:r>
              <a:rPr dirty="0"/>
              <a:t>, </a:t>
            </a:r>
            <a:r>
              <a:rPr dirty="0" err="1"/>
              <a:t>price_fit</a:t>
            </a:r>
            <a:r>
              <a:rPr dirty="0"/>
              <a:t>, </a:t>
            </a:r>
            <a:r>
              <a:rPr dirty="0" err="1"/>
              <a:t>why_parts</a:t>
            </a:r>
            <a:r>
              <a:rPr dirty="0"/>
              <a:t> = _</a:t>
            </a:r>
            <a:r>
              <a:rPr dirty="0" err="1"/>
              <a:t>compute_profile_scores</a:t>
            </a:r>
            <a:r>
              <a:rPr dirty="0"/>
              <a:t>(...)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Recency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rec = self._</a:t>
            </a:r>
            <a:r>
              <a:rPr dirty="0" err="1"/>
              <a:t>compute_recency</a:t>
            </a:r>
            <a:r>
              <a:rPr dirty="0"/>
              <a:t>(row)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#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total = (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  0.35 * lex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+ 0.35 * </a:t>
            </a:r>
            <a:r>
              <a:rPr dirty="0" err="1"/>
              <a:t>sem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+ 0.15 * </a:t>
            </a:r>
            <a:r>
              <a:rPr dirty="0" err="1"/>
              <a:t>hist_fit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+ 0.10 * </a:t>
            </a:r>
            <a:r>
              <a:rPr dirty="0" err="1"/>
              <a:t>price_fit</a:t>
            </a: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  + 0.05 * rec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    </a:t>
            </a:r>
            <a:r>
              <a:rPr dirty="0" err="1"/>
              <a:t>results.append</a:t>
            </a:r>
            <a:r>
              <a:rPr dirty="0"/>
              <a:t>(</a:t>
            </a:r>
            <a:r>
              <a:rPr dirty="0" err="1"/>
              <a:t>RankedTender</a:t>
            </a:r>
            <a:r>
              <a:rPr dirty="0"/>
              <a:t>(</a:t>
            </a:r>
            <a:r>
              <a:rPr dirty="0" err="1"/>
              <a:t>total_score</a:t>
            </a:r>
            <a:r>
              <a:rPr dirty="0"/>
              <a:t>=round(total, 2), ...))</a:t>
            </a:r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endParaRPr dirty="0"/>
          </a:p>
          <a:p>
            <a:pPr>
              <a:spcAft>
                <a:spcPts val="300"/>
              </a:spcAft>
              <a:defRPr sz="1400">
                <a:solidFill>
                  <a:srgbClr val="78DC78"/>
                </a:solidFill>
                <a:latin typeface="Courier New"/>
              </a:defRPr>
            </a:pPr>
            <a:r>
              <a:rPr dirty="0"/>
              <a:t>  </a:t>
            </a:r>
            <a:r>
              <a:rPr dirty="0" err="1"/>
              <a:t>results.sort</a:t>
            </a:r>
            <a:r>
              <a:rPr dirty="0"/>
              <a:t>(key=lambda x: </a:t>
            </a:r>
            <a:r>
              <a:rPr dirty="0" err="1"/>
              <a:t>x.total_score</a:t>
            </a:r>
            <a:r>
              <a:rPr dirty="0"/>
              <a:t>, reverse=True)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9696C8"/>
                </a:solidFill>
              </a:defRPr>
            </a:pPr>
            <a:r>
              <a:t>Kết quả cuối: danh sách top-K gói thầu xếp hạng theo total_score giảm dần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Ví Dụ Điểm Số Thực Tế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9766" y="207125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rPr dirty="0" err="1"/>
              <a:t>Gói</a:t>
            </a:r>
            <a:r>
              <a:rPr dirty="0"/>
              <a:t> </a:t>
            </a:r>
            <a:r>
              <a:rPr dirty="0" err="1"/>
              <a:t>thầu</a:t>
            </a:r>
            <a:r>
              <a:rPr dirty="0"/>
              <a:t> A (</a:t>
            </a:r>
            <a:r>
              <a:rPr dirty="0" err="1"/>
              <a:t>khớp</a:t>
            </a:r>
            <a:r>
              <a:rPr dirty="0"/>
              <a:t> </a:t>
            </a:r>
            <a:r>
              <a:rPr dirty="0" err="1"/>
              <a:t>hoàn</a:t>
            </a:r>
            <a:r>
              <a:rPr dirty="0"/>
              <a:t> </a:t>
            </a:r>
            <a:r>
              <a:rPr dirty="0" err="1"/>
              <a:t>hảo</a:t>
            </a:r>
            <a:r>
              <a:rPr dirty="0"/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12" y="2673927"/>
            <a:ext cx="548640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Query: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thông</a:t>
            </a:r>
            <a:r>
              <a:rPr dirty="0"/>
              <a:t>'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Lĩnh</a:t>
            </a:r>
            <a:r>
              <a:rPr dirty="0"/>
              <a:t> </a:t>
            </a:r>
            <a:r>
              <a:rPr dirty="0" err="1"/>
              <a:t>vực</a:t>
            </a:r>
            <a:r>
              <a:rPr dirty="0"/>
              <a:t>: '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' (</a:t>
            </a:r>
            <a:r>
              <a:rPr dirty="0" err="1"/>
              <a:t>mạnh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Địa</a:t>
            </a:r>
            <a:r>
              <a:rPr dirty="0"/>
              <a:t> </a:t>
            </a:r>
            <a:r>
              <a:rPr dirty="0" err="1"/>
              <a:t>bàn</a:t>
            </a:r>
            <a:r>
              <a:rPr dirty="0"/>
              <a:t>: 'Hà </a:t>
            </a:r>
            <a:r>
              <a:rPr dirty="0" err="1"/>
              <a:t>Nội</a:t>
            </a:r>
            <a:r>
              <a:rPr dirty="0"/>
              <a:t>' (</a:t>
            </a:r>
            <a:r>
              <a:rPr dirty="0" err="1"/>
              <a:t>mạnh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Giá</a:t>
            </a:r>
            <a:r>
              <a:rPr dirty="0"/>
              <a:t>: 10 </a:t>
            </a:r>
            <a:r>
              <a:rPr dirty="0" err="1"/>
              <a:t>Tỷ</a:t>
            </a:r>
            <a:r>
              <a:rPr dirty="0"/>
              <a:t> (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khung</a:t>
            </a:r>
            <a:r>
              <a:rPr dirty="0"/>
              <a:t> 5-15T)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Deadline: 5 </a:t>
            </a:r>
            <a:r>
              <a:rPr dirty="0" err="1"/>
              <a:t>ngày</a:t>
            </a:r>
            <a:r>
              <a:rPr dirty="0"/>
              <a:t> </a:t>
            </a:r>
            <a:r>
              <a:rPr dirty="0" err="1"/>
              <a:t>nữa</a:t>
            </a:r>
            <a:r>
              <a:rPr dirty="0"/>
              <a:t> (</a:t>
            </a:r>
            <a:r>
              <a:rPr dirty="0" err="1"/>
              <a:t>sắp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/>
              <a:t>---------------------------------------------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lexical:  0.35 x 95 = 33.25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semantic: 0.35 x 91 = 31.85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historical: 0.15 x 80 = 12.00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price:    0.10 x 100 = 10.00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recency:  0.05 x 100 =  5.00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TOTAL:              = 92.10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0" y="1584267"/>
            <a:ext cx="43940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rPr sz="1600" dirty="0" err="1"/>
              <a:t>Gói</a:t>
            </a:r>
            <a:r>
              <a:rPr sz="1600" dirty="0"/>
              <a:t> </a:t>
            </a:r>
            <a:r>
              <a:rPr lang="vi-VN" sz="1600" dirty="0"/>
              <a:t>thầu:Chi phí mua sắm trang thiết bị (Đã bao gồm chi phí triển khai cài đặt, cấu hình, hướng dẫn sử dụng) </a:t>
            </a:r>
            <a:endParaRPr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7010400" y="2528454"/>
            <a:ext cx="5486400" cy="389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Query: </a:t>
            </a:r>
            <a:r>
              <a:rPr lang="vi-VN" dirty="0"/>
              <a:t>"</a:t>
            </a:r>
            <a:r>
              <a:rPr lang="vi-VN" sz="1600" dirty="0"/>
              <a:t>Chi phí mua sắm trang thiết bị”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Lĩnh</a:t>
            </a:r>
            <a:r>
              <a:rPr dirty="0"/>
              <a:t> </a:t>
            </a:r>
            <a:r>
              <a:rPr dirty="0" err="1"/>
              <a:t>vực</a:t>
            </a:r>
            <a:r>
              <a:rPr dirty="0"/>
              <a:t>: </a:t>
            </a:r>
            <a:r>
              <a:rPr lang="en-US" dirty="0" err="1"/>
              <a:t>Hàng</a:t>
            </a:r>
            <a:r>
              <a:rPr lang="en-US" dirty="0"/>
              <a:t> </a:t>
            </a:r>
            <a:r>
              <a:rPr lang="vi-VN" dirty="0"/>
              <a:t>hóa (khớp)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Địa</a:t>
            </a:r>
            <a:r>
              <a:rPr dirty="0"/>
              <a:t> </a:t>
            </a:r>
            <a:r>
              <a:rPr dirty="0" err="1"/>
              <a:t>bàn</a:t>
            </a:r>
            <a:r>
              <a:rPr dirty="0"/>
              <a:t>: </a:t>
            </a:r>
            <a:r>
              <a:rPr lang="en-US" dirty="0" err="1"/>
              <a:t>Tỉnh</a:t>
            </a:r>
            <a:r>
              <a:rPr lang="en-US" dirty="0"/>
              <a:t> </a:t>
            </a:r>
            <a:r>
              <a:rPr lang="en-US" dirty="0" err="1"/>
              <a:t>Đồng</a:t>
            </a:r>
            <a:r>
              <a:rPr lang="en-US" dirty="0"/>
              <a:t> Nai</a:t>
            </a:r>
            <a:r>
              <a:rPr dirty="0"/>
              <a:t>' (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mạnh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</a:t>
            </a:r>
            <a:r>
              <a:rPr dirty="0" err="1"/>
              <a:t>Giá</a:t>
            </a:r>
            <a:r>
              <a:rPr dirty="0"/>
              <a:t>: </a:t>
            </a:r>
            <a:r>
              <a:rPr lang="vi-VN" dirty="0"/>
              <a:t>21</a:t>
            </a:r>
            <a:r>
              <a:rPr dirty="0"/>
              <a:t> </a:t>
            </a:r>
            <a:r>
              <a:rPr dirty="0" err="1"/>
              <a:t>Tỷ</a:t>
            </a:r>
            <a:r>
              <a:rPr dirty="0"/>
              <a:t> (</a:t>
            </a:r>
            <a:r>
              <a:rPr lang="vi-VN" dirty="0"/>
              <a:t>trong</a:t>
            </a:r>
            <a:r>
              <a:rPr dirty="0"/>
              <a:t> </a:t>
            </a:r>
            <a:r>
              <a:rPr dirty="0" err="1"/>
              <a:t>khung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Deadline: </a:t>
            </a:r>
            <a:r>
              <a:rPr lang="vi-VN" dirty="0"/>
              <a:t>7</a:t>
            </a:r>
            <a:r>
              <a:rPr dirty="0"/>
              <a:t> </a:t>
            </a:r>
            <a:r>
              <a:rPr dirty="0" err="1"/>
              <a:t>ngày</a:t>
            </a:r>
            <a:r>
              <a:rPr dirty="0"/>
              <a:t> </a:t>
            </a:r>
            <a:r>
              <a:rPr dirty="0" err="1"/>
              <a:t>nữa</a:t>
            </a:r>
            <a:endParaRPr lang="en-US"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lang="vi-VN" dirty="0"/>
              <a:t>---------------------------------------------------------</a:t>
            </a:r>
            <a:r>
              <a:rPr lang="en-US" dirty="0"/>
              <a:t> 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lexical:  </a:t>
            </a:r>
            <a:r>
              <a:rPr lang="en-US" dirty="0"/>
              <a:t>12,29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semantic: </a:t>
            </a:r>
            <a:r>
              <a:rPr lang="en-US" dirty="0"/>
              <a:t>73,27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historical: </a:t>
            </a:r>
            <a:r>
              <a:rPr lang="en-US" dirty="0"/>
              <a:t>100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price: </a:t>
            </a:r>
            <a:r>
              <a:rPr lang="en-US" dirty="0"/>
              <a:t>78,92</a:t>
            </a:r>
            <a:endParaRPr dirty="0"/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recency:  3.00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rPr dirty="0"/>
              <a:t>• TOTAL:  = </a:t>
            </a:r>
            <a:r>
              <a:rPr lang="vi-VN" dirty="0"/>
              <a:t>54.3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370F7D4-F2D8-7546-A83B-C17FA341E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255" y="1095148"/>
            <a:ext cx="6243914" cy="547215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4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5. Kết Luận &amp; Định Hướng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4A0"/>
                </a:solidFill>
              </a:defRPr>
            </a:pPr>
            <a:r>
              <a:t>Điểm mạnh của hệ thống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TF-IDF: nhanh, đơn giản, keyword match chính xác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Sentence-BERT: hiểu ngữ nghĩa tiếng Việt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Hybrid: kết hợp cả 2, cân bằng precision và recall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Company Profile: personalization dựa trên lịch sử DN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Recency: ưu tiên gói thầu gấp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Không cần train model: pre-trained, off-the-shelf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Artifact-based: build offline, query online nhanh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Graceful degradation: semantic tắt được nếu chưa cài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28016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B43232"/>
                </a:solidFill>
              </a:defRPr>
            </a:pPr>
            <a:r>
              <a:t>Hạn chế &amp; Cải tiến tiềm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TF-IDF: không hiểu ngữ cảnh, nhạy với từ hiếm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Sentence-BERT: model nhỏ, có thể yếu với ngữ pháp PV phức tạp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Heuristic scoring: chưa tối ưu bằng learn-to-rank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Thiếu re-ranking: BM25 / cross-encoder có thể tốt hơn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Chưa dùng fine-tuning: nên fine-tune BERT trên data dauthau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BM25 thay thế TF-IDF?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Cross-encoder re-ranking top-K?</a:t>
            </a:r>
          </a:p>
          <a:p>
            <a:pPr>
              <a:spcAft>
                <a:spcPts val="600"/>
              </a:spcAft>
              <a:defRPr sz="1600">
                <a:solidFill>
                  <a:srgbClr val="14143C"/>
                </a:solidFill>
              </a:defRPr>
            </a:pPr>
            <a:r>
              <a:t>• Điều chỉnh trọng số bằng offline evaluation?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3;p9" descr="Image result for Q&amp;A">
            <a:extLst>
              <a:ext uri="{FF2B5EF4-FFF2-40B4-BE49-F238E27FC236}">
                <a16:creationId xmlns:a16="http://schemas.microsoft.com/office/drawing/2014/main" id="{CC1D5C9D-9272-016B-7131-4430912A8BB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088375" y="1092455"/>
            <a:ext cx="6996183" cy="467308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84384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2698</Words>
  <Application>Microsoft Office PowerPoint</Application>
  <PresentationFormat>Custom</PresentationFormat>
  <Paragraphs>321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Cambria</vt:lpstr>
      <vt:lpstr>Google Sans Text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Cong Minh Nguyen</cp:lastModifiedBy>
  <cp:revision>7</cp:revision>
  <dcterms:created xsi:type="dcterms:W3CDTF">2013-01-27T09:14:16Z</dcterms:created>
  <dcterms:modified xsi:type="dcterms:W3CDTF">2026-03-27T07:25:42Z</dcterms:modified>
  <cp:category/>
</cp:coreProperties>
</file>