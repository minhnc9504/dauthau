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58" r:id="rId4"/>
    <p:sldId id="280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81" r:id="rId24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6" d="100"/>
          <a:sy n="86" d="100"/>
        </p:scale>
        <p:origin x="288" y="45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0BBB873-5FD4-4490-B0B7-79F651988079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0D046F5-D873-4794-A230-D869964AC9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08631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D046F5-D873-4794-A230-D869964AC945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191424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D046F5-D873-4794-A230-D869964AC945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49772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04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0"/>
            <a:ext cx="11274552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Mô Hình ML Trong Hệ Thống Gợi Ý Gói Thầu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112745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>
                <a:solidFill>
                  <a:srgbClr val="B4C8F0"/>
                </a:solidFill>
              </a:defRPr>
            </a:pPr>
            <a:r>
              <a:t>TF-IDF &amp; Sentence Transformer | VIETINBANK DauThau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F20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Nội Dung Trình Bày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4143C"/>
                </a:solidFill>
              </a:defRPr>
            </a:pPr>
            <a:r>
              <a:rPr dirty="0"/>
              <a:t>1. </a:t>
            </a:r>
            <a:r>
              <a:rPr dirty="0" err="1"/>
              <a:t>Tổng</a:t>
            </a:r>
            <a:r>
              <a:rPr dirty="0"/>
              <a:t> </a:t>
            </a:r>
            <a:r>
              <a:rPr dirty="0" err="1"/>
              <a:t>quan</a:t>
            </a:r>
            <a:r>
              <a:rPr dirty="0"/>
              <a:t> </a:t>
            </a:r>
            <a:r>
              <a:rPr dirty="0" err="1"/>
              <a:t>hệ</a:t>
            </a:r>
            <a:r>
              <a:rPr dirty="0"/>
              <a:t> </a:t>
            </a:r>
            <a:r>
              <a:rPr dirty="0" err="1"/>
              <a:t>thống</a:t>
            </a:r>
            <a:r>
              <a:rPr dirty="0"/>
              <a:t> </a:t>
            </a:r>
            <a:r>
              <a:rPr dirty="0" err="1"/>
              <a:t>gợi</a:t>
            </a:r>
            <a:r>
              <a:rPr dirty="0"/>
              <a:t> ý</a:t>
            </a:r>
          </a:p>
          <a:p>
            <a:pPr>
              <a:spcAft>
                <a:spcPts val="400"/>
              </a:spcAft>
              <a:defRPr sz="1600">
                <a:solidFill>
                  <a:srgbClr val="282864"/>
                </a:solidFill>
              </a:defRPr>
            </a:pPr>
            <a:r>
              <a:rPr dirty="0"/>
              <a:t>    • Hybrid Retrieval Architecture</a:t>
            </a:r>
          </a:p>
          <a:p>
            <a:pPr>
              <a:spcAft>
                <a:spcPts val="400"/>
              </a:spcAft>
              <a:defRPr sz="1600">
                <a:solidFill>
                  <a:srgbClr val="282864"/>
                </a:solidFill>
              </a:defRPr>
            </a:pPr>
            <a:r>
              <a:rPr dirty="0"/>
              <a:t>    • 5 </a:t>
            </a:r>
            <a:r>
              <a:rPr dirty="0" err="1"/>
              <a:t>thành</a:t>
            </a:r>
            <a:r>
              <a:rPr dirty="0"/>
              <a:t> </a:t>
            </a:r>
            <a:r>
              <a:rPr dirty="0" err="1"/>
              <a:t>phần</a:t>
            </a:r>
            <a:r>
              <a:rPr dirty="0"/>
              <a:t> </a:t>
            </a:r>
            <a:r>
              <a:rPr dirty="0" err="1"/>
              <a:t>điểm</a:t>
            </a:r>
            <a:r>
              <a:rPr dirty="0"/>
              <a:t> </a:t>
            </a:r>
            <a:r>
              <a:rPr dirty="0" err="1"/>
              <a:t>số</a:t>
            </a:r>
            <a:endParaRPr dirty="0"/>
          </a:p>
          <a:p>
            <a:pPr>
              <a:spcAft>
                <a:spcPts val="800"/>
              </a:spcAft>
              <a:defRPr sz="1800">
                <a:solidFill>
                  <a:srgbClr val="14143C"/>
                </a:solidFill>
              </a:defRPr>
            </a:pPr>
            <a:r>
              <a:rPr dirty="0"/>
              <a:t>2. </a:t>
            </a:r>
            <a:r>
              <a:rPr dirty="0" err="1"/>
              <a:t>Mô</a:t>
            </a:r>
            <a:r>
              <a:rPr dirty="0"/>
              <a:t> </a:t>
            </a:r>
            <a:r>
              <a:rPr dirty="0" err="1"/>
              <a:t>hình</a:t>
            </a:r>
            <a:r>
              <a:rPr dirty="0"/>
              <a:t> 1: TF-IDF (Lexical Retrieval)</a:t>
            </a:r>
          </a:p>
          <a:p>
            <a:pPr>
              <a:spcAft>
                <a:spcPts val="400"/>
              </a:spcAft>
              <a:defRPr sz="1600">
                <a:solidFill>
                  <a:srgbClr val="282864"/>
                </a:solidFill>
              </a:defRPr>
            </a:pPr>
            <a:r>
              <a:rPr dirty="0"/>
              <a:t>    • Nguyên </a:t>
            </a:r>
            <a:r>
              <a:rPr dirty="0" err="1"/>
              <a:t>lý</a:t>
            </a:r>
            <a:r>
              <a:rPr dirty="0"/>
              <a:t> </a:t>
            </a:r>
            <a:r>
              <a:rPr dirty="0" err="1"/>
              <a:t>hoạt</a:t>
            </a:r>
            <a:r>
              <a:rPr dirty="0"/>
              <a:t> </a:t>
            </a:r>
            <a:r>
              <a:rPr dirty="0" err="1"/>
              <a:t>động</a:t>
            </a:r>
            <a:endParaRPr dirty="0"/>
          </a:p>
          <a:p>
            <a:pPr>
              <a:spcAft>
                <a:spcPts val="400"/>
              </a:spcAft>
              <a:defRPr sz="1600">
                <a:solidFill>
                  <a:srgbClr val="282864"/>
                </a:solidFill>
              </a:defRPr>
            </a:pPr>
            <a:r>
              <a:rPr dirty="0"/>
              <a:t>    • </a:t>
            </a:r>
            <a:r>
              <a:rPr dirty="0" err="1"/>
              <a:t>Cách</a:t>
            </a:r>
            <a:r>
              <a:rPr dirty="0"/>
              <a:t> </a:t>
            </a:r>
            <a:r>
              <a:rPr dirty="0" err="1"/>
              <a:t>áp</a:t>
            </a:r>
            <a:r>
              <a:rPr dirty="0"/>
              <a:t> </a:t>
            </a:r>
            <a:r>
              <a:rPr dirty="0" err="1"/>
              <a:t>dụng</a:t>
            </a:r>
            <a:r>
              <a:rPr dirty="0"/>
              <a:t> </a:t>
            </a:r>
            <a:r>
              <a:rPr dirty="0" err="1"/>
              <a:t>trong</a:t>
            </a:r>
            <a:r>
              <a:rPr dirty="0"/>
              <a:t> project</a:t>
            </a:r>
          </a:p>
          <a:p>
            <a:pPr>
              <a:spcAft>
                <a:spcPts val="400"/>
              </a:spcAft>
              <a:defRPr sz="1600">
                <a:solidFill>
                  <a:srgbClr val="282864"/>
                </a:solidFill>
              </a:defRPr>
            </a:pPr>
            <a:r>
              <a:rPr dirty="0"/>
              <a:t>    • Code </a:t>
            </a:r>
            <a:r>
              <a:rPr dirty="0" err="1"/>
              <a:t>minh</a:t>
            </a:r>
            <a:r>
              <a:rPr dirty="0"/>
              <a:t> </a:t>
            </a:r>
            <a:r>
              <a:rPr dirty="0" err="1"/>
              <a:t>hoạ</a:t>
            </a:r>
            <a:endParaRPr dirty="0"/>
          </a:p>
          <a:p>
            <a:pPr>
              <a:spcAft>
                <a:spcPts val="800"/>
              </a:spcAft>
              <a:defRPr sz="1800">
                <a:solidFill>
                  <a:srgbClr val="14143C"/>
                </a:solidFill>
              </a:defRPr>
            </a:pPr>
            <a:r>
              <a:rPr dirty="0"/>
              <a:t>3. </a:t>
            </a:r>
            <a:r>
              <a:rPr dirty="0" err="1"/>
              <a:t>Mô</a:t>
            </a:r>
            <a:r>
              <a:rPr dirty="0"/>
              <a:t> </a:t>
            </a:r>
            <a:r>
              <a:rPr dirty="0" err="1"/>
              <a:t>hình</a:t>
            </a:r>
            <a:r>
              <a:rPr dirty="0"/>
              <a:t> 2: Sentence Transformer (Semantic Retrieval)</a:t>
            </a:r>
          </a:p>
          <a:p>
            <a:pPr>
              <a:spcAft>
                <a:spcPts val="400"/>
              </a:spcAft>
              <a:defRPr sz="1600">
                <a:solidFill>
                  <a:srgbClr val="282864"/>
                </a:solidFill>
              </a:defRPr>
            </a:pPr>
            <a:r>
              <a:rPr dirty="0"/>
              <a:t>    • </a:t>
            </a:r>
            <a:r>
              <a:rPr dirty="0" err="1"/>
              <a:t>Giới</a:t>
            </a:r>
            <a:r>
              <a:rPr dirty="0"/>
              <a:t> </a:t>
            </a:r>
            <a:r>
              <a:rPr dirty="0" err="1"/>
              <a:t>thiệu</a:t>
            </a:r>
            <a:r>
              <a:rPr dirty="0"/>
              <a:t> </a:t>
            </a:r>
            <a:r>
              <a:rPr dirty="0" err="1"/>
              <a:t>mô</a:t>
            </a:r>
            <a:r>
              <a:rPr dirty="0"/>
              <a:t> </a:t>
            </a:r>
            <a:r>
              <a:rPr dirty="0" err="1"/>
              <a:t>hình</a:t>
            </a:r>
            <a:r>
              <a:rPr dirty="0"/>
              <a:t> paraphrase-multilingual-MiniLM-L12-v2</a:t>
            </a:r>
          </a:p>
          <a:p>
            <a:pPr>
              <a:spcAft>
                <a:spcPts val="400"/>
              </a:spcAft>
              <a:defRPr sz="1600">
                <a:solidFill>
                  <a:srgbClr val="282864"/>
                </a:solidFill>
              </a:defRPr>
            </a:pPr>
            <a:r>
              <a:rPr dirty="0"/>
              <a:t>    • </a:t>
            </a:r>
            <a:r>
              <a:rPr dirty="0" err="1"/>
              <a:t>Cách</a:t>
            </a:r>
            <a:r>
              <a:rPr dirty="0"/>
              <a:t> </a:t>
            </a:r>
            <a:r>
              <a:rPr dirty="0" err="1"/>
              <a:t>áp</a:t>
            </a:r>
            <a:r>
              <a:rPr dirty="0"/>
              <a:t> </a:t>
            </a:r>
            <a:r>
              <a:rPr dirty="0" err="1"/>
              <a:t>dụng</a:t>
            </a:r>
            <a:r>
              <a:rPr dirty="0"/>
              <a:t> </a:t>
            </a:r>
            <a:r>
              <a:rPr dirty="0" err="1"/>
              <a:t>trong</a:t>
            </a:r>
            <a:r>
              <a:rPr dirty="0"/>
              <a:t> project</a:t>
            </a:r>
          </a:p>
          <a:p>
            <a:pPr>
              <a:spcAft>
                <a:spcPts val="400"/>
              </a:spcAft>
              <a:defRPr sz="1600">
                <a:solidFill>
                  <a:srgbClr val="282864"/>
                </a:solidFill>
              </a:defRPr>
            </a:pPr>
            <a:r>
              <a:rPr dirty="0"/>
              <a:t>    • Code </a:t>
            </a:r>
            <a:r>
              <a:rPr dirty="0" err="1"/>
              <a:t>minh</a:t>
            </a:r>
            <a:r>
              <a:rPr dirty="0"/>
              <a:t> </a:t>
            </a:r>
            <a:r>
              <a:rPr dirty="0" err="1"/>
              <a:t>hoạ</a:t>
            </a:r>
            <a:endParaRPr dirty="0"/>
          </a:p>
          <a:p>
            <a:pPr>
              <a:spcAft>
                <a:spcPts val="800"/>
              </a:spcAft>
              <a:defRPr sz="1800">
                <a:solidFill>
                  <a:srgbClr val="14143C"/>
                </a:solidFill>
              </a:defRPr>
            </a:pPr>
            <a:r>
              <a:rPr dirty="0"/>
              <a:t>4. </a:t>
            </a:r>
            <a:r>
              <a:rPr dirty="0" err="1"/>
              <a:t>Kết</a:t>
            </a:r>
            <a:r>
              <a:rPr dirty="0"/>
              <a:t> </a:t>
            </a:r>
            <a:r>
              <a:rPr dirty="0" err="1"/>
              <a:t>hợp</a:t>
            </a:r>
            <a:r>
              <a:rPr dirty="0"/>
              <a:t> 2 </a:t>
            </a:r>
            <a:r>
              <a:rPr dirty="0" err="1"/>
              <a:t>mô</a:t>
            </a:r>
            <a:r>
              <a:rPr dirty="0"/>
              <a:t> </a:t>
            </a:r>
            <a:r>
              <a:rPr dirty="0" err="1"/>
              <a:t>hình</a:t>
            </a:r>
            <a:r>
              <a:rPr dirty="0"/>
              <a:t> — Hybrid Scoring</a:t>
            </a:r>
          </a:p>
          <a:p>
            <a:pPr>
              <a:spcAft>
                <a:spcPts val="800"/>
              </a:spcAft>
              <a:defRPr sz="1800">
                <a:solidFill>
                  <a:srgbClr val="14143C"/>
                </a:solidFill>
              </a:defRPr>
            </a:pPr>
            <a:r>
              <a:rPr dirty="0"/>
              <a:t>5. </a:t>
            </a:r>
            <a:r>
              <a:rPr dirty="0" err="1"/>
              <a:t>Kết</a:t>
            </a:r>
            <a:r>
              <a:rPr dirty="0"/>
              <a:t> </a:t>
            </a:r>
            <a:r>
              <a:rPr dirty="0" err="1"/>
              <a:t>luận</a:t>
            </a:r>
            <a:r>
              <a:rPr dirty="0"/>
              <a:t> &amp; Định </a:t>
            </a:r>
            <a:r>
              <a:rPr dirty="0" err="1"/>
              <a:t>hướng</a:t>
            </a:r>
            <a:r>
              <a:rPr dirty="0"/>
              <a:t> </a:t>
            </a:r>
            <a:r>
              <a:rPr dirty="0" err="1"/>
              <a:t>phát</a:t>
            </a:r>
            <a:r>
              <a:rPr dirty="0"/>
              <a:t> </a:t>
            </a:r>
            <a:r>
              <a:rPr dirty="0" err="1"/>
              <a:t>triển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64A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0"/>
            <a:ext cx="11274552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1. Tổng Quan Hệ Thống Gợi Ý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A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5CCEEC9-A97C-F5C1-632C-6C7B5DC004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04B5568-98A2-42FE-E907-F69FF76F95F7}"/>
              </a:ext>
            </a:extLst>
          </p:cNvPr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F20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A34FF05-CF9E-DC1E-C97A-A4A56FC200D4}"/>
              </a:ext>
            </a:extLst>
          </p:cNvPr>
          <p:cNvSpPr txBox="1"/>
          <p:nvPr/>
        </p:nvSpPr>
        <p:spPr>
          <a:xfrm>
            <a:off x="365760" y="137160"/>
            <a:ext cx="11430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Kiến Trúc Hệ Thống Hybrid Retrieval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8163C5C-F324-5629-26F6-1EC32BBB61AE}"/>
              </a:ext>
            </a:extLst>
          </p:cNvPr>
          <p:cNvSpPr txBox="1"/>
          <p:nvPr/>
        </p:nvSpPr>
        <p:spPr>
          <a:xfrm>
            <a:off x="457200" y="64008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i="1">
                <a:solidFill>
                  <a:srgbClr val="646464"/>
                </a:solidFill>
              </a:defRPr>
            </a:pPr>
            <a:r>
              <a:t>Mỗi gói thầu nhận điểm tổng = tổng có trọng số (max = 100)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7BC57E7F-2068-1FB5-BCBF-1D26EEA5E1E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7851379"/>
              </p:ext>
            </p:extLst>
          </p:nvPr>
        </p:nvGraphicFramePr>
        <p:xfrm>
          <a:off x="2552007" y="1599348"/>
          <a:ext cx="8229601" cy="4206240"/>
        </p:xfrm>
        <a:graphic>
          <a:graphicData uri="http://schemas.openxmlformats.org/drawingml/2006/table">
            <a:tbl>
              <a:tblPr/>
              <a:tblGrid>
                <a:gridCol w="2574099">
                  <a:extLst>
                    <a:ext uri="{9D8B030D-6E8A-4147-A177-3AD203B41FA5}">
                      <a16:colId xmlns:a16="http://schemas.microsoft.com/office/drawing/2014/main" val="1062698739"/>
                    </a:ext>
                  </a:extLst>
                </a:gridCol>
                <a:gridCol w="2574099">
                  <a:extLst>
                    <a:ext uri="{9D8B030D-6E8A-4147-A177-3AD203B41FA5}">
                      <a16:colId xmlns:a16="http://schemas.microsoft.com/office/drawing/2014/main" val="2732092214"/>
                    </a:ext>
                  </a:extLst>
                </a:gridCol>
                <a:gridCol w="3081403">
                  <a:extLst>
                    <a:ext uri="{9D8B030D-6E8A-4147-A177-3AD203B41FA5}">
                      <a16:colId xmlns:a16="http://schemas.microsoft.com/office/drawing/2014/main" val="911363703"/>
                    </a:ext>
                  </a:extLst>
                </a:gridCol>
              </a:tblGrid>
              <a:tr h="42672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8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Thành phần</a:t>
                      </a:r>
                      <a:endParaRPr lang="en-US" sz="18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R="57150" marT="76200" marB="76200" anchor="ctr">
                    <a:lnL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8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Trọng số</a:t>
                      </a:r>
                      <a:endParaRPr lang="en-US" sz="18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R="57150" marT="76200" marB="76200" anchor="ctr">
                    <a:lnL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8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Công nghệ / Quy tắc</a:t>
                      </a:r>
                      <a:endParaRPr lang="en-US" sz="18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76200" marB="76200" anchor="ctr">
                    <a:lnL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176424"/>
                  </a:ext>
                </a:extLst>
              </a:tr>
              <a:tr h="70104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8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Lexical Score</a:t>
                      </a:r>
                      <a:endParaRPr lang="en-US" sz="18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R="57150" marT="76200" marB="76200" anchor="ctr">
                    <a:lnL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8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35%</a:t>
                      </a:r>
                      <a:endParaRPr lang="en-US" sz="18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R="57150" marT="76200" marB="76200" anchor="ctr">
                    <a:lnL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8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TF-IDF (</a:t>
                      </a:r>
                      <a:r>
                        <a:rPr lang="en-US" sz="1800" b="1" dirty="0" err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Sklearn</a:t>
                      </a:r>
                      <a:r>
                        <a:rPr lang="en-US" sz="18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):</a:t>
                      </a:r>
                      <a:r>
                        <a:rPr lang="en-US" sz="18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</a:t>
                      </a:r>
                      <a:r>
                        <a:rPr lang="en-US" sz="1800" dirty="0" err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Khớp</a:t>
                      </a:r>
                      <a:r>
                        <a:rPr lang="en-US" sz="18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</a:t>
                      </a:r>
                      <a:r>
                        <a:rPr lang="en-US" sz="1800" dirty="0" err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chính</a:t>
                      </a:r>
                      <a:r>
                        <a:rPr lang="en-US" sz="18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</a:t>
                      </a:r>
                      <a:r>
                        <a:rPr lang="en-US" sz="1800" dirty="0" err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xác</a:t>
                      </a:r>
                      <a:r>
                        <a:rPr lang="en-US" sz="18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</a:t>
                      </a:r>
                      <a:r>
                        <a:rPr lang="en-US" sz="1800" dirty="0" err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từ</a:t>
                      </a:r>
                      <a:r>
                        <a:rPr lang="en-US" sz="18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</a:t>
                      </a:r>
                      <a:r>
                        <a:rPr lang="en-US" sz="1800" dirty="0" err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khóa</a:t>
                      </a:r>
                      <a:r>
                        <a:rPr lang="en-US" sz="18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</a:t>
                      </a:r>
                      <a:r>
                        <a:rPr lang="en-US" sz="1800" dirty="0" err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chuyên</a:t>
                      </a:r>
                      <a:r>
                        <a:rPr lang="en-US" sz="18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</a:t>
                      </a:r>
                      <a:r>
                        <a:rPr lang="en-US" sz="1800" dirty="0" err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môn</a:t>
                      </a:r>
                      <a:r>
                        <a:rPr lang="en-US" sz="18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.</a:t>
                      </a:r>
                    </a:p>
                  </a:txBody>
                  <a:tcPr marT="76200" marB="76200" anchor="ctr">
                    <a:lnL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2114051"/>
                  </a:ext>
                </a:extLst>
              </a:tr>
              <a:tr h="70104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8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Semantic Score</a:t>
                      </a:r>
                      <a:endParaRPr lang="en-US" sz="18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R="57150" marT="76200" marB="76200" anchor="ctr">
                    <a:lnL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8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35%</a:t>
                      </a:r>
                      <a:endParaRPr lang="en-US" sz="18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R="57150" marT="76200" marB="76200" anchor="ctr">
                    <a:lnL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8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Sentence Transformer:</a:t>
                      </a:r>
                      <a:r>
                        <a:rPr lang="en-US" sz="18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Hiểu ngữ nghĩa và ngữ cảnh.</a:t>
                      </a:r>
                    </a:p>
                  </a:txBody>
                  <a:tcPr marT="76200" marB="76200" anchor="ctr">
                    <a:lnL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84460072"/>
                  </a:ext>
                </a:extLst>
              </a:tr>
              <a:tr h="70104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8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Historical Fit</a:t>
                      </a:r>
                      <a:endParaRPr lang="en-US" sz="18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R="57150" marT="76200" marB="76200" anchor="ctr">
                    <a:lnL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8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15%</a:t>
                      </a:r>
                      <a:endParaRPr lang="en-US" sz="18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R="57150" marT="76200" marB="76200" anchor="ctr">
                    <a:lnL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vi-VN" sz="18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Heuristics:</a:t>
                      </a:r>
                      <a:r>
                        <a:rPr lang="vi-VN" sz="18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Khớp lĩnh vực, địa bàn &amp; chủ đầu tư cũ.</a:t>
                      </a:r>
                    </a:p>
                  </a:txBody>
                  <a:tcPr marT="76200" marB="76200" anchor="ctr">
                    <a:lnL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59490418"/>
                  </a:ext>
                </a:extLst>
              </a:tr>
              <a:tr h="97536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8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Price Fit</a:t>
                      </a:r>
                      <a:endParaRPr lang="en-US" sz="18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R="57150" marT="76200" marB="76200" anchor="ctr">
                    <a:lnL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8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10%</a:t>
                      </a:r>
                      <a:endParaRPr lang="en-US" sz="18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R="57150" marT="76200" marB="76200" anchor="ctr">
                    <a:lnL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8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Profile Matching:</a:t>
                      </a:r>
                      <a:r>
                        <a:rPr lang="en-US" sz="18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</a:t>
                      </a:r>
                      <a:r>
                        <a:rPr lang="en-US" sz="1800" dirty="0" err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Phù</a:t>
                      </a:r>
                      <a:r>
                        <a:rPr lang="en-US" sz="18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</a:t>
                      </a:r>
                      <a:r>
                        <a:rPr lang="en-US" sz="1800" dirty="0" err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hợp</a:t>
                      </a:r>
                      <a:r>
                        <a:rPr lang="en-US" sz="18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</a:t>
                      </a:r>
                      <a:r>
                        <a:rPr lang="en-US" sz="1800" dirty="0" err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khung</a:t>
                      </a:r>
                      <a:r>
                        <a:rPr lang="en-US" sz="18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</a:t>
                      </a:r>
                      <a:r>
                        <a:rPr lang="en-US" sz="1800" dirty="0" err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ngân</a:t>
                      </a:r>
                      <a:r>
                        <a:rPr lang="en-US" sz="18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</a:t>
                      </a:r>
                      <a:r>
                        <a:rPr lang="en-US" sz="1800" dirty="0" err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sách</a:t>
                      </a:r>
                      <a:r>
                        <a:rPr lang="en-US" sz="18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</a:t>
                      </a:r>
                      <a:r>
                        <a:rPr lang="en-US" sz="1800" dirty="0" err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doanh</a:t>
                      </a:r>
                      <a:r>
                        <a:rPr lang="en-US" sz="18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</a:t>
                      </a:r>
                      <a:r>
                        <a:rPr lang="en-US" sz="1800" dirty="0" err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nghiệp</a:t>
                      </a:r>
                      <a:r>
                        <a:rPr lang="en-US" sz="18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.</a:t>
                      </a:r>
                    </a:p>
                  </a:txBody>
                  <a:tcPr marT="76200" marB="76200" anchor="ctr">
                    <a:lnL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65673143"/>
                  </a:ext>
                </a:extLst>
              </a:tr>
              <a:tr h="70104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8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Recency Score</a:t>
                      </a:r>
                      <a:endParaRPr lang="en-US" sz="18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R="57150" marT="76200" marB="76200" anchor="ctr">
                    <a:lnL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8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5%</a:t>
                      </a:r>
                      <a:endParaRPr lang="en-US" sz="18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R="57150" marT="76200" marB="76200" anchor="ctr">
                    <a:lnL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vi-VN" sz="18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Time Decay:</a:t>
                      </a:r>
                      <a:r>
                        <a:rPr lang="vi-VN" sz="18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Ưu tiên gói thầu mới hoặc sắp hết hạn.</a:t>
                      </a:r>
                    </a:p>
                  </a:txBody>
                  <a:tcPr marT="76200" marB="76200" anchor="ctr">
                    <a:lnL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653503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747878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F20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5 Thành Phần Điểm Số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4786" y="1685999"/>
            <a:ext cx="4541520" cy="33239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4143C"/>
                </a:solidFill>
              </a:defRPr>
            </a:pP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• Lexical Score  (35%)</a:t>
            </a:r>
          </a:p>
          <a:p>
            <a:pPr>
              <a:spcAft>
                <a:spcPts val="400"/>
              </a:spcAft>
              <a:defRPr sz="1600">
                <a:solidFill>
                  <a:srgbClr val="282864"/>
                </a:solidFill>
              </a:defRPr>
            </a:pP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    TF-IDF cosine similarity</a:t>
            </a:r>
          </a:p>
          <a:p>
            <a:pPr>
              <a:spcAft>
                <a:spcPts val="400"/>
              </a:spcAft>
              <a:defRPr sz="1600">
                <a:solidFill>
                  <a:srgbClr val="282864"/>
                </a:solidFill>
              </a:defRPr>
            </a:pP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    So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khớp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từ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khóa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trong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query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với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nội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dung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gói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thầu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Aft>
                <a:spcPts val="400"/>
              </a:spcAft>
              <a:defRPr sz="1600">
                <a:solidFill>
                  <a:srgbClr val="282864"/>
                </a:solidFill>
              </a:defRPr>
            </a:pP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    Tin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nhắn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rõ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: '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xây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cầu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' →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khớp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'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xây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cầu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'</a:t>
            </a:r>
          </a:p>
          <a:p>
            <a:pPr>
              <a:spcAft>
                <a:spcPts val="800"/>
              </a:spcAft>
              <a:defRPr sz="1800">
                <a:solidFill>
                  <a:srgbClr val="14143C"/>
                </a:solidFill>
              </a:defRPr>
            </a:pP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• Semantic Score  (35%)</a:t>
            </a:r>
          </a:p>
          <a:p>
            <a:pPr>
              <a:spcAft>
                <a:spcPts val="400"/>
              </a:spcAft>
              <a:defRPr sz="1600">
                <a:solidFill>
                  <a:srgbClr val="282864"/>
                </a:solidFill>
              </a:defRPr>
            </a:pP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    Sentence Transformer embedding</a:t>
            </a:r>
          </a:p>
          <a:p>
            <a:pPr>
              <a:spcAft>
                <a:spcPts val="400"/>
              </a:spcAft>
              <a:defRPr sz="1600">
                <a:solidFill>
                  <a:srgbClr val="282864"/>
                </a:solidFill>
              </a:defRPr>
            </a:pP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   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Hiểu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ngữ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nghĩa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diễn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đạt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cùng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ý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nhưng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khác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từ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Aft>
                <a:spcPts val="400"/>
              </a:spcAft>
              <a:defRPr sz="1600">
                <a:solidFill>
                  <a:srgbClr val="282864"/>
                </a:solidFill>
              </a:defRPr>
            </a:pP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   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Ví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dụ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: '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thi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công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đường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bộ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' → vector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gần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'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xây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dựng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công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trình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giao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thông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'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C1256B6-0AF9-7DFC-6EA4-4D57CACB57FB}"/>
              </a:ext>
            </a:extLst>
          </p:cNvPr>
          <p:cNvSpPr txBox="1"/>
          <p:nvPr/>
        </p:nvSpPr>
        <p:spPr>
          <a:xfrm>
            <a:off x="5357553" y="1685999"/>
            <a:ext cx="6137564" cy="4031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4143C"/>
                </a:solidFill>
              </a:defRPr>
            </a:pPr>
            <a:r>
              <a:rPr lang="vi-VN" sz="1800" dirty="0"/>
              <a:t>• Historical Fit  (15%)</a:t>
            </a:r>
          </a:p>
          <a:p>
            <a:pPr>
              <a:spcAft>
                <a:spcPts val="400"/>
              </a:spcAft>
              <a:defRPr sz="1600">
                <a:solidFill>
                  <a:srgbClr val="282864"/>
                </a:solidFill>
              </a:defRPr>
            </a:pPr>
            <a:r>
              <a:rPr lang="vi-VN" sz="1800" dirty="0"/>
              <a:t>     Lĩnh vực mạnh doanh nghiệp đã thắng: +50</a:t>
            </a:r>
          </a:p>
          <a:p>
            <a:pPr>
              <a:spcAft>
                <a:spcPts val="400"/>
              </a:spcAft>
              <a:defRPr sz="1600">
                <a:solidFill>
                  <a:srgbClr val="282864"/>
                </a:solidFill>
              </a:defRPr>
            </a:pPr>
            <a:r>
              <a:rPr lang="vi-VN" sz="1800" dirty="0"/>
              <a:t>    </a:t>
            </a:r>
            <a:r>
              <a:rPr lang="vi-VN" dirty="0"/>
              <a:t> </a:t>
            </a:r>
            <a:r>
              <a:rPr lang="vi-VN" sz="1800" dirty="0"/>
              <a:t>Địa bàn mạnh đã thắng: +30</a:t>
            </a:r>
          </a:p>
          <a:p>
            <a:pPr>
              <a:spcAft>
                <a:spcPts val="400"/>
              </a:spcAft>
              <a:defRPr sz="1600">
                <a:solidFill>
                  <a:srgbClr val="282864"/>
                </a:solidFill>
              </a:defRPr>
            </a:pPr>
            <a:r>
              <a:rPr lang="vi-VN" sz="1800" dirty="0"/>
              <a:t>     Cùng chủ đầu tư quen: +20</a:t>
            </a:r>
          </a:p>
          <a:p>
            <a:pPr>
              <a:spcAft>
                <a:spcPts val="800"/>
              </a:spcAft>
              <a:defRPr sz="1800">
                <a:solidFill>
                  <a:srgbClr val="14143C"/>
                </a:solidFill>
              </a:defRPr>
            </a:pPr>
            <a:r>
              <a:rPr lang="vi-VN" sz="1800" dirty="0"/>
              <a:t>• Price Fit  (10%)</a:t>
            </a:r>
          </a:p>
          <a:p>
            <a:pPr>
              <a:spcAft>
                <a:spcPts val="400"/>
              </a:spcAft>
              <a:defRPr sz="1600">
                <a:solidFill>
                  <a:srgbClr val="282864"/>
                </a:solidFill>
              </a:defRPr>
            </a:pPr>
            <a:r>
              <a:rPr lang="vi-VN" sz="1800" dirty="0"/>
              <a:t>     Giá gói thầu nằm trong khung giá doanh nghiệp: 100 điểm</a:t>
            </a:r>
          </a:p>
          <a:p>
            <a:pPr>
              <a:spcAft>
                <a:spcPts val="400"/>
              </a:spcAft>
              <a:defRPr sz="1600">
                <a:solidFill>
                  <a:srgbClr val="282864"/>
                </a:solidFill>
              </a:defRPr>
            </a:pPr>
            <a:r>
              <a:rPr lang="vi-VN" sz="1800" dirty="0"/>
              <a:t>     Ngoài khung: tính partial score theo khoảng cách</a:t>
            </a:r>
          </a:p>
          <a:p>
            <a:pPr>
              <a:spcAft>
                <a:spcPts val="800"/>
              </a:spcAft>
              <a:defRPr sz="1800">
                <a:solidFill>
                  <a:srgbClr val="14143C"/>
                </a:solidFill>
              </a:defRPr>
            </a:pPr>
            <a:r>
              <a:rPr lang="vi-VN" sz="1800" dirty="0"/>
              <a:t>• Recency  (5%)</a:t>
            </a:r>
          </a:p>
          <a:p>
            <a:pPr>
              <a:spcAft>
                <a:spcPts val="400"/>
              </a:spcAft>
              <a:defRPr sz="1600">
                <a:solidFill>
                  <a:srgbClr val="282864"/>
                </a:solidFill>
              </a:defRPr>
            </a:pPr>
            <a:r>
              <a:rPr lang="vi-VN" sz="1800" dirty="0"/>
              <a:t>     Sắp đóng thầu (≤7 ngày): 100 điểm</a:t>
            </a:r>
          </a:p>
          <a:p>
            <a:pPr>
              <a:spcAft>
                <a:spcPts val="400"/>
              </a:spcAft>
              <a:defRPr sz="1600">
                <a:solidFill>
                  <a:srgbClr val="282864"/>
                </a:solidFill>
              </a:defRPr>
            </a:pPr>
            <a:r>
              <a:rPr lang="vi-VN" sz="1800" dirty="0"/>
              <a:t>     7-30 ngày: 80 điểm | 30-90 ngày: 60 điểm | &gt;90 ngày: 40 điểm</a:t>
            </a:r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64A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0"/>
            <a:ext cx="11274552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2. Mô Hình 1: TF-IDF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F20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TF-IDF: Nguyên Lý Toán Học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28016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64A0"/>
                </a:solidFill>
              </a:defRPr>
            </a:pPr>
            <a:r>
              <a:t>Công thức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737360"/>
            <a:ext cx="5486400" cy="51090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14143C"/>
                </a:solidFill>
              </a:defRPr>
            </a:pPr>
            <a:r>
              <a:rPr dirty="0"/>
              <a:t>• TF-IDF = TF(</a:t>
            </a:r>
            <a:r>
              <a:rPr dirty="0" err="1"/>
              <a:t>t,d</a:t>
            </a:r>
            <a:r>
              <a:rPr dirty="0"/>
              <a:t>) x IDF(t) </a:t>
            </a:r>
          </a:p>
          <a:p>
            <a:pPr>
              <a:spcAft>
                <a:spcPts val="600"/>
              </a:spcAft>
              <a:defRPr sz="1600">
                <a:solidFill>
                  <a:srgbClr val="14143C"/>
                </a:solidFill>
              </a:defRPr>
            </a:pPr>
            <a:r>
              <a:rPr dirty="0"/>
              <a:t> TF(</a:t>
            </a:r>
            <a:r>
              <a:rPr dirty="0" err="1"/>
              <a:t>t,d</a:t>
            </a:r>
            <a:r>
              <a:rPr dirty="0"/>
              <a:t>) = </a:t>
            </a:r>
            <a:r>
              <a:rPr dirty="0" err="1"/>
              <a:t>số</a:t>
            </a:r>
            <a:r>
              <a:rPr dirty="0"/>
              <a:t> </a:t>
            </a:r>
            <a:r>
              <a:rPr dirty="0" err="1"/>
              <a:t>lần</a:t>
            </a:r>
            <a:r>
              <a:rPr dirty="0"/>
              <a:t> t </a:t>
            </a:r>
            <a:r>
              <a:rPr dirty="0" err="1"/>
              <a:t>xuất</a:t>
            </a:r>
            <a:r>
              <a:rPr dirty="0"/>
              <a:t> </a:t>
            </a:r>
            <a:r>
              <a:rPr dirty="0" err="1"/>
              <a:t>hiện</a:t>
            </a:r>
            <a:r>
              <a:rPr dirty="0"/>
              <a:t> </a:t>
            </a:r>
            <a:r>
              <a:rPr dirty="0" err="1"/>
              <a:t>trong</a:t>
            </a:r>
            <a:r>
              <a:rPr dirty="0"/>
              <a:t> d / </a:t>
            </a:r>
            <a:r>
              <a:rPr dirty="0" err="1"/>
              <a:t>tổng</a:t>
            </a:r>
            <a:r>
              <a:rPr dirty="0"/>
              <a:t> </a:t>
            </a:r>
            <a:r>
              <a:rPr dirty="0" err="1"/>
              <a:t>từ</a:t>
            </a:r>
            <a:r>
              <a:rPr dirty="0"/>
              <a:t> </a:t>
            </a:r>
            <a:r>
              <a:rPr dirty="0" err="1"/>
              <a:t>trong</a:t>
            </a:r>
            <a:r>
              <a:rPr dirty="0"/>
              <a:t> d</a:t>
            </a:r>
          </a:p>
          <a:p>
            <a:pPr>
              <a:spcAft>
                <a:spcPts val="600"/>
              </a:spcAft>
              <a:defRPr sz="1600">
                <a:solidFill>
                  <a:srgbClr val="14143C"/>
                </a:solidFill>
              </a:defRPr>
            </a:pPr>
            <a:r>
              <a:rPr dirty="0"/>
              <a:t> </a:t>
            </a:r>
            <a:endParaRPr lang="vi-VN" dirty="0"/>
          </a:p>
          <a:p>
            <a:pPr>
              <a:spcAft>
                <a:spcPts val="600"/>
              </a:spcAft>
              <a:defRPr sz="1600">
                <a:solidFill>
                  <a:srgbClr val="14143C"/>
                </a:solidFill>
              </a:defRPr>
            </a:pPr>
            <a:endParaRPr lang="vi-VN" dirty="0"/>
          </a:p>
          <a:p>
            <a:pPr>
              <a:spcAft>
                <a:spcPts val="600"/>
              </a:spcAft>
              <a:defRPr sz="1600">
                <a:solidFill>
                  <a:srgbClr val="14143C"/>
                </a:solidFill>
              </a:defRPr>
            </a:pPr>
            <a:endParaRPr dirty="0"/>
          </a:p>
          <a:p>
            <a:pPr>
              <a:spcAft>
                <a:spcPts val="600"/>
              </a:spcAft>
              <a:defRPr sz="1600">
                <a:solidFill>
                  <a:srgbClr val="14143C"/>
                </a:solidFill>
              </a:defRPr>
            </a:pPr>
            <a:r>
              <a:rPr lang="en-US" dirty="0">
                <a:highlight>
                  <a:srgbClr val="FFFF00"/>
                </a:highlight>
              </a:rPr>
              <a:t> </a:t>
            </a:r>
            <a:endParaRPr lang="vi-VN" dirty="0">
              <a:highlight>
                <a:srgbClr val="FFFF00"/>
              </a:highlight>
            </a:endParaRPr>
          </a:p>
          <a:p>
            <a:pPr>
              <a:spcAft>
                <a:spcPts val="600"/>
              </a:spcAft>
              <a:defRPr sz="1600">
                <a:solidFill>
                  <a:srgbClr val="14143C"/>
                </a:solidFill>
              </a:defRPr>
            </a:pPr>
            <a:endParaRPr lang="vi-VN" dirty="0">
              <a:highlight>
                <a:srgbClr val="FFFF00"/>
              </a:highlight>
            </a:endParaRPr>
          </a:p>
          <a:p>
            <a:pPr>
              <a:spcAft>
                <a:spcPts val="600"/>
              </a:spcAft>
              <a:defRPr sz="1600">
                <a:solidFill>
                  <a:srgbClr val="14143C"/>
                </a:solidFill>
              </a:defRPr>
            </a:pPr>
            <a:endParaRPr lang="vi-VN" dirty="0">
              <a:highlight>
                <a:srgbClr val="FFFF00"/>
              </a:highlight>
            </a:endParaRPr>
          </a:p>
          <a:p>
            <a:pPr>
              <a:spcAft>
                <a:spcPts val="600"/>
              </a:spcAft>
              <a:defRPr sz="1600">
                <a:solidFill>
                  <a:srgbClr val="14143C"/>
                </a:solidFill>
              </a:defRPr>
            </a:pPr>
            <a:r>
              <a:rPr lang="vi-V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Trong đó:</a:t>
            </a:r>
          </a:p>
          <a:p>
            <a:pPr>
              <a:spcAft>
                <a:spcPts val="600"/>
              </a:spcAft>
              <a:defRPr sz="1600">
                <a:solidFill>
                  <a:srgbClr val="14143C"/>
                </a:solidFill>
              </a:defRPr>
            </a:pPr>
            <a:r>
              <a:rPr lang="vi-V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N: Tổng số văn bản trong tập Data D</a:t>
            </a:r>
          </a:p>
          <a:p>
            <a:pPr>
              <a:spcAft>
                <a:spcPts val="600"/>
              </a:spcAft>
              <a:defRPr sz="1600">
                <a:solidFill>
                  <a:srgbClr val="14143C"/>
                </a:solidFill>
              </a:defRPr>
            </a:pPr>
            <a:r>
              <a:rPr lang="vi-V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|{d D:T\t d}|:Số lượng văn bản có chứa từ t (nếu từ đó không có thì sẽ cộng 1 vào mẫu để tránh lỗi chia cho 0)</a:t>
            </a:r>
          </a:p>
          <a:p>
            <a:pPr>
              <a:spcAft>
                <a:spcPts val="600"/>
              </a:spcAft>
              <a:defRPr sz="1600">
                <a:solidFill>
                  <a:srgbClr val="14143C"/>
                </a:solidFill>
              </a:defRPr>
            </a:pPr>
            <a:endParaRPr lang="vi-VN" dirty="0"/>
          </a:p>
          <a:p>
            <a:pPr>
              <a:spcAft>
                <a:spcPts val="600"/>
              </a:spcAft>
              <a:defRPr sz="1600">
                <a:solidFill>
                  <a:srgbClr val="14143C"/>
                </a:solidFill>
              </a:defRPr>
            </a:pPr>
            <a:endParaRPr lang="vi-VN" dirty="0">
              <a:highlight>
                <a:srgbClr val="FFFF00"/>
              </a:highlight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spcAft>
                <a:spcPts val="600"/>
              </a:spcAft>
              <a:defRPr sz="1600">
                <a:solidFill>
                  <a:srgbClr val="14143C"/>
                </a:solidFill>
              </a:defRPr>
            </a:pPr>
            <a:endParaRPr lang="vi-VN" dirty="0">
              <a:highlight>
                <a:srgbClr val="FFFF00"/>
              </a:highlight>
            </a:endParaRPr>
          </a:p>
          <a:p>
            <a:pPr>
              <a:spcAft>
                <a:spcPts val="600"/>
              </a:spcAft>
              <a:defRPr sz="1600">
                <a:solidFill>
                  <a:srgbClr val="14143C"/>
                </a:solidFill>
              </a:defRPr>
            </a:pPr>
            <a:endParaRPr dirty="0"/>
          </a:p>
        </p:txBody>
      </p:sp>
      <p:sp>
        <p:nvSpPr>
          <p:cNvPr id="6" name="TextBox 5"/>
          <p:cNvSpPr txBox="1"/>
          <p:nvPr/>
        </p:nvSpPr>
        <p:spPr>
          <a:xfrm>
            <a:off x="6217920" y="128016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B43232"/>
                </a:solidFill>
              </a:defRPr>
            </a:pPr>
            <a:r>
              <a:t>Ý nghĩa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737360"/>
            <a:ext cx="5486400" cy="19543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14143C"/>
                </a:solidFill>
              </a:defRPr>
            </a:pPr>
            <a:r>
              <a:rPr dirty="0"/>
              <a:t>• TF: </a:t>
            </a:r>
            <a:r>
              <a:rPr dirty="0" err="1"/>
              <a:t>từ</a:t>
            </a:r>
            <a:r>
              <a:rPr dirty="0"/>
              <a:t> </a:t>
            </a:r>
            <a:r>
              <a:rPr dirty="0" err="1"/>
              <a:t>xuất</a:t>
            </a:r>
            <a:r>
              <a:rPr dirty="0"/>
              <a:t> </a:t>
            </a:r>
            <a:r>
              <a:rPr dirty="0" err="1"/>
              <a:t>hiện</a:t>
            </a:r>
            <a:r>
              <a:rPr dirty="0"/>
              <a:t> </a:t>
            </a:r>
            <a:r>
              <a:rPr dirty="0" err="1"/>
              <a:t>nhiều</a:t>
            </a:r>
            <a:r>
              <a:rPr dirty="0"/>
              <a:t> → </a:t>
            </a:r>
            <a:r>
              <a:rPr dirty="0" err="1"/>
              <a:t>quan</a:t>
            </a:r>
            <a:r>
              <a:rPr dirty="0"/>
              <a:t> </a:t>
            </a:r>
            <a:r>
              <a:rPr dirty="0" err="1"/>
              <a:t>trọng</a:t>
            </a:r>
            <a:r>
              <a:rPr dirty="0"/>
              <a:t> </a:t>
            </a:r>
            <a:r>
              <a:rPr dirty="0" err="1"/>
              <a:t>trong</a:t>
            </a:r>
            <a:r>
              <a:rPr dirty="0"/>
              <a:t> </a:t>
            </a:r>
            <a:r>
              <a:rPr dirty="0" err="1"/>
              <a:t>tài</a:t>
            </a:r>
            <a:r>
              <a:rPr dirty="0"/>
              <a:t> </a:t>
            </a:r>
            <a:r>
              <a:rPr dirty="0" err="1"/>
              <a:t>liệu</a:t>
            </a:r>
            <a:endParaRPr dirty="0"/>
          </a:p>
          <a:p>
            <a:pPr>
              <a:spcAft>
                <a:spcPts val="600"/>
              </a:spcAft>
              <a:defRPr sz="1600">
                <a:solidFill>
                  <a:srgbClr val="14143C"/>
                </a:solidFill>
              </a:defRPr>
            </a:pPr>
            <a:r>
              <a:rPr dirty="0"/>
              <a:t>• IDF: </a:t>
            </a:r>
            <a:r>
              <a:rPr dirty="0" err="1"/>
              <a:t>từ</a:t>
            </a:r>
            <a:r>
              <a:rPr dirty="0"/>
              <a:t> </a:t>
            </a:r>
            <a:r>
              <a:rPr dirty="0" err="1"/>
              <a:t>phổ</a:t>
            </a:r>
            <a:r>
              <a:rPr dirty="0"/>
              <a:t> </a:t>
            </a:r>
            <a:r>
              <a:rPr dirty="0" err="1"/>
              <a:t>biến</a:t>
            </a:r>
            <a:r>
              <a:rPr dirty="0"/>
              <a:t> ở </a:t>
            </a:r>
            <a:r>
              <a:rPr dirty="0" err="1"/>
              <a:t>nhiều</a:t>
            </a:r>
            <a:r>
              <a:rPr dirty="0"/>
              <a:t> </a:t>
            </a:r>
            <a:r>
              <a:rPr dirty="0" err="1"/>
              <a:t>tài</a:t>
            </a:r>
            <a:r>
              <a:rPr dirty="0"/>
              <a:t> </a:t>
            </a:r>
            <a:r>
              <a:rPr dirty="0" err="1"/>
              <a:t>liệu</a:t>
            </a:r>
            <a:r>
              <a:rPr dirty="0"/>
              <a:t> → </a:t>
            </a:r>
            <a:r>
              <a:rPr dirty="0" err="1"/>
              <a:t>giảm</a:t>
            </a:r>
            <a:r>
              <a:rPr dirty="0"/>
              <a:t> </a:t>
            </a:r>
            <a:r>
              <a:rPr dirty="0" err="1"/>
              <a:t>trọng</a:t>
            </a:r>
            <a:r>
              <a:rPr dirty="0"/>
              <a:t> </a:t>
            </a:r>
            <a:r>
              <a:rPr dirty="0" err="1"/>
              <a:t>số</a:t>
            </a:r>
            <a:endParaRPr dirty="0"/>
          </a:p>
          <a:p>
            <a:pPr>
              <a:spcAft>
                <a:spcPts val="600"/>
              </a:spcAft>
              <a:defRPr sz="1600">
                <a:solidFill>
                  <a:srgbClr val="14143C"/>
                </a:solidFill>
              </a:defRPr>
            </a:pPr>
            <a:r>
              <a:rPr dirty="0"/>
              <a:t>• </a:t>
            </a:r>
            <a:r>
              <a:rPr dirty="0" err="1"/>
              <a:t>Kết</a:t>
            </a:r>
            <a:r>
              <a:rPr dirty="0"/>
              <a:t> </a:t>
            </a:r>
            <a:r>
              <a:rPr dirty="0" err="1"/>
              <a:t>quả</a:t>
            </a:r>
            <a:r>
              <a:rPr dirty="0"/>
              <a:t>: vector </a:t>
            </a:r>
            <a:r>
              <a:rPr dirty="0" err="1"/>
              <a:t>đặc</a:t>
            </a:r>
            <a:r>
              <a:rPr dirty="0"/>
              <a:t> </a:t>
            </a:r>
            <a:r>
              <a:rPr dirty="0" err="1"/>
              <a:t>trưng</a:t>
            </a:r>
            <a:r>
              <a:rPr dirty="0"/>
              <a:t> </a:t>
            </a:r>
            <a:r>
              <a:rPr dirty="0" err="1"/>
              <a:t>cho</a:t>
            </a:r>
            <a:r>
              <a:rPr dirty="0"/>
              <a:t> </a:t>
            </a:r>
            <a:r>
              <a:rPr dirty="0" err="1"/>
              <a:t>mỗi</a:t>
            </a:r>
            <a:r>
              <a:rPr dirty="0"/>
              <a:t> </a:t>
            </a:r>
            <a:r>
              <a:rPr dirty="0" err="1"/>
              <a:t>văn</a:t>
            </a:r>
            <a:r>
              <a:rPr dirty="0"/>
              <a:t> </a:t>
            </a:r>
            <a:r>
              <a:rPr dirty="0" err="1"/>
              <a:t>bản</a:t>
            </a:r>
            <a:endParaRPr dirty="0"/>
          </a:p>
          <a:p>
            <a:pPr>
              <a:spcAft>
                <a:spcPts val="600"/>
              </a:spcAft>
              <a:defRPr sz="1600">
                <a:solidFill>
                  <a:srgbClr val="14143C"/>
                </a:solidFill>
              </a:defRPr>
            </a:pPr>
            <a:endParaRPr dirty="0"/>
          </a:p>
          <a:p>
            <a:pPr>
              <a:spcAft>
                <a:spcPts val="600"/>
              </a:spcAft>
              <a:defRPr sz="1600">
                <a:solidFill>
                  <a:srgbClr val="14143C"/>
                </a:solidFill>
              </a:defRPr>
            </a:pPr>
            <a:r>
              <a:rPr dirty="0"/>
              <a:t>• Cosine Similarity:</a:t>
            </a:r>
            <a:r>
              <a:rPr lang="vi-VN" dirty="0"/>
              <a:t> </a:t>
            </a:r>
            <a:r>
              <a:rPr dirty="0"/>
              <a:t> </a:t>
            </a:r>
            <a:r>
              <a:rPr lang="vi-VN" dirty="0"/>
              <a:t>cas</a:t>
            </a:r>
            <a:r>
              <a:rPr dirty="0"/>
              <a:t>(A,B) = (A · B) / (|A| × |B|)</a:t>
            </a:r>
          </a:p>
          <a:p>
            <a:pPr>
              <a:spcAft>
                <a:spcPts val="600"/>
              </a:spcAft>
              <a:defRPr sz="1600">
                <a:solidFill>
                  <a:srgbClr val="14143C"/>
                </a:solidFill>
              </a:defRPr>
            </a:pPr>
            <a:r>
              <a:rPr dirty="0"/>
              <a:t> → </a:t>
            </a:r>
            <a:r>
              <a:rPr dirty="0" err="1"/>
              <a:t>Đo</a:t>
            </a:r>
            <a:r>
              <a:rPr dirty="0"/>
              <a:t> </a:t>
            </a:r>
            <a:r>
              <a:rPr dirty="0" err="1"/>
              <a:t>góc</a:t>
            </a:r>
            <a:r>
              <a:rPr dirty="0"/>
              <a:t> </a:t>
            </a:r>
            <a:r>
              <a:rPr dirty="0" err="1"/>
              <a:t>giữa</a:t>
            </a:r>
            <a:r>
              <a:rPr dirty="0"/>
              <a:t> 2 vector (0→1)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2179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i="1">
                <a:solidFill>
                  <a:srgbClr val="646464"/>
                </a:solidFill>
              </a:defRPr>
            </a:pPr>
            <a:r>
              <a:t>Trong project dùng sublinear_tf=True: log(1+TF) thay vì TF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4EA79D5-D9A8-F2E3-3FC3-2CE0D7546E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497041"/>
            <a:ext cx="3929091" cy="69533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F1B717F-C016-E086-C9B7-358E4E664A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505" y="3315583"/>
            <a:ext cx="3057547" cy="70009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F20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Cấu Hình TF-IDF Trong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0972800" cy="45345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4143C"/>
                </a:solidFill>
              </a:defRPr>
            </a:pPr>
            <a:r>
              <a:rPr dirty="0"/>
              <a:t>• File: `</a:t>
            </a:r>
            <a:r>
              <a:rPr dirty="0" err="1"/>
              <a:t>src</a:t>
            </a:r>
            <a:r>
              <a:rPr dirty="0"/>
              <a:t>/ranking/lexical.py`</a:t>
            </a:r>
          </a:p>
          <a:p>
            <a:pPr>
              <a:spcAft>
                <a:spcPts val="400"/>
              </a:spcAft>
              <a:defRPr sz="1600">
                <a:solidFill>
                  <a:srgbClr val="282864"/>
                </a:solidFill>
              </a:defRPr>
            </a:pPr>
            <a:r>
              <a:rPr dirty="0"/>
              <a:t>     </a:t>
            </a:r>
            <a:r>
              <a:rPr dirty="0" err="1"/>
              <a:t>Dùng</a:t>
            </a:r>
            <a:r>
              <a:rPr dirty="0"/>
              <a:t> </a:t>
            </a:r>
            <a:r>
              <a:rPr dirty="0" err="1"/>
              <a:t>TfidfVectorizer</a:t>
            </a:r>
            <a:r>
              <a:rPr dirty="0"/>
              <a:t> </a:t>
            </a:r>
            <a:r>
              <a:rPr dirty="0" err="1"/>
              <a:t>từ</a:t>
            </a:r>
            <a:r>
              <a:rPr dirty="0"/>
              <a:t> </a:t>
            </a:r>
            <a:r>
              <a:rPr dirty="0" err="1"/>
              <a:t>sklearn</a:t>
            </a:r>
            <a:endParaRPr dirty="0"/>
          </a:p>
          <a:p>
            <a:pPr>
              <a:spcAft>
                <a:spcPts val="800"/>
              </a:spcAft>
              <a:defRPr sz="1800">
                <a:solidFill>
                  <a:srgbClr val="14143C"/>
                </a:solidFill>
              </a:defRPr>
            </a:pPr>
            <a:r>
              <a:rPr dirty="0"/>
              <a:t>• Tham </a:t>
            </a:r>
            <a:r>
              <a:rPr dirty="0" err="1"/>
              <a:t>số</a:t>
            </a:r>
            <a:r>
              <a:rPr dirty="0"/>
              <a:t> </a:t>
            </a:r>
            <a:r>
              <a:rPr dirty="0" err="1"/>
              <a:t>cấu</a:t>
            </a:r>
            <a:r>
              <a:rPr dirty="0"/>
              <a:t> </a:t>
            </a:r>
            <a:r>
              <a:rPr dirty="0" err="1"/>
              <a:t>hình</a:t>
            </a:r>
            <a:r>
              <a:rPr dirty="0"/>
              <a:t>:</a:t>
            </a:r>
          </a:p>
          <a:p>
            <a:pPr>
              <a:spcAft>
                <a:spcPts val="400"/>
              </a:spcAft>
              <a:defRPr sz="1600">
                <a:solidFill>
                  <a:srgbClr val="282864"/>
                </a:solidFill>
              </a:defRPr>
            </a:pPr>
            <a:r>
              <a:rPr dirty="0"/>
              <a:t>     </a:t>
            </a:r>
            <a:r>
              <a:rPr dirty="0" err="1"/>
              <a:t>ngram_range</a:t>
            </a:r>
            <a:r>
              <a:rPr dirty="0"/>
              <a:t>=(1, 2)  →  unigram + bigram (</a:t>
            </a:r>
            <a:r>
              <a:rPr dirty="0" err="1"/>
              <a:t>vd</a:t>
            </a:r>
            <a:r>
              <a:rPr dirty="0"/>
              <a:t>: '</a:t>
            </a:r>
            <a:r>
              <a:rPr dirty="0" err="1"/>
              <a:t>đấu</a:t>
            </a:r>
            <a:r>
              <a:rPr dirty="0"/>
              <a:t> </a:t>
            </a:r>
            <a:r>
              <a:rPr dirty="0" err="1"/>
              <a:t>thầu</a:t>
            </a:r>
            <a:r>
              <a:rPr dirty="0"/>
              <a:t>', '</a:t>
            </a:r>
            <a:r>
              <a:rPr dirty="0" err="1"/>
              <a:t>mua</a:t>
            </a:r>
            <a:r>
              <a:rPr dirty="0"/>
              <a:t> </a:t>
            </a:r>
            <a:r>
              <a:rPr dirty="0" err="1"/>
              <a:t>sắm</a:t>
            </a:r>
            <a:r>
              <a:rPr dirty="0"/>
              <a:t> </a:t>
            </a:r>
            <a:r>
              <a:rPr dirty="0" err="1"/>
              <a:t>vật</a:t>
            </a:r>
            <a:r>
              <a:rPr dirty="0"/>
              <a:t> </a:t>
            </a:r>
            <a:r>
              <a:rPr dirty="0" err="1"/>
              <a:t>tư</a:t>
            </a:r>
            <a:r>
              <a:rPr dirty="0"/>
              <a:t>')</a:t>
            </a:r>
          </a:p>
          <a:p>
            <a:pPr>
              <a:spcAft>
                <a:spcPts val="400"/>
              </a:spcAft>
              <a:defRPr sz="1600">
                <a:solidFill>
                  <a:srgbClr val="282864"/>
                </a:solidFill>
              </a:defRPr>
            </a:pPr>
            <a:r>
              <a:rPr dirty="0"/>
              <a:t>     </a:t>
            </a:r>
            <a:r>
              <a:rPr dirty="0" err="1"/>
              <a:t>min_df</a:t>
            </a:r>
            <a:r>
              <a:rPr dirty="0"/>
              <a:t>=2  →  </a:t>
            </a:r>
            <a:r>
              <a:rPr dirty="0" err="1"/>
              <a:t>bỏ</a:t>
            </a:r>
            <a:r>
              <a:rPr dirty="0"/>
              <a:t> </a:t>
            </a:r>
            <a:r>
              <a:rPr dirty="0" err="1"/>
              <a:t>từ</a:t>
            </a:r>
            <a:r>
              <a:rPr dirty="0"/>
              <a:t> </a:t>
            </a:r>
            <a:r>
              <a:rPr dirty="0" err="1"/>
              <a:t>xuất</a:t>
            </a:r>
            <a:r>
              <a:rPr dirty="0"/>
              <a:t> </a:t>
            </a:r>
            <a:r>
              <a:rPr dirty="0" err="1"/>
              <a:t>hiện</a:t>
            </a:r>
            <a:r>
              <a:rPr dirty="0"/>
              <a:t> </a:t>
            </a:r>
            <a:r>
              <a:rPr dirty="0" err="1"/>
              <a:t>dưới</a:t>
            </a:r>
            <a:r>
              <a:rPr dirty="0"/>
              <a:t> 2 </a:t>
            </a:r>
            <a:r>
              <a:rPr dirty="0" err="1"/>
              <a:t>tài</a:t>
            </a:r>
            <a:r>
              <a:rPr dirty="0"/>
              <a:t> </a:t>
            </a:r>
            <a:r>
              <a:rPr dirty="0" err="1"/>
              <a:t>liệu</a:t>
            </a:r>
            <a:endParaRPr dirty="0"/>
          </a:p>
          <a:p>
            <a:pPr>
              <a:spcAft>
                <a:spcPts val="400"/>
              </a:spcAft>
              <a:defRPr sz="1600">
                <a:solidFill>
                  <a:srgbClr val="282864"/>
                </a:solidFill>
              </a:defRPr>
            </a:pPr>
            <a:r>
              <a:rPr dirty="0"/>
              <a:t>     </a:t>
            </a:r>
            <a:r>
              <a:rPr dirty="0" err="1"/>
              <a:t>max_df</a:t>
            </a:r>
            <a:r>
              <a:rPr dirty="0"/>
              <a:t>=0.95  →  </a:t>
            </a:r>
            <a:r>
              <a:rPr dirty="0" err="1"/>
              <a:t>bỏ</a:t>
            </a:r>
            <a:r>
              <a:rPr dirty="0"/>
              <a:t> </a:t>
            </a:r>
            <a:r>
              <a:rPr dirty="0" err="1"/>
              <a:t>từ</a:t>
            </a:r>
            <a:r>
              <a:rPr dirty="0"/>
              <a:t> </a:t>
            </a:r>
            <a:r>
              <a:rPr dirty="0" err="1"/>
              <a:t>xuất</a:t>
            </a:r>
            <a:r>
              <a:rPr dirty="0"/>
              <a:t> </a:t>
            </a:r>
            <a:r>
              <a:rPr dirty="0" err="1"/>
              <a:t>hiện</a:t>
            </a:r>
            <a:r>
              <a:rPr dirty="0"/>
              <a:t> </a:t>
            </a:r>
            <a:r>
              <a:rPr dirty="0" err="1"/>
              <a:t>trong</a:t>
            </a:r>
            <a:r>
              <a:rPr dirty="0"/>
              <a:t> &gt;95% </a:t>
            </a:r>
            <a:r>
              <a:rPr dirty="0" err="1"/>
              <a:t>tài</a:t>
            </a:r>
            <a:r>
              <a:rPr dirty="0"/>
              <a:t> </a:t>
            </a:r>
            <a:r>
              <a:rPr dirty="0" err="1"/>
              <a:t>liệu</a:t>
            </a:r>
            <a:endParaRPr dirty="0"/>
          </a:p>
          <a:p>
            <a:pPr>
              <a:spcAft>
                <a:spcPts val="400"/>
              </a:spcAft>
              <a:defRPr sz="1600">
                <a:solidFill>
                  <a:srgbClr val="282864"/>
                </a:solidFill>
              </a:defRPr>
            </a:pPr>
            <a:r>
              <a:rPr dirty="0"/>
              <a:t>     </a:t>
            </a:r>
            <a:r>
              <a:rPr dirty="0" err="1"/>
              <a:t>max_features</a:t>
            </a:r>
            <a:r>
              <a:rPr dirty="0"/>
              <a:t>=25,000  →  </a:t>
            </a:r>
            <a:r>
              <a:rPr dirty="0" err="1"/>
              <a:t>giới</a:t>
            </a:r>
            <a:r>
              <a:rPr dirty="0"/>
              <a:t> </a:t>
            </a:r>
            <a:r>
              <a:rPr dirty="0" err="1"/>
              <a:t>hạn</a:t>
            </a:r>
            <a:r>
              <a:rPr dirty="0"/>
              <a:t> </a:t>
            </a:r>
            <a:r>
              <a:rPr dirty="0" err="1"/>
              <a:t>từ</a:t>
            </a:r>
            <a:r>
              <a:rPr dirty="0"/>
              <a:t> </a:t>
            </a:r>
            <a:r>
              <a:rPr dirty="0" err="1"/>
              <a:t>điển</a:t>
            </a:r>
            <a:r>
              <a:rPr dirty="0"/>
              <a:t> 25K </a:t>
            </a:r>
            <a:r>
              <a:rPr dirty="0" err="1"/>
              <a:t>từ</a:t>
            </a:r>
            <a:endParaRPr dirty="0"/>
          </a:p>
          <a:p>
            <a:pPr>
              <a:spcAft>
                <a:spcPts val="400"/>
              </a:spcAft>
              <a:defRPr sz="1600">
                <a:solidFill>
                  <a:srgbClr val="282864"/>
                </a:solidFill>
              </a:defRPr>
            </a:pPr>
            <a:r>
              <a:rPr dirty="0"/>
              <a:t>     </a:t>
            </a:r>
            <a:r>
              <a:rPr dirty="0" err="1"/>
              <a:t>sublinear_tf</a:t>
            </a:r>
            <a:r>
              <a:rPr dirty="0"/>
              <a:t>=True  →  </a:t>
            </a:r>
            <a:r>
              <a:rPr dirty="0" err="1"/>
              <a:t>dùng</a:t>
            </a:r>
            <a:r>
              <a:rPr dirty="0"/>
              <a:t> log(1+TF) </a:t>
            </a:r>
            <a:r>
              <a:rPr dirty="0" err="1"/>
              <a:t>giảm</a:t>
            </a:r>
            <a:r>
              <a:rPr dirty="0"/>
              <a:t> bias </a:t>
            </a:r>
            <a:r>
              <a:rPr dirty="0" err="1"/>
              <a:t>tần</a:t>
            </a:r>
            <a:r>
              <a:rPr dirty="0"/>
              <a:t> </a:t>
            </a:r>
            <a:r>
              <a:rPr dirty="0" err="1"/>
              <a:t>suất</a:t>
            </a:r>
            <a:r>
              <a:rPr dirty="0"/>
              <a:t> </a:t>
            </a:r>
            <a:r>
              <a:rPr dirty="0" err="1"/>
              <a:t>cao</a:t>
            </a:r>
            <a:endParaRPr dirty="0"/>
          </a:p>
          <a:p>
            <a:pPr>
              <a:spcAft>
                <a:spcPts val="800"/>
              </a:spcAft>
              <a:defRPr sz="1800">
                <a:solidFill>
                  <a:srgbClr val="14143C"/>
                </a:solidFill>
              </a:defRPr>
            </a:pPr>
            <a:r>
              <a:rPr dirty="0"/>
              <a:t>• Input: `</a:t>
            </a:r>
            <a:r>
              <a:rPr dirty="0" err="1"/>
              <a:t>tender_text_ascii</a:t>
            </a:r>
            <a:r>
              <a:rPr dirty="0"/>
              <a:t>`</a:t>
            </a:r>
          </a:p>
          <a:p>
            <a:pPr>
              <a:spcAft>
                <a:spcPts val="400"/>
              </a:spcAft>
              <a:defRPr sz="1600">
                <a:solidFill>
                  <a:srgbClr val="282864"/>
                </a:solidFill>
              </a:defRPr>
            </a:pPr>
            <a:r>
              <a:rPr dirty="0"/>
              <a:t>     Text </a:t>
            </a:r>
            <a:r>
              <a:rPr dirty="0" err="1"/>
              <a:t>gói</a:t>
            </a:r>
            <a:r>
              <a:rPr dirty="0"/>
              <a:t> </a:t>
            </a:r>
            <a:r>
              <a:rPr dirty="0" err="1"/>
              <a:t>thầu</a:t>
            </a:r>
            <a:r>
              <a:rPr dirty="0"/>
              <a:t> </a:t>
            </a:r>
            <a:r>
              <a:rPr dirty="0" err="1"/>
              <a:t>đã</a:t>
            </a:r>
            <a:r>
              <a:rPr dirty="0"/>
              <a:t> </a:t>
            </a:r>
            <a:r>
              <a:rPr dirty="0" err="1"/>
              <a:t>chuyển</a:t>
            </a:r>
            <a:r>
              <a:rPr dirty="0"/>
              <a:t> sang ASCII (</a:t>
            </a:r>
            <a:r>
              <a:rPr dirty="0" err="1"/>
              <a:t>bỏ</a:t>
            </a:r>
            <a:r>
              <a:rPr dirty="0"/>
              <a:t> </a:t>
            </a:r>
            <a:r>
              <a:rPr dirty="0" err="1"/>
              <a:t>dấu</a:t>
            </a:r>
            <a:r>
              <a:rPr dirty="0"/>
              <a:t> </a:t>
            </a:r>
            <a:r>
              <a:rPr dirty="0" err="1"/>
              <a:t>tiếng</a:t>
            </a:r>
            <a:r>
              <a:rPr dirty="0"/>
              <a:t> Việt)</a:t>
            </a:r>
          </a:p>
          <a:p>
            <a:pPr>
              <a:spcAft>
                <a:spcPts val="400"/>
              </a:spcAft>
              <a:defRPr sz="1600">
                <a:solidFill>
                  <a:srgbClr val="282864"/>
                </a:solidFill>
              </a:defRPr>
            </a:pPr>
            <a:r>
              <a:rPr dirty="0"/>
              <a:t>     </a:t>
            </a:r>
            <a:r>
              <a:rPr dirty="0" err="1"/>
              <a:t>Mục</a:t>
            </a:r>
            <a:r>
              <a:rPr dirty="0"/>
              <a:t> </a:t>
            </a:r>
            <a:r>
              <a:rPr dirty="0" err="1"/>
              <a:t>đích</a:t>
            </a:r>
            <a:r>
              <a:rPr dirty="0"/>
              <a:t>: </a:t>
            </a:r>
            <a:r>
              <a:rPr dirty="0" err="1"/>
              <a:t>tăng</a:t>
            </a:r>
            <a:r>
              <a:rPr dirty="0"/>
              <a:t> </a:t>
            </a:r>
            <a:r>
              <a:rPr dirty="0" err="1"/>
              <a:t>độ</a:t>
            </a:r>
            <a:r>
              <a:rPr dirty="0"/>
              <a:t> </a:t>
            </a:r>
            <a:r>
              <a:rPr dirty="0" err="1"/>
              <a:t>chính</a:t>
            </a:r>
            <a:r>
              <a:rPr dirty="0"/>
              <a:t> </a:t>
            </a:r>
            <a:r>
              <a:rPr dirty="0" err="1"/>
              <a:t>xác</a:t>
            </a:r>
            <a:r>
              <a:rPr dirty="0"/>
              <a:t> lexical matching</a:t>
            </a:r>
          </a:p>
          <a:p>
            <a:pPr>
              <a:spcAft>
                <a:spcPts val="800"/>
              </a:spcAft>
              <a:defRPr sz="1800">
                <a:solidFill>
                  <a:srgbClr val="14143C"/>
                </a:solidFill>
              </a:defRPr>
            </a:pPr>
            <a:r>
              <a:rPr dirty="0"/>
              <a:t>• Output: Ma </a:t>
            </a:r>
            <a:r>
              <a:rPr dirty="0" err="1"/>
              <a:t>trận</a:t>
            </a:r>
            <a:r>
              <a:rPr dirty="0"/>
              <a:t> TF-IDF sparse</a:t>
            </a:r>
          </a:p>
          <a:p>
            <a:pPr>
              <a:spcAft>
                <a:spcPts val="400"/>
              </a:spcAft>
              <a:defRPr sz="1600">
                <a:solidFill>
                  <a:srgbClr val="282864"/>
                </a:solidFill>
              </a:defRPr>
            </a:pPr>
            <a:r>
              <a:rPr dirty="0"/>
              <a:t>     Shape: (</a:t>
            </a:r>
            <a:r>
              <a:rPr dirty="0" err="1"/>
              <a:t>số</a:t>
            </a:r>
            <a:r>
              <a:rPr dirty="0"/>
              <a:t> </a:t>
            </a:r>
            <a:r>
              <a:rPr dirty="0" err="1"/>
              <a:t>gói</a:t>
            </a:r>
            <a:r>
              <a:rPr dirty="0"/>
              <a:t> </a:t>
            </a:r>
            <a:r>
              <a:rPr dirty="0" err="1"/>
              <a:t>thầu</a:t>
            </a:r>
            <a:r>
              <a:rPr dirty="0"/>
              <a:t>, 25,000 features)</a:t>
            </a:r>
          </a:p>
          <a:p>
            <a:pPr>
              <a:spcAft>
                <a:spcPts val="400"/>
              </a:spcAft>
              <a:defRPr sz="1600">
                <a:solidFill>
                  <a:srgbClr val="282864"/>
                </a:solidFill>
              </a:defRPr>
            </a:pPr>
            <a:r>
              <a:rPr dirty="0"/>
              <a:t>     </a:t>
            </a:r>
            <a:r>
              <a:rPr dirty="0" err="1"/>
              <a:t>Mỗi</a:t>
            </a:r>
            <a:r>
              <a:rPr dirty="0"/>
              <a:t> </a:t>
            </a:r>
            <a:r>
              <a:rPr dirty="0" err="1"/>
              <a:t>dòng</a:t>
            </a:r>
            <a:r>
              <a:rPr dirty="0"/>
              <a:t> = 1 vector TF-IDF </a:t>
            </a:r>
            <a:r>
              <a:rPr dirty="0" err="1"/>
              <a:t>của</a:t>
            </a:r>
            <a:r>
              <a:rPr dirty="0"/>
              <a:t> 1 </a:t>
            </a:r>
            <a:r>
              <a:rPr dirty="0" err="1"/>
              <a:t>gói</a:t>
            </a:r>
            <a:r>
              <a:rPr dirty="0"/>
              <a:t> </a:t>
            </a:r>
            <a:r>
              <a:rPr dirty="0" err="1"/>
              <a:t>thầu</a:t>
            </a:r>
            <a:endParaRPr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064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Code: TF-IDF Trong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05840"/>
            <a:ext cx="116128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400">
                <a:solidFill>
                  <a:srgbClr val="78DC78"/>
                </a:solidFill>
                <a:latin typeface="Courier New"/>
              </a:defRPr>
            </a:pPr>
            <a:r>
              <a:rPr dirty="0"/>
              <a:t>class </a:t>
            </a:r>
            <a:r>
              <a:rPr dirty="0" err="1"/>
              <a:t>LexicalIndexer</a:t>
            </a:r>
            <a:r>
              <a:rPr dirty="0"/>
              <a:t>:</a:t>
            </a:r>
          </a:p>
          <a:p>
            <a:pPr>
              <a:spcAft>
                <a:spcPts val="300"/>
              </a:spcAft>
              <a:defRPr sz="1400">
                <a:solidFill>
                  <a:srgbClr val="78DC78"/>
                </a:solidFill>
                <a:latin typeface="Courier New"/>
              </a:defRPr>
            </a:pPr>
            <a:r>
              <a:rPr dirty="0"/>
              <a:t>    @classmethod</a:t>
            </a:r>
          </a:p>
          <a:p>
            <a:pPr>
              <a:spcAft>
                <a:spcPts val="300"/>
              </a:spcAft>
              <a:defRPr sz="1400">
                <a:solidFill>
                  <a:srgbClr val="78DC78"/>
                </a:solidFill>
                <a:latin typeface="Courier New"/>
              </a:defRPr>
            </a:pPr>
            <a:r>
              <a:rPr dirty="0"/>
              <a:t>    def build(</a:t>
            </a:r>
            <a:r>
              <a:rPr dirty="0" err="1"/>
              <a:t>cls</a:t>
            </a:r>
            <a:r>
              <a:rPr dirty="0"/>
              <a:t>, </a:t>
            </a:r>
            <a:r>
              <a:rPr dirty="0" err="1"/>
              <a:t>tender_df</a:t>
            </a:r>
            <a:r>
              <a:rPr dirty="0"/>
              <a:t>: </a:t>
            </a:r>
            <a:r>
              <a:rPr dirty="0" err="1"/>
              <a:t>pd.DataFrame</a:t>
            </a:r>
            <a:r>
              <a:rPr dirty="0"/>
              <a:t>) -&gt; '</a:t>
            </a:r>
            <a:r>
              <a:rPr dirty="0" err="1"/>
              <a:t>LexicalIndexer</a:t>
            </a:r>
            <a:r>
              <a:rPr dirty="0"/>
              <a:t>':</a:t>
            </a:r>
          </a:p>
          <a:p>
            <a:pPr>
              <a:spcAft>
                <a:spcPts val="300"/>
              </a:spcAft>
              <a:defRPr sz="1400">
                <a:solidFill>
                  <a:srgbClr val="78DC78"/>
                </a:solidFill>
                <a:latin typeface="Courier New"/>
              </a:defRPr>
            </a:pPr>
            <a:r>
              <a:rPr dirty="0"/>
              <a:t>        texts = </a:t>
            </a:r>
            <a:r>
              <a:rPr dirty="0" err="1"/>
              <a:t>tender_df</a:t>
            </a:r>
            <a:r>
              <a:rPr dirty="0"/>
              <a:t>['</a:t>
            </a:r>
            <a:r>
              <a:rPr dirty="0" err="1"/>
              <a:t>tender_text_ascii</a:t>
            </a:r>
            <a:r>
              <a:rPr dirty="0"/>
              <a:t>'].</a:t>
            </a:r>
            <a:r>
              <a:rPr dirty="0" err="1"/>
              <a:t>fillna</a:t>
            </a:r>
            <a:r>
              <a:rPr dirty="0"/>
              <a:t>('').</a:t>
            </a:r>
            <a:r>
              <a:rPr dirty="0" err="1"/>
              <a:t>tolist</a:t>
            </a:r>
            <a:r>
              <a:rPr dirty="0"/>
              <a:t>()</a:t>
            </a:r>
          </a:p>
          <a:p>
            <a:pPr>
              <a:spcAft>
                <a:spcPts val="300"/>
              </a:spcAft>
              <a:defRPr sz="1400">
                <a:solidFill>
                  <a:srgbClr val="78DC78"/>
                </a:solidFill>
                <a:latin typeface="Courier New"/>
              </a:defRPr>
            </a:pPr>
            <a:r>
              <a:rPr dirty="0"/>
              <a:t>        </a:t>
            </a:r>
            <a:r>
              <a:rPr dirty="0" err="1"/>
              <a:t>tender_ids</a:t>
            </a:r>
            <a:r>
              <a:rPr dirty="0"/>
              <a:t> = </a:t>
            </a:r>
            <a:r>
              <a:rPr dirty="0" err="1"/>
              <a:t>tender_df</a:t>
            </a:r>
            <a:r>
              <a:rPr dirty="0"/>
              <a:t>['</a:t>
            </a:r>
            <a:r>
              <a:rPr dirty="0" err="1"/>
              <a:t>bidonotifycontractormnotifyno</a:t>
            </a:r>
            <a:r>
              <a:rPr dirty="0"/>
              <a:t>'].</a:t>
            </a:r>
            <a:r>
              <a:rPr dirty="0" err="1"/>
              <a:t>tolist</a:t>
            </a:r>
            <a:r>
              <a:rPr dirty="0"/>
              <a:t>()</a:t>
            </a:r>
          </a:p>
          <a:p>
            <a:pPr>
              <a:spcAft>
                <a:spcPts val="300"/>
              </a:spcAft>
              <a:defRPr sz="1400">
                <a:solidFill>
                  <a:srgbClr val="78DC78"/>
                </a:solidFill>
                <a:latin typeface="Courier New"/>
              </a:defRPr>
            </a:pPr>
            <a:endParaRPr dirty="0"/>
          </a:p>
          <a:p>
            <a:pPr>
              <a:spcAft>
                <a:spcPts val="300"/>
              </a:spcAft>
              <a:defRPr sz="1400">
                <a:solidFill>
                  <a:srgbClr val="78DC78"/>
                </a:solidFill>
                <a:latin typeface="Courier New"/>
              </a:defRPr>
            </a:pPr>
            <a:r>
              <a:rPr dirty="0"/>
              <a:t>        vectorizer = </a:t>
            </a:r>
            <a:r>
              <a:rPr dirty="0" err="1"/>
              <a:t>TfidfVectorizer</a:t>
            </a:r>
            <a:r>
              <a:rPr dirty="0"/>
              <a:t>(</a:t>
            </a:r>
          </a:p>
          <a:p>
            <a:pPr>
              <a:spcAft>
                <a:spcPts val="300"/>
              </a:spcAft>
              <a:defRPr sz="1400">
                <a:solidFill>
                  <a:srgbClr val="78DC78"/>
                </a:solidFill>
                <a:latin typeface="Courier New"/>
              </a:defRPr>
            </a:pPr>
            <a:r>
              <a:rPr dirty="0"/>
              <a:t>            </a:t>
            </a:r>
            <a:r>
              <a:rPr dirty="0" err="1"/>
              <a:t>ngram_range</a:t>
            </a:r>
            <a:r>
              <a:rPr dirty="0"/>
              <a:t>=(1, 2),    # unigram + bigram</a:t>
            </a:r>
          </a:p>
          <a:p>
            <a:pPr>
              <a:spcAft>
                <a:spcPts val="300"/>
              </a:spcAft>
              <a:defRPr sz="1400">
                <a:solidFill>
                  <a:srgbClr val="78DC78"/>
                </a:solidFill>
                <a:latin typeface="Courier New"/>
              </a:defRPr>
            </a:pPr>
            <a:r>
              <a:rPr dirty="0"/>
              <a:t>            </a:t>
            </a:r>
            <a:r>
              <a:rPr dirty="0" err="1"/>
              <a:t>min_df</a:t>
            </a:r>
            <a:r>
              <a:rPr dirty="0"/>
              <a:t>=2,             # </a:t>
            </a:r>
            <a:r>
              <a:rPr dirty="0" err="1"/>
              <a:t>bỏ</a:t>
            </a:r>
            <a:r>
              <a:rPr dirty="0"/>
              <a:t> </a:t>
            </a:r>
            <a:r>
              <a:rPr dirty="0" err="1"/>
              <a:t>từ</a:t>
            </a:r>
            <a:r>
              <a:rPr dirty="0"/>
              <a:t> </a:t>
            </a:r>
            <a:r>
              <a:rPr dirty="0" err="1"/>
              <a:t>hiếm</a:t>
            </a:r>
            <a:endParaRPr dirty="0"/>
          </a:p>
          <a:p>
            <a:pPr>
              <a:spcAft>
                <a:spcPts val="300"/>
              </a:spcAft>
              <a:defRPr sz="1400">
                <a:solidFill>
                  <a:srgbClr val="78DC78"/>
                </a:solidFill>
                <a:latin typeface="Courier New"/>
              </a:defRPr>
            </a:pPr>
            <a:r>
              <a:rPr dirty="0"/>
              <a:t>            </a:t>
            </a:r>
            <a:r>
              <a:rPr dirty="0" err="1"/>
              <a:t>max_df</a:t>
            </a:r>
            <a:r>
              <a:rPr dirty="0"/>
              <a:t>=0.95,          # </a:t>
            </a:r>
            <a:r>
              <a:rPr dirty="0" err="1"/>
              <a:t>bỏ</a:t>
            </a:r>
            <a:r>
              <a:rPr dirty="0"/>
              <a:t> </a:t>
            </a:r>
            <a:r>
              <a:rPr dirty="0" err="1"/>
              <a:t>từ</a:t>
            </a:r>
            <a:r>
              <a:rPr dirty="0"/>
              <a:t> </a:t>
            </a:r>
            <a:r>
              <a:rPr dirty="0" err="1"/>
              <a:t>quá</a:t>
            </a:r>
            <a:r>
              <a:rPr dirty="0"/>
              <a:t> </a:t>
            </a:r>
            <a:r>
              <a:rPr dirty="0" err="1"/>
              <a:t>phổ</a:t>
            </a:r>
            <a:r>
              <a:rPr dirty="0"/>
              <a:t> </a:t>
            </a:r>
            <a:r>
              <a:rPr dirty="0" err="1"/>
              <a:t>biến</a:t>
            </a:r>
            <a:endParaRPr dirty="0"/>
          </a:p>
          <a:p>
            <a:pPr>
              <a:spcAft>
                <a:spcPts val="300"/>
              </a:spcAft>
              <a:defRPr sz="1400">
                <a:solidFill>
                  <a:srgbClr val="78DC78"/>
                </a:solidFill>
                <a:latin typeface="Courier New"/>
              </a:defRPr>
            </a:pPr>
            <a:r>
              <a:rPr dirty="0"/>
              <a:t>            </a:t>
            </a:r>
            <a:r>
              <a:rPr dirty="0" err="1"/>
              <a:t>max_features</a:t>
            </a:r>
            <a:r>
              <a:rPr dirty="0"/>
              <a:t>=25000,  # </a:t>
            </a:r>
            <a:r>
              <a:rPr dirty="0" err="1"/>
              <a:t>giới</a:t>
            </a:r>
            <a:r>
              <a:rPr dirty="0"/>
              <a:t> </a:t>
            </a:r>
            <a:r>
              <a:rPr dirty="0" err="1"/>
              <a:t>hạn</a:t>
            </a:r>
            <a:r>
              <a:rPr dirty="0"/>
              <a:t> 25K </a:t>
            </a:r>
            <a:r>
              <a:rPr dirty="0" err="1"/>
              <a:t>từ</a:t>
            </a:r>
            <a:endParaRPr dirty="0"/>
          </a:p>
          <a:p>
            <a:pPr>
              <a:spcAft>
                <a:spcPts val="300"/>
              </a:spcAft>
              <a:defRPr sz="1400">
                <a:solidFill>
                  <a:srgbClr val="78DC78"/>
                </a:solidFill>
                <a:latin typeface="Courier New"/>
              </a:defRPr>
            </a:pPr>
            <a:r>
              <a:rPr dirty="0"/>
              <a:t>            </a:t>
            </a:r>
            <a:r>
              <a:rPr dirty="0" err="1"/>
              <a:t>sublinear_tf</a:t>
            </a:r>
            <a:r>
              <a:rPr dirty="0"/>
              <a:t>=True     # log(1+TF)</a:t>
            </a:r>
          </a:p>
          <a:p>
            <a:pPr>
              <a:spcAft>
                <a:spcPts val="300"/>
              </a:spcAft>
              <a:defRPr sz="1400">
                <a:solidFill>
                  <a:srgbClr val="78DC78"/>
                </a:solidFill>
                <a:latin typeface="Courier New"/>
              </a:defRPr>
            </a:pPr>
            <a:r>
              <a:rPr dirty="0"/>
              <a:t>        )</a:t>
            </a:r>
          </a:p>
          <a:p>
            <a:pPr>
              <a:spcAft>
                <a:spcPts val="300"/>
              </a:spcAft>
              <a:defRPr sz="1400">
                <a:solidFill>
                  <a:srgbClr val="78DC78"/>
                </a:solidFill>
                <a:latin typeface="Courier New"/>
              </a:defRPr>
            </a:pPr>
            <a:r>
              <a:rPr dirty="0"/>
              <a:t>        matrix = </a:t>
            </a:r>
            <a:r>
              <a:rPr dirty="0" err="1"/>
              <a:t>vectorizer.fit_transform</a:t>
            </a:r>
            <a:r>
              <a:rPr dirty="0"/>
              <a:t>(texts)</a:t>
            </a:r>
          </a:p>
          <a:p>
            <a:pPr>
              <a:spcAft>
                <a:spcPts val="300"/>
              </a:spcAft>
              <a:defRPr sz="1400">
                <a:solidFill>
                  <a:srgbClr val="78DC78"/>
                </a:solidFill>
                <a:latin typeface="Courier New"/>
              </a:defRPr>
            </a:pPr>
            <a:r>
              <a:rPr dirty="0"/>
              <a:t>        return </a:t>
            </a:r>
            <a:r>
              <a:rPr dirty="0" err="1"/>
              <a:t>cls</a:t>
            </a:r>
            <a:r>
              <a:rPr dirty="0"/>
              <a:t>(vectorizer, matrix, </a:t>
            </a:r>
            <a:r>
              <a:rPr dirty="0" err="1"/>
              <a:t>tender_ids</a:t>
            </a:r>
            <a:r>
              <a:rPr dirty="0"/>
              <a:t>)</a:t>
            </a:r>
          </a:p>
          <a:p>
            <a:pPr>
              <a:spcAft>
                <a:spcPts val="300"/>
              </a:spcAft>
              <a:defRPr sz="1400">
                <a:solidFill>
                  <a:srgbClr val="78DC78"/>
                </a:solidFill>
                <a:latin typeface="Courier New"/>
              </a:defRPr>
            </a:pPr>
            <a:endParaRPr dirty="0"/>
          </a:p>
          <a:p>
            <a:pPr>
              <a:spcAft>
                <a:spcPts val="300"/>
              </a:spcAft>
              <a:defRPr sz="1400">
                <a:solidFill>
                  <a:srgbClr val="78DC78"/>
                </a:solidFill>
                <a:latin typeface="Courier New"/>
              </a:defRPr>
            </a:pPr>
            <a:r>
              <a:rPr dirty="0"/>
              <a:t>    def score(self, query: str) -&gt; </a:t>
            </a:r>
            <a:r>
              <a:rPr dirty="0" err="1"/>
              <a:t>dict</a:t>
            </a:r>
            <a:r>
              <a:rPr dirty="0"/>
              <a:t>[str, float]:</a:t>
            </a:r>
          </a:p>
          <a:p>
            <a:pPr>
              <a:spcAft>
                <a:spcPts val="300"/>
              </a:spcAft>
              <a:defRPr sz="1400">
                <a:solidFill>
                  <a:srgbClr val="78DC78"/>
                </a:solidFill>
                <a:latin typeface="Courier New"/>
              </a:defRPr>
            </a:pPr>
            <a:r>
              <a:rPr dirty="0"/>
              <a:t>        </a:t>
            </a:r>
            <a:r>
              <a:rPr dirty="0" err="1"/>
              <a:t>q_vec</a:t>
            </a:r>
            <a:r>
              <a:rPr dirty="0"/>
              <a:t> = </a:t>
            </a:r>
            <a:r>
              <a:rPr dirty="0" err="1"/>
              <a:t>self.vectorizer.transform</a:t>
            </a:r>
            <a:r>
              <a:rPr dirty="0"/>
              <a:t>([</a:t>
            </a:r>
            <a:r>
              <a:rPr dirty="0" err="1"/>
              <a:t>query.lower</a:t>
            </a:r>
            <a:r>
              <a:rPr dirty="0"/>
              <a:t>()])</a:t>
            </a:r>
          </a:p>
          <a:p>
            <a:pPr>
              <a:spcAft>
                <a:spcPts val="300"/>
              </a:spcAft>
              <a:defRPr sz="1400">
                <a:solidFill>
                  <a:srgbClr val="78DC78"/>
                </a:solidFill>
                <a:latin typeface="Courier New"/>
              </a:defRPr>
            </a:pPr>
            <a:r>
              <a:rPr dirty="0"/>
              <a:t>        scores = (</a:t>
            </a:r>
            <a:r>
              <a:rPr dirty="0" err="1"/>
              <a:t>q_vec</a:t>
            </a:r>
            <a:r>
              <a:rPr dirty="0"/>
              <a:t> @ </a:t>
            </a:r>
            <a:r>
              <a:rPr dirty="0" err="1"/>
              <a:t>self.matrix.T</a:t>
            </a:r>
            <a:r>
              <a:rPr dirty="0"/>
              <a:t>).</a:t>
            </a:r>
            <a:r>
              <a:rPr dirty="0" err="1"/>
              <a:t>toarray</a:t>
            </a:r>
            <a:r>
              <a:rPr dirty="0"/>
              <a:t>().flatten()</a:t>
            </a:r>
          </a:p>
          <a:p>
            <a:pPr>
              <a:spcAft>
                <a:spcPts val="300"/>
              </a:spcAft>
              <a:defRPr sz="1400">
                <a:solidFill>
                  <a:srgbClr val="78DC78"/>
                </a:solidFill>
                <a:latin typeface="Courier New"/>
              </a:defRPr>
            </a:pPr>
            <a:r>
              <a:rPr dirty="0"/>
              <a:t>        # scores[</a:t>
            </a:r>
            <a:r>
              <a:rPr dirty="0" err="1"/>
              <a:t>i</a:t>
            </a:r>
            <a:r>
              <a:rPr dirty="0"/>
              <a:t>] = cosine similarity query vs </a:t>
            </a:r>
            <a:r>
              <a:rPr dirty="0" err="1"/>
              <a:t>gói</a:t>
            </a:r>
            <a:r>
              <a:rPr dirty="0"/>
              <a:t> </a:t>
            </a:r>
            <a:r>
              <a:rPr dirty="0" err="1"/>
              <a:t>thầu</a:t>
            </a:r>
            <a:r>
              <a:rPr dirty="0"/>
              <a:t> </a:t>
            </a:r>
            <a:r>
              <a:rPr dirty="0" err="1"/>
              <a:t>i</a:t>
            </a:r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457200" y="62179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i="1">
                <a:solidFill>
                  <a:srgbClr val="9696C8"/>
                </a:solidFill>
              </a:defRPr>
            </a:pPr>
            <a:r>
              <a:t>Lưu vectorizer + ma trận bằng joblib để reuse không cần retrain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F20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Luồng TF-IDF Trong Hệ Thống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F589339-9890-4B6C-D73F-28A862B01D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36" y="2081202"/>
            <a:ext cx="5862680" cy="269559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30572BF3-A727-FBAC-B4D6-7AC86C4418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7526" y="1813808"/>
            <a:ext cx="6338934" cy="315279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64A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0"/>
            <a:ext cx="11274552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3. Mô Hình 2: Sentence Transformer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F20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paraphrase-multilingual-MiniLM-L12-v2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28016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64A0"/>
                </a:solidFill>
              </a:defRPr>
            </a:pPr>
            <a:r>
              <a:t>Thông số kỹ thuật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73736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14143C"/>
                </a:solidFill>
              </a:defRPr>
            </a:pPr>
            <a:r>
              <a:rPr dirty="0"/>
              <a:t>• </a:t>
            </a:r>
            <a:r>
              <a:rPr dirty="0" err="1"/>
              <a:t>Kiến</a:t>
            </a:r>
            <a:r>
              <a:rPr dirty="0"/>
              <a:t> </a:t>
            </a:r>
            <a:r>
              <a:rPr dirty="0" err="1"/>
              <a:t>trúc</a:t>
            </a:r>
            <a:r>
              <a:rPr dirty="0"/>
              <a:t>: </a:t>
            </a:r>
            <a:r>
              <a:rPr dirty="0" err="1"/>
              <a:t>MiniLM</a:t>
            </a:r>
            <a:r>
              <a:rPr dirty="0"/>
              <a:t> (MiniLingual Model)</a:t>
            </a:r>
          </a:p>
          <a:p>
            <a:pPr>
              <a:spcAft>
                <a:spcPts val="600"/>
              </a:spcAft>
              <a:defRPr sz="1600">
                <a:solidFill>
                  <a:srgbClr val="14143C"/>
                </a:solidFill>
              </a:defRPr>
            </a:pPr>
            <a:r>
              <a:rPr dirty="0"/>
              <a:t>• </a:t>
            </a:r>
            <a:r>
              <a:rPr dirty="0" err="1"/>
              <a:t>Số</a:t>
            </a:r>
            <a:r>
              <a:rPr dirty="0"/>
              <a:t> layers (L): 12</a:t>
            </a:r>
          </a:p>
          <a:p>
            <a:pPr>
              <a:spcAft>
                <a:spcPts val="600"/>
              </a:spcAft>
              <a:defRPr sz="1600">
                <a:solidFill>
                  <a:srgbClr val="14143C"/>
                </a:solidFill>
              </a:defRPr>
            </a:pPr>
            <a:r>
              <a:rPr dirty="0"/>
              <a:t>• Embedding: 384 </a:t>
            </a:r>
            <a:r>
              <a:rPr dirty="0" err="1"/>
              <a:t>chiều</a:t>
            </a:r>
            <a:endParaRPr dirty="0"/>
          </a:p>
          <a:p>
            <a:pPr>
              <a:spcAft>
                <a:spcPts val="600"/>
              </a:spcAft>
              <a:defRPr sz="1600">
                <a:solidFill>
                  <a:srgbClr val="14143C"/>
                </a:solidFill>
              </a:defRPr>
            </a:pPr>
            <a:r>
              <a:rPr dirty="0"/>
              <a:t>• Hidden size: 768</a:t>
            </a:r>
          </a:p>
          <a:p>
            <a:pPr>
              <a:spcAft>
                <a:spcPts val="600"/>
              </a:spcAft>
              <a:defRPr sz="1600">
                <a:solidFill>
                  <a:srgbClr val="14143C"/>
                </a:solidFill>
              </a:defRPr>
            </a:pPr>
            <a:r>
              <a:rPr dirty="0"/>
              <a:t>• Attention heads: 12</a:t>
            </a:r>
          </a:p>
          <a:p>
            <a:pPr>
              <a:spcAft>
                <a:spcPts val="600"/>
              </a:spcAft>
              <a:defRPr sz="1600">
                <a:solidFill>
                  <a:srgbClr val="14143C"/>
                </a:solidFill>
              </a:defRPr>
            </a:pPr>
            <a:r>
              <a:rPr dirty="0"/>
              <a:t>• Params: ~118 </a:t>
            </a:r>
            <a:r>
              <a:rPr dirty="0" err="1"/>
              <a:t>triệu</a:t>
            </a:r>
            <a:endParaRPr dirty="0"/>
          </a:p>
          <a:p>
            <a:pPr>
              <a:spcAft>
                <a:spcPts val="600"/>
              </a:spcAft>
              <a:defRPr sz="1600">
                <a:solidFill>
                  <a:srgbClr val="14143C"/>
                </a:solidFill>
              </a:defRPr>
            </a:pPr>
            <a:r>
              <a:rPr dirty="0"/>
              <a:t>• </a:t>
            </a:r>
            <a:r>
              <a:rPr dirty="0" err="1"/>
              <a:t>Ngôn</a:t>
            </a:r>
            <a:r>
              <a:rPr dirty="0"/>
              <a:t> </a:t>
            </a:r>
            <a:r>
              <a:rPr dirty="0" err="1"/>
              <a:t>ngữ</a:t>
            </a:r>
            <a:r>
              <a:rPr dirty="0"/>
              <a:t>: 50+ (bao </a:t>
            </a:r>
            <a:r>
              <a:rPr dirty="0" err="1"/>
              <a:t>gồm</a:t>
            </a:r>
            <a:r>
              <a:rPr dirty="0"/>
              <a:t> </a:t>
            </a:r>
            <a:r>
              <a:rPr dirty="0" err="1"/>
              <a:t>tiếng</a:t>
            </a:r>
            <a:r>
              <a:rPr dirty="0"/>
              <a:t> Việt)</a:t>
            </a:r>
          </a:p>
          <a:p>
            <a:pPr>
              <a:spcAft>
                <a:spcPts val="600"/>
              </a:spcAft>
              <a:defRPr sz="1600">
                <a:solidFill>
                  <a:srgbClr val="14143C"/>
                </a:solidFill>
              </a:defRPr>
            </a:pPr>
            <a:r>
              <a:rPr dirty="0"/>
              <a:t>• Framework: sentence-transformers (</a:t>
            </a:r>
            <a:r>
              <a:rPr dirty="0" err="1"/>
              <a:t>PyTorch</a:t>
            </a:r>
            <a:r>
              <a:rPr dirty="0"/>
              <a:t>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28016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B43232"/>
                </a:solidFill>
              </a:defRPr>
            </a:pPr>
            <a:r>
              <a:t>Điểm mạnh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73736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14143C"/>
                </a:solidFill>
              </a:defRPr>
            </a:pPr>
            <a:r>
              <a:rPr dirty="0"/>
              <a:t>• Multilingual: </a:t>
            </a:r>
            <a:r>
              <a:rPr dirty="0" err="1"/>
              <a:t>hiểu</a:t>
            </a:r>
            <a:r>
              <a:rPr dirty="0"/>
              <a:t> </a:t>
            </a:r>
            <a:r>
              <a:rPr dirty="0" err="1"/>
              <a:t>tiếng</a:t>
            </a:r>
            <a:r>
              <a:rPr dirty="0"/>
              <a:t> Việt, </a:t>
            </a:r>
            <a:r>
              <a:rPr dirty="0" err="1"/>
              <a:t>không</a:t>
            </a:r>
            <a:r>
              <a:rPr dirty="0"/>
              <a:t> </a:t>
            </a:r>
            <a:r>
              <a:rPr dirty="0" err="1"/>
              <a:t>cần</a:t>
            </a:r>
            <a:r>
              <a:rPr dirty="0"/>
              <a:t> </a:t>
            </a:r>
            <a:r>
              <a:rPr dirty="0" err="1"/>
              <a:t>dịch</a:t>
            </a:r>
            <a:endParaRPr dirty="0"/>
          </a:p>
          <a:p>
            <a:pPr>
              <a:spcAft>
                <a:spcPts val="600"/>
              </a:spcAft>
              <a:defRPr sz="1600">
                <a:solidFill>
                  <a:srgbClr val="14143C"/>
                </a:solidFill>
              </a:defRPr>
            </a:pPr>
            <a:r>
              <a:rPr dirty="0"/>
              <a:t>• Sentence-level: </a:t>
            </a:r>
            <a:r>
              <a:rPr dirty="0" err="1"/>
              <a:t>hiểu</a:t>
            </a:r>
            <a:r>
              <a:rPr dirty="0"/>
              <a:t> </a:t>
            </a:r>
            <a:r>
              <a:rPr dirty="0" err="1"/>
              <a:t>ngữ</a:t>
            </a:r>
            <a:r>
              <a:rPr dirty="0"/>
              <a:t> </a:t>
            </a:r>
            <a:r>
              <a:rPr dirty="0" err="1"/>
              <a:t>cảnh</a:t>
            </a:r>
            <a:r>
              <a:rPr dirty="0"/>
              <a:t> </a:t>
            </a:r>
            <a:r>
              <a:rPr dirty="0" err="1"/>
              <a:t>cả</a:t>
            </a:r>
            <a:r>
              <a:rPr dirty="0"/>
              <a:t> </a:t>
            </a:r>
            <a:r>
              <a:rPr dirty="0" err="1"/>
              <a:t>câu</a:t>
            </a:r>
            <a:r>
              <a:rPr dirty="0"/>
              <a:t>, </a:t>
            </a:r>
            <a:r>
              <a:rPr dirty="0" err="1"/>
              <a:t>không</a:t>
            </a:r>
            <a:r>
              <a:rPr dirty="0"/>
              <a:t> </a:t>
            </a:r>
            <a:r>
              <a:rPr dirty="0" err="1"/>
              <a:t>chỉ</a:t>
            </a:r>
            <a:r>
              <a:rPr dirty="0"/>
              <a:t> </a:t>
            </a:r>
            <a:r>
              <a:rPr dirty="0" err="1"/>
              <a:t>từ</a:t>
            </a:r>
            <a:endParaRPr dirty="0"/>
          </a:p>
          <a:p>
            <a:pPr>
              <a:spcAft>
                <a:spcPts val="600"/>
              </a:spcAft>
              <a:defRPr sz="1600">
                <a:solidFill>
                  <a:srgbClr val="14143C"/>
                </a:solidFill>
              </a:defRPr>
            </a:pPr>
            <a:r>
              <a:rPr dirty="0"/>
              <a:t>• Paraphrase-aware: </a:t>
            </a:r>
            <a:r>
              <a:rPr dirty="0" err="1"/>
              <a:t>câu</a:t>
            </a:r>
            <a:r>
              <a:rPr dirty="0"/>
              <a:t> </a:t>
            </a:r>
            <a:r>
              <a:rPr dirty="0" err="1"/>
              <a:t>cùng</a:t>
            </a:r>
            <a:r>
              <a:rPr dirty="0"/>
              <a:t> </a:t>
            </a:r>
            <a:r>
              <a:rPr dirty="0" err="1"/>
              <a:t>nghĩa</a:t>
            </a:r>
            <a:r>
              <a:rPr dirty="0"/>
              <a:t> → vector </a:t>
            </a:r>
            <a:r>
              <a:rPr dirty="0" err="1"/>
              <a:t>gần</a:t>
            </a:r>
            <a:endParaRPr dirty="0"/>
          </a:p>
          <a:p>
            <a:pPr>
              <a:spcAft>
                <a:spcPts val="600"/>
              </a:spcAft>
              <a:defRPr sz="1600">
                <a:solidFill>
                  <a:srgbClr val="14143C"/>
                </a:solidFill>
              </a:defRPr>
            </a:pPr>
            <a:r>
              <a:rPr dirty="0"/>
              <a:t>• </a:t>
            </a:r>
            <a:r>
              <a:rPr dirty="0" err="1"/>
              <a:t>MiniLM</a:t>
            </a:r>
            <a:r>
              <a:rPr dirty="0"/>
              <a:t>: </a:t>
            </a:r>
            <a:r>
              <a:rPr dirty="0" err="1"/>
              <a:t>nhẹ</a:t>
            </a:r>
            <a:r>
              <a:rPr dirty="0"/>
              <a:t>, </a:t>
            </a:r>
            <a:r>
              <a:rPr dirty="0" err="1"/>
              <a:t>nhanh</a:t>
            </a:r>
            <a:r>
              <a:rPr dirty="0"/>
              <a:t>, </a:t>
            </a:r>
            <a:r>
              <a:rPr dirty="0" err="1"/>
              <a:t>chạy</a:t>
            </a:r>
            <a:r>
              <a:rPr dirty="0"/>
              <a:t> </a:t>
            </a:r>
            <a:r>
              <a:rPr dirty="0" err="1"/>
              <a:t>tốt</a:t>
            </a:r>
            <a:r>
              <a:rPr dirty="0"/>
              <a:t> </a:t>
            </a:r>
            <a:r>
              <a:rPr dirty="0" err="1"/>
              <a:t>trên</a:t>
            </a:r>
            <a:r>
              <a:rPr dirty="0"/>
              <a:t> CPU</a:t>
            </a:r>
          </a:p>
          <a:p>
            <a:pPr>
              <a:spcAft>
                <a:spcPts val="600"/>
              </a:spcAft>
              <a:defRPr sz="1600">
                <a:solidFill>
                  <a:srgbClr val="14143C"/>
                </a:solidFill>
              </a:defRPr>
            </a:pPr>
            <a:r>
              <a:rPr dirty="0"/>
              <a:t>• Pre-trained: </a:t>
            </a:r>
            <a:r>
              <a:rPr dirty="0" err="1"/>
              <a:t>không</a:t>
            </a:r>
            <a:r>
              <a:rPr dirty="0"/>
              <a:t> </a:t>
            </a:r>
            <a:r>
              <a:rPr dirty="0" err="1"/>
              <a:t>cần</a:t>
            </a:r>
            <a:r>
              <a:rPr dirty="0"/>
              <a:t> train </a:t>
            </a:r>
            <a:r>
              <a:rPr dirty="0" err="1"/>
              <a:t>thêm</a:t>
            </a:r>
            <a:r>
              <a:rPr dirty="0"/>
              <a:t> </a:t>
            </a:r>
            <a:r>
              <a:rPr dirty="0" err="1"/>
              <a:t>với</a:t>
            </a:r>
            <a:r>
              <a:rPr dirty="0"/>
              <a:t> data </a:t>
            </a:r>
            <a:r>
              <a:rPr dirty="0" err="1"/>
              <a:t>dự</a:t>
            </a:r>
            <a:r>
              <a:rPr dirty="0"/>
              <a:t> </a:t>
            </a:r>
            <a:r>
              <a:rPr dirty="0" err="1"/>
              <a:t>án</a:t>
            </a:r>
            <a:endParaRPr dirty="0"/>
          </a:p>
          <a:p>
            <a:pPr>
              <a:spcAft>
                <a:spcPts val="600"/>
              </a:spcAft>
              <a:defRPr sz="1600">
                <a:solidFill>
                  <a:srgbClr val="14143C"/>
                </a:solidFill>
              </a:defRPr>
            </a:pPr>
            <a:r>
              <a:rPr dirty="0"/>
              <a:t>• Normalized: embeddings </a:t>
            </a:r>
            <a:r>
              <a:rPr dirty="0" err="1"/>
              <a:t>đã</a:t>
            </a:r>
            <a:r>
              <a:rPr dirty="0"/>
              <a:t> </a:t>
            </a:r>
            <a:r>
              <a:rPr dirty="0" err="1"/>
              <a:t>chuẩn</a:t>
            </a:r>
            <a:r>
              <a:rPr dirty="0"/>
              <a:t> </a:t>
            </a:r>
            <a:r>
              <a:rPr dirty="0" err="1"/>
              <a:t>hoá</a:t>
            </a:r>
            <a:r>
              <a:rPr dirty="0"/>
              <a:t> → cosine sim = dot product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F20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rPr dirty="0" err="1"/>
              <a:t>Ví</a:t>
            </a:r>
            <a:r>
              <a:rPr dirty="0"/>
              <a:t> </a:t>
            </a:r>
            <a:r>
              <a:rPr dirty="0" err="1"/>
              <a:t>Dụ</a:t>
            </a:r>
            <a:r>
              <a:rPr dirty="0"/>
              <a:t>: Semantic vs Lexical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0972800" cy="46679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4143C"/>
                </a:solidFill>
              </a:defRPr>
            </a:pPr>
            <a:r>
              <a:rPr dirty="0"/>
              <a:t>• Query: '</a:t>
            </a:r>
            <a:r>
              <a:rPr dirty="0" err="1"/>
              <a:t>Thi</a:t>
            </a:r>
            <a:r>
              <a:rPr dirty="0"/>
              <a:t> </a:t>
            </a:r>
            <a:r>
              <a:rPr dirty="0" err="1"/>
              <a:t>công</a:t>
            </a:r>
            <a:r>
              <a:rPr dirty="0"/>
              <a:t> </a:t>
            </a:r>
            <a:r>
              <a:rPr dirty="0" err="1"/>
              <a:t>xây</a:t>
            </a:r>
            <a:r>
              <a:rPr dirty="0"/>
              <a:t> </a:t>
            </a:r>
            <a:r>
              <a:rPr dirty="0" err="1"/>
              <a:t>dựng</a:t>
            </a:r>
            <a:r>
              <a:rPr dirty="0"/>
              <a:t> </a:t>
            </a:r>
            <a:r>
              <a:rPr dirty="0" err="1"/>
              <a:t>cầu</a:t>
            </a:r>
            <a:r>
              <a:rPr dirty="0"/>
              <a:t> </a:t>
            </a:r>
            <a:r>
              <a:rPr dirty="0" err="1"/>
              <a:t>đường</a:t>
            </a:r>
            <a:r>
              <a:rPr dirty="0"/>
              <a:t> </a:t>
            </a:r>
            <a:r>
              <a:rPr dirty="0" err="1"/>
              <a:t>bộ</a:t>
            </a:r>
            <a:r>
              <a:rPr dirty="0"/>
              <a:t>'</a:t>
            </a:r>
          </a:p>
          <a:p>
            <a:pPr>
              <a:spcAft>
                <a:spcPts val="400"/>
              </a:spcAft>
              <a:defRPr sz="1600">
                <a:solidFill>
                  <a:srgbClr val="282864"/>
                </a:solidFill>
              </a:defRPr>
            </a:pPr>
            <a:endParaRPr dirty="0"/>
          </a:p>
          <a:p>
            <a:pPr>
              <a:spcAft>
                <a:spcPts val="400"/>
              </a:spcAft>
              <a:defRPr sz="1600">
                <a:solidFill>
                  <a:srgbClr val="282864"/>
                </a:solidFill>
              </a:defRPr>
            </a:pPr>
            <a:r>
              <a:rPr dirty="0"/>
              <a:t>    •   Lexical (TF-IDF)         </a:t>
            </a:r>
            <a:r>
              <a:rPr lang="vi-VN" dirty="0"/>
              <a:t>     </a:t>
            </a:r>
            <a:r>
              <a:rPr dirty="0"/>
              <a:t>     |  Semantic (Sentence-BERT)</a:t>
            </a:r>
          </a:p>
          <a:p>
            <a:pPr>
              <a:spcAft>
                <a:spcPts val="400"/>
              </a:spcAft>
              <a:defRPr sz="1600">
                <a:solidFill>
                  <a:srgbClr val="282864"/>
                </a:solidFill>
              </a:defRPr>
            </a:pPr>
            <a:r>
              <a:rPr dirty="0"/>
              <a:t>       ----------------------------</a:t>
            </a:r>
            <a:r>
              <a:rPr lang="vi-VN" dirty="0"/>
              <a:t>------</a:t>
            </a:r>
            <a:r>
              <a:rPr dirty="0"/>
              <a:t>--|--------------------------------</a:t>
            </a:r>
          </a:p>
          <a:p>
            <a:pPr>
              <a:spcAft>
                <a:spcPts val="400"/>
              </a:spcAft>
              <a:defRPr sz="1600">
                <a:solidFill>
                  <a:srgbClr val="282864"/>
                </a:solidFill>
              </a:defRPr>
            </a:pPr>
            <a:r>
              <a:rPr dirty="0"/>
              <a:t>       ✓ '</a:t>
            </a:r>
            <a:r>
              <a:rPr dirty="0" err="1"/>
              <a:t>thi</a:t>
            </a:r>
            <a:r>
              <a:rPr dirty="0"/>
              <a:t> </a:t>
            </a:r>
            <a:r>
              <a:rPr dirty="0" err="1"/>
              <a:t>công</a:t>
            </a:r>
            <a:r>
              <a:rPr dirty="0"/>
              <a:t> </a:t>
            </a:r>
            <a:r>
              <a:rPr dirty="0" err="1"/>
              <a:t>xây</a:t>
            </a:r>
            <a:r>
              <a:rPr dirty="0"/>
              <a:t> </a:t>
            </a:r>
            <a:r>
              <a:rPr dirty="0" err="1"/>
              <a:t>dựng</a:t>
            </a:r>
            <a:r>
              <a:rPr dirty="0"/>
              <a:t>'     </a:t>
            </a:r>
            <a:r>
              <a:rPr lang="vi-VN" dirty="0"/>
              <a:t>    </a:t>
            </a:r>
            <a:r>
              <a:rPr dirty="0"/>
              <a:t>  |  ✓ '</a:t>
            </a:r>
            <a:r>
              <a:rPr dirty="0" err="1"/>
              <a:t>xây</a:t>
            </a:r>
            <a:r>
              <a:rPr dirty="0"/>
              <a:t> </a:t>
            </a:r>
            <a:r>
              <a:rPr dirty="0" err="1"/>
              <a:t>cầu</a:t>
            </a:r>
            <a:r>
              <a:rPr dirty="0"/>
              <a:t> </a:t>
            </a:r>
            <a:r>
              <a:rPr dirty="0" err="1"/>
              <a:t>giao</a:t>
            </a:r>
            <a:r>
              <a:rPr dirty="0"/>
              <a:t> </a:t>
            </a:r>
            <a:r>
              <a:rPr dirty="0" err="1"/>
              <a:t>thông</a:t>
            </a:r>
            <a:r>
              <a:rPr dirty="0"/>
              <a:t>'</a:t>
            </a:r>
          </a:p>
          <a:p>
            <a:pPr>
              <a:spcAft>
                <a:spcPts val="400"/>
              </a:spcAft>
              <a:defRPr sz="1600">
                <a:solidFill>
                  <a:srgbClr val="282864"/>
                </a:solidFill>
              </a:defRPr>
            </a:pPr>
            <a:r>
              <a:rPr dirty="0"/>
              <a:t>       ✓ '</a:t>
            </a:r>
            <a:r>
              <a:rPr dirty="0" err="1"/>
              <a:t>cầu</a:t>
            </a:r>
            <a:r>
              <a:rPr dirty="0"/>
              <a:t> </a:t>
            </a:r>
            <a:r>
              <a:rPr dirty="0" err="1"/>
              <a:t>đường</a:t>
            </a:r>
            <a:r>
              <a:rPr dirty="0"/>
              <a:t> </a:t>
            </a:r>
            <a:r>
              <a:rPr dirty="0" err="1"/>
              <a:t>bộ</a:t>
            </a:r>
            <a:r>
              <a:rPr dirty="0"/>
              <a:t>'            </a:t>
            </a:r>
            <a:r>
              <a:rPr lang="vi-VN" dirty="0"/>
              <a:t>    </a:t>
            </a:r>
            <a:r>
              <a:rPr dirty="0"/>
              <a:t>  |  ✓ '</a:t>
            </a:r>
            <a:r>
              <a:rPr dirty="0" err="1"/>
              <a:t>thi</a:t>
            </a:r>
            <a:r>
              <a:rPr dirty="0"/>
              <a:t> </a:t>
            </a:r>
            <a:r>
              <a:rPr dirty="0" err="1"/>
              <a:t>công</a:t>
            </a:r>
            <a:r>
              <a:rPr dirty="0"/>
              <a:t> </a:t>
            </a:r>
            <a:r>
              <a:rPr dirty="0" err="1"/>
              <a:t>công</a:t>
            </a:r>
            <a:r>
              <a:rPr dirty="0"/>
              <a:t> </a:t>
            </a:r>
            <a:r>
              <a:rPr dirty="0" err="1"/>
              <a:t>trình</a:t>
            </a:r>
            <a:r>
              <a:rPr dirty="0"/>
              <a:t> GT'</a:t>
            </a:r>
          </a:p>
          <a:p>
            <a:pPr>
              <a:spcAft>
                <a:spcPts val="400"/>
              </a:spcAft>
              <a:defRPr sz="1600">
                <a:solidFill>
                  <a:srgbClr val="282864"/>
                </a:solidFill>
              </a:defRPr>
            </a:pPr>
            <a:r>
              <a:rPr dirty="0"/>
              <a:t>       ? '</a:t>
            </a:r>
            <a:r>
              <a:rPr dirty="0" err="1"/>
              <a:t>xây</a:t>
            </a:r>
            <a:r>
              <a:rPr dirty="0"/>
              <a:t> </a:t>
            </a:r>
            <a:r>
              <a:rPr dirty="0" err="1"/>
              <a:t>cầu</a:t>
            </a:r>
            <a:r>
              <a:rPr dirty="0"/>
              <a:t> </a:t>
            </a:r>
            <a:r>
              <a:rPr dirty="0" err="1"/>
              <a:t>giao</a:t>
            </a:r>
            <a:r>
              <a:rPr dirty="0"/>
              <a:t> </a:t>
            </a:r>
            <a:r>
              <a:rPr dirty="0" err="1"/>
              <a:t>thông</a:t>
            </a:r>
            <a:r>
              <a:rPr dirty="0"/>
              <a:t>'       </a:t>
            </a:r>
            <a:r>
              <a:rPr lang="vi-VN" dirty="0"/>
              <a:t>   </a:t>
            </a:r>
            <a:r>
              <a:rPr dirty="0"/>
              <a:t> |  ✓ '</a:t>
            </a:r>
            <a:r>
              <a:rPr dirty="0" err="1"/>
              <a:t>xây</a:t>
            </a:r>
            <a:r>
              <a:rPr dirty="0"/>
              <a:t> </a:t>
            </a:r>
            <a:r>
              <a:rPr dirty="0" err="1"/>
              <a:t>dựng</a:t>
            </a:r>
            <a:r>
              <a:rPr dirty="0"/>
              <a:t> </a:t>
            </a:r>
            <a:r>
              <a:rPr dirty="0" err="1"/>
              <a:t>hạ</a:t>
            </a:r>
            <a:r>
              <a:rPr dirty="0"/>
              <a:t> </a:t>
            </a:r>
            <a:r>
              <a:rPr dirty="0" err="1"/>
              <a:t>tầng</a:t>
            </a:r>
            <a:r>
              <a:rPr dirty="0"/>
              <a:t>'</a:t>
            </a:r>
          </a:p>
          <a:p>
            <a:pPr>
              <a:spcAft>
                <a:spcPts val="400"/>
              </a:spcAft>
              <a:defRPr sz="1600">
                <a:solidFill>
                  <a:srgbClr val="282864"/>
                </a:solidFill>
              </a:defRPr>
            </a:pPr>
            <a:r>
              <a:rPr dirty="0"/>
              <a:t>   </a:t>
            </a:r>
            <a:r>
              <a:rPr lang="vi-VN" dirty="0"/>
              <a:t> </a:t>
            </a:r>
            <a:r>
              <a:rPr dirty="0"/>
              <a:t>   ? '</a:t>
            </a:r>
            <a:r>
              <a:rPr dirty="0" err="1"/>
              <a:t>hạ</a:t>
            </a:r>
            <a:r>
              <a:rPr dirty="0"/>
              <a:t> </a:t>
            </a:r>
            <a:r>
              <a:rPr dirty="0" err="1"/>
              <a:t>tầng</a:t>
            </a:r>
            <a:r>
              <a:rPr dirty="0"/>
              <a:t> </a:t>
            </a:r>
            <a:r>
              <a:rPr dirty="0" err="1"/>
              <a:t>giao</a:t>
            </a:r>
            <a:r>
              <a:rPr dirty="0"/>
              <a:t> </a:t>
            </a:r>
            <a:r>
              <a:rPr dirty="0" err="1"/>
              <a:t>thông</a:t>
            </a:r>
            <a:r>
              <a:rPr dirty="0"/>
              <a:t>'        </a:t>
            </a:r>
            <a:r>
              <a:rPr lang="vi-VN" dirty="0"/>
              <a:t>   </a:t>
            </a:r>
            <a:r>
              <a:rPr dirty="0"/>
              <a:t>|  ✓ '</a:t>
            </a:r>
            <a:r>
              <a:rPr dirty="0" err="1"/>
              <a:t>xây</a:t>
            </a:r>
            <a:r>
              <a:rPr dirty="0"/>
              <a:t> </a:t>
            </a:r>
            <a:r>
              <a:rPr dirty="0" err="1"/>
              <a:t>dựng</a:t>
            </a:r>
            <a:r>
              <a:rPr dirty="0"/>
              <a:t> </a:t>
            </a:r>
            <a:r>
              <a:rPr dirty="0" err="1"/>
              <a:t>cầu</a:t>
            </a:r>
            <a:r>
              <a:rPr dirty="0"/>
              <a:t>'</a:t>
            </a:r>
          </a:p>
          <a:p>
            <a:pPr>
              <a:spcAft>
                <a:spcPts val="400"/>
              </a:spcAft>
              <a:defRPr sz="1600">
                <a:solidFill>
                  <a:srgbClr val="282864"/>
                </a:solidFill>
              </a:defRPr>
            </a:pPr>
            <a:r>
              <a:rPr dirty="0"/>
              <a:t>       ? '</a:t>
            </a:r>
            <a:r>
              <a:rPr dirty="0" err="1"/>
              <a:t>xây</a:t>
            </a:r>
            <a:r>
              <a:rPr dirty="0"/>
              <a:t> </a:t>
            </a:r>
            <a:r>
              <a:rPr dirty="0" err="1"/>
              <a:t>dựng</a:t>
            </a:r>
            <a:r>
              <a:rPr dirty="0"/>
              <a:t> </a:t>
            </a:r>
            <a:r>
              <a:rPr dirty="0" err="1"/>
              <a:t>công</a:t>
            </a:r>
            <a:r>
              <a:rPr dirty="0"/>
              <a:t> </a:t>
            </a:r>
            <a:r>
              <a:rPr dirty="0" err="1"/>
              <a:t>trình</a:t>
            </a:r>
            <a:r>
              <a:rPr dirty="0"/>
              <a:t> GT'    |  ✓ '</a:t>
            </a:r>
            <a:r>
              <a:rPr dirty="0" err="1"/>
              <a:t>thi</a:t>
            </a:r>
            <a:r>
              <a:rPr dirty="0"/>
              <a:t> </a:t>
            </a:r>
            <a:r>
              <a:rPr dirty="0" err="1"/>
              <a:t>công</a:t>
            </a:r>
            <a:r>
              <a:rPr dirty="0"/>
              <a:t> </a:t>
            </a:r>
            <a:r>
              <a:rPr dirty="0" err="1"/>
              <a:t>đường</a:t>
            </a:r>
            <a:r>
              <a:rPr dirty="0"/>
              <a:t> </a:t>
            </a:r>
            <a:r>
              <a:rPr dirty="0" err="1"/>
              <a:t>bộ</a:t>
            </a:r>
            <a:r>
              <a:rPr dirty="0"/>
              <a:t>'</a:t>
            </a:r>
          </a:p>
          <a:p>
            <a:pPr>
              <a:spcAft>
                <a:spcPts val="400"/>
              </a:spcAft>
              <a:defRPr sz="1600">
                <a:solidFill>
                  <a:srgbClr val="282864"/>
                </a:solidFill>
              </a:defRPr>
            </a:pPr>
            <a:r>
              <a:rPr dirty="0"/>
              <a:t>       --------------------</a:t>
            </a:r>
            <a:r>
              <a:rPr lang="vi-VN" dirty="0"/>
              <a:t>-------</a:t>
            </a:r>
            <a:r>
              <a:rPr dirty="0"/>
              <a:t>----------|--------------------------------</a:t>
            </a:r>
          </a:p>
          <a:p>
            <a:pPr>
              <a:spcAft>
                <a:spcPts val="400"/>
              </a:spcAft>
              <a:defRPr sz="1600">
                <a:solidFill>
                  <a:srgbClr val="282864"/>
                </a:solidFill>
              </a:defRPr>
            </a:pPr>
            <a:r>
              <a:rPr dirty="0"/>
              <a:t>    </a:t>
            </a:r>
            <a:r>
              <a:rPr lang="vi-VN" dirty="0"/>
              <a:t>          </a:t>
            </a:r>
            <a:r>
              <a:rPr dirty="0"/>
              <a:t>   Score: 1.0                     |</a:t>
            </a:r>
            <a:r>
              <a:rPr lang="vi-VN" dirty="0"/>
              <a:t>      </a:t>
            </a:r>
            <a:r>
              <a:rPr dirty="0"/>
              <a:t>  Score: 0.87</a:t>
            </a:r>
          </a:p>
          <a:p>
            <a:pPr>
              <a:spcAft>
                <a:spcPts val="800"/>
              </a:spcAft>
              <a:defRPr sz="1800">
                <a:solidFill>
                  <a:srgbClr val="14143C"/>
                </a:solidFill>
              </a:defRPr>
            </a:pPr>
            <a:r>
              <a:rPr dirty="0"/>
              <a:t>• </a:t>
            </a:r>
            <a:r>
              <a:rPr dirty="0" err="1"/>
              <a:t>Kết</a:t>
            </a:r>
            <a:r>
              <a:rPr dirty="0"/>
              <a:t> </a:t>
            </a:r>
            <a:r>
              <a:rPr dirty="0" err="1"/>
              <a:t>luận</a:t>
            </a:r>
            <a:r>
              <a:rPr dirty="0"/>
              <a:t>:</a:t>
            </a:r>
          </a:p>
          <a:p>
            <a:pPr>
              <a:spcAft>
                <a:spcPts val="400"/>
              </a:spcAft>
              <a:defRPr sz="1600">
                <a:solidFill>
                  <a:srgbClr val="282864"/>
                </a:solidFill>
              </a:defRPr>
            </a:pPr>
            <a:r>
              <a:rPr dirty="0"/>
              <a:t>     Lexical: </a:t>
            </a:r>
            <a:r>
              <a:rPr dirty="0" err="1"/>
              <a:t>chỉ</a:t>
            </a:r>
            <a:r>
              <a:rPr dirty="0"/>
              <a:t> </a:t>
            </a:r>
            <a:r>
              <a:rPr dirty="0" err="1"/>
              <a:t>khớp</a:t>
            </a:r>
            <a:r>
              <a:rPr dirty="0"/>
              <a:t> </a:t>
            </a:r>
            <a:r>
              <a:rPr dirty="0" err="1"/>
              <a:t>từ</a:t>
            </a:r>
            <a:r>
              <a:rPr dirty="0"/>
              <a:t> y </a:t>
            </a:r>
            <a:r>
              <a:rPr dirty="0" err="1"/>
              <a:t>hệt</a:t>
            </a:r>
            <a:r>
              <a:rPr dirty="0"/>
              <a:t>, </a:t>
            </a:r>
            <a:r>
              <a:rPr dirty="0" err="1"/>
              <a:t>bỏ</a:t>
            </a:r>
            <a:r>
              <a:rPr dirty="0"/>
              <a:t> </a:t>
            </a:r>
            <a:r>
              <a:rPr dirty="0" err="1"/>
              <a:t>sót</a:t>
            </a:r>
            <a:r>
              <a:rPr dirty="0"/>
              <a:t> </a:t>
            </a:r>
            <a:r>
              <a:rPr dirty="0" err="1"/>
              <a:t>các</a:t>
            </a:r>
            <a:r>
              <a:rPr dirty="0"/>
              <a:t> </a:t>
            </a:r>
            <a:r>
              <a:rPr dirty="0" err="1"/>
              <a:t>diễn</a:t>
            </a:r>
            <a:r>
              <a:rPr dirty="0"/>
              <a:t> </a:t>
            </a:r>
            <a:r>
              <a:rPr dirty="0" err="1"/>
              <a:t>đạt</a:t>
            </a:r>
            <a:r>
              <a:rPr dirty="0"/>
              <a:t> </a:t>
            </a:r>
            <a:r>
              <a:rPr dirty="0" err="1"/>
              <a:t>khác</a:t>
            </a:r>
            <a:endParaRPr dirty="0"/>
          </a:p>
          <a:p>
            <a:pPr>
              <a:spcAft>
                <a:spcPts val="400"/>
              </a:spcAft>
              <a:defRPr sz="1600">
                <a:solidFill>
                  <a:srgbClr val="282864"/>
                </a:solidFill>
              </a:defRPr>
            </a:pPr>
            <a:r>
              <a:rPr dirty="0"/>
              <a:t>     Semantic: </a:t>
            </a:r>
            <a:r>
              <a:rPr dirty="0" err="1"/>
              <a:t>hiểu</a:t>
            </a:r>
            <a:r>
              <a:rPr dirty="0"/>
              <a:t> </a:t>
            </a:r>
            <a:r>
              <a:rPr dirty="0" err="1"/>
              <a:t>ngữ</a:t>
            </a:r>
            <a:r>
              <a:rPr dirty="0"/>
              <a:t> </a:t>
            </a:r>
            <a:r>
              <a:rPr dirty="0" err="1"/>
              <a:t>nghĩa</a:t>
            </a:r>
            <a:r>
              <a:rPr dirty="0"/>
              <a:t>, </a:t>
            </a:r>
            <a:r>
              <a:rPr dirty="0" err="1"/>
              <a:t>diễn</a:t>
            </a:r>
            <a:r>
              <a:rPr dirty="0"/>
              <a:t> </a:t>
            </a:r>
            <a:r>
              <a:rPr dirty="0" err="1"/>
              <a:t>đạt</a:t>
            </a:r>
            <a:r>
              <a:rPr dirty="0"/>
              <a:t> </a:t>
            </a:r>
            <a:r>
              <a:rPr dirty="0" err="1"/>
              <a:t>khác</a:t>
            </a:r>
            <a:r>
              <a:rPr dirty="0"/>
              <a:t> </a:t>
            </a:r>
            <a:r>
              <a:rPr dirty="0" err="1"/>
              <a:t>nhưng</a:t>
            </a:r>
            <a:r>
              <a:rPr dirty="0"/>
              <a:t> </a:t>
            </a:r>
            <a:r>
              <a:rPr dirty="0" err="1"/>
              <a:t>cùng</a:t>
            </a:r>
            <a:r>
              <a:rPr dirty="0"/>
              <a:t> ý </a:t>
            </a:r>
            <a:r>
              <a:rPr dirty="0" err="1"/>
              <a:t>vẫn</a:t>
            </a:r>
            <a:r>
              <a:rPr dirty="0"/>
              <a:t> </a:t>
            </a:r>
            <a:r>
              <a:rPr dirty="0" err="1"/>
              <a:t>ra</a:t>
            </a:r>
            <a:r>
              <a:rPr dirty="0"/>
              <a:t> </a:t>
            </a:r>
            <a:r>
              <a:rPr dirty="0" err="1"/>
              <a:t>điểm</a:t>
            </a:r>
            <a:r>
              <a:rPr dirty="0"/>
              <a:t> </a:t>
            </a:r>
            <a:r>
              <a:rPr dirty="0" err="1"/>
              <a:t>cao</a:t>
            </a:r>
            <a:endParaRPr dirty="0"/>
          </a:p>
          <a:p>
            <a:pPr>
              <a:spcAft>
                <a:spcPts val="400"/>
              </a:spcAft>
              <a:defRPr sz="1600">
                <a:solidFill>
                  <a:srgbClr val="282864"/>
                </a:solidFill>
              </a:defRPr>
            </a:pPr>
            <a:r>
              <a:rPr dirty="0"/>
              <a:t>     </a:t>
            </a:r>
            <a:r>
              <a:rPr dirty="0" err="1"/>
              <a:t>Kết</a:t>
            </a:r>
            <a:r>
              <a:rPr dirty="0"/>
              <a:t> </a:t>
            </a:r>
            <a:r>
              <a:rPr dirty="0" err="1"/>
              <a:t>hợp</a:t>
            </a:r>
            <a:r>
              <a:rPr dirty="0"/>
              <a:t> </a:t>
            </a:r>
            <a:r>
              <a:rPr dirty="0" err="1"/>
              <a:t>cả</a:t>
            </a:r>
            <a:r>
              <a:rPr dirty="0"/>
              <a:t> 2: </a:t>
            </a:r>
            <a:r>
              <a:rPr dirty="0" err="1"/>
              <a:t>vừa</a:t>
            </a:r>
            <a:r>
              <a:rPr dirty="0"/>
              <a:t> </a:t>
            </a:r>
            <a:r>
              <a:rPr dirty="0" err="1"/>
              <a:t>khớp</a:t>
            </a:r>
            <a:r>
              <a:rPr dirty="0"/>
              <a:t> </a:t>
            </a:r>
            <a:r>
              <a:rPr dirty="0" err="1"/>
              <a:t>từ</a:t>
            </a:r>
            <a:r>
              <a:rPr dirty="0"/>
              <a:t> </a:t>
            </a:r>
            <a:r>
              <a:rPr dirty="0" err="1"/>
              <a:t>chính</a:t>
            </a:r>
            <a:r>
              <a:rPr dirty="0"/>
              <a:t> </a:t>
            </a:r>
            <a:r>
              <a:rPr dirty="0" err="1"/>
              <a:t>xác</a:t>
            </a:r>
            <a:r>
              <a:rPr dirty="0"/>
              <a:t>, </a:t>
            </a:r>
            <a:r>
              <a:rPr dirty="0" err="1"/>
              <a:t>vừa</a:t>
            </a:r>
            <a:r>
              <a:rPr dirty="0"/>
              <a:t> </a:t>
            </a:r>
            <a:r>
              <a:rPr dirty="0" err="1"/>
              <a:t>hiểu</a:t>
            </a:r>
            <a:r>
              <a:rPr dirty="0"/>
              <a:t> </a:t>
            </a:r>
            <a:r>
              <a:rPr dirty="0" err="1"/>
              <a:t>ngữ</a:t>
            </a:r>
            <a:r>
              <a:rPr dirty="0"/>
              <a:t> </a:t>
            </a:r>
            <a:r>
              <a:rPr dirty="0" err="1"/>
              <a:t>cảnh</a:t>
            </a:r>
            <a:endParaRPr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F20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Cấu Hình Sentence Transformer Trong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0972800" cy="4616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4143C"/>
                </a:solidFill>
              </a:defRPr>
            </a:pPr>
            <a:r>
              <a:rPr dirty="0"/>
              <a:t>• File: `</a:t>
            </a:r>
            <a:r>
              <a:rPr dirty="0" err="1"/>
              <a:t>src</a:t>
            </a:r>
            <a:r>
              <a:rPr dirty="0"/>
              <a:t>/ranking/semantic.py`</a:t>
            </a:r>
          </a:p>
          <a:p>
            <a:pPr>
              <a:spcAft>
                <a:spcPts val="400"/>
              </a:spcAft>
              <a:defRPr sz="1600">
                <a:solidFill>
                  <a:srgbClr val="282864"/>
                </a:solidFill>
              </a:defRPr>
            </a:pPr>
            <a:r>
              <a:rPr dirty="0"/>
              <a:t>     </a:t>
            </a:r>
            <a:r>
              <a:rPr dirty="0" err="1"/>
              <a:t>Dùng</a:t>
            </a:r>
            <a:r>
              <a:rPr dirty="0"/>
              <a:t> </a:t>
            </a:r>
            <a:r>
              <a:rPr dirty="0" err="1"/>
              <a:t>SentenceTransformer</a:t>
            </a:r>
            <a:r>
              <a:rPr dirty="0"/>
              <a:t> </a:t>
            </a:r>
            <a:r>
              <a:rPr dirty="0" err="1"/>
              <a:t>từ</a:t>
            </a:r>
            <a:r>
              <a:rPr dirty="0"/>
              <a:t> sentence-transformers</a:t>
            </a:r>
          </a:p>
          <a:p>
            <a:pPr>
              <a:spcAft>
                <a:spcPts val="800"/>
              </a:spcAft>
              <a:defRPr sz="1800">
                <a:solidFill>
                  <a:srgbClr val="14143C"/>
                </a:solidFill>
              </a:defRPr>
            </a:pPr>
            <a:r>
              <a:rPr dirty="0"/>
              <a:t>• Model: `paraphrase-multilingual-MiniLM-L12-v2`</a:t>
            </a:r>
          </a:p>
          <a:p>
            <a:pPr>
              <a:spcAft>
                <a:spcPts val="400"/>
              </a:spcAft>
              <a:defRPr sz="1600">
                <a:solidFill>
                  <a:srgbClr val="282864"/>
                </a:solidFill>
              </a:defRPr>
            </a:pPr>
            <a:r>
              <a:rPr dirty="0"/>
              <a:t>     Default </a:t>
            </a:r>
            <a:r>
              <a:rPr dirty="0" err="1"/>
              <a:t>trong</a:t>
            </a:r>
            <a:r>
              <a:rPr dirty="0"/>
              <a:t> settings: DAUTHAU_SEMANTIC_MODEL_NAME</a:t>
            </a:r>
          </a:p>
          <a:p>
            <a:pPr>
              <a:spcAft>
                <a:spcPts val="400"/>
              </a:spcAft>
              <a:defRPr sz="1600">
                <a:solidFill>
                  <a:srgbClr val="282864"/>
                </a:solidFill>
              </a:defRPr>
            </a:pPr>
            <a:r>
              <a:rPr dirty="0"/>
              <a:t>     </a:t>
            </a:r>
            <a:r>
              <a:rPr dirty="0" err="1"/>
              <a:t>Có</a:t>
            </a:r>
            <a:r>
              <a:rPr dirty="0"/>
              <a:t> </a:t>
            </a:r>
            <a:r>
              <a:rPr dirty="0" err="1"/>
              <a:t>thể</a:t>
            </a:r>
            <a:r>
              <a:rPr dirty="0"/>
              <a:t> </a:t>
            </a:r>
            <a:r>
              <a:rPr dirty="0" err="1"/>
              <a:t>đổi</a:t>
            </a:r>
            <a:r>
              <a:rPr dirty="0"/>
              <a:t> model </a:t>
            </a:r>
            <a:r>
              <a:rPr dirty="0" err="1"/>
              <a:t>khác</a:t>
            </a:r>
            <a:r>
              <a:rPr dirty="0"/>
              <a:t> qua </a:t>
            </a:r>
            <a:r>
              <a:rPr dirty="0" err="1"/>
              <a:t>biến</a:t>
            </a:r>
            <a:r>
              <a:rPr dirty="0"/>
              <a:t> </a:t>
            </a:r>
            <a:r>
              <a:rPr dirty="0" err="1"/>
              <a:t>môi</a:t>
            </a:r>
            <a:r>
              <a:rPr dirty="0"/>
              <a:t> </a:t>
            </a:r>
            <a:r>
              <a:rPr dirty="0" err="1"/>
              <a:t>trường</a:t>
            </a:r>
            <a:endParaRPr dirty="0"/>
          </a:p>
          <a:p>
            <a:pPr>
              <a:spcAft>
                <a:spcPts val="800"/>
              </a:spcAft>
              <a:defRPr sz="1800">
                <a:solidFill>
                  <a:srgbClr val="14143C"/>
                </a:solidFill>
              </a:defRPr>
            </a:pPr>
            <a:r>
              <a:rPr dirty="0"/>
              <a:t>• </a:t>
            </a:r>
            <a:r>
              <a:rPr dirty="0" err="1"/>
              <a:t>Cấu</a:t>
            </a:r>
            <a:r>
              <a:rPr dirty="0"/>
              <a:t> </a:t>
            </a:r>
            <a:r>
              <a:rPr dirty="0" err="1"/>
              <a:t>hình</a:t>
            </a:r>
            <a:r>
              <a:rPr dirty="0"/>
              <a:t> encode:</a:t>
            </a:r>
          </a:p>
          <a:p>
            <a:pPr>
              <a:spcAft>
                <a:spcPts val="400"/>
              </a:spcAft>
              <a:defRPr sz="1600">
                <a:solidFill>
                  <a:srgbClr val="282864"/>
                </a:solidFill>
              </a:defRPr>
            </a:pPr>
            <a:r>
              <a:rPr dirty="0"/>
              <a:t>     </a:t>
            </a:r>
            <a:r>
              <a:rPr dirty="0" err="1"/>
              <a:t>batch_size</a:t>
            </a:r>
            <a:r>
              <a:rPr dirty="0"/>
              <a:t>=256  →  encode 256 </a:t>
            </a:r>
            <a:r>
              <a:rPr dirty="0" err="1"/>
              <a:t>gói</a:t>
            </a:r>
            <a:r>
              <a:rPr dirty="0"/>
              <a:t> </a:t>
            </a:r>
            <a:r>
              <a:rPr dirty="0" err="1"/>
              <a:t>thầu</a:t>
            </a:r>
            <a:r>
              <a:rPr dirty="0"/>
              <a:t>/</a:t>
            </a:r>
            <a:r>
              <a:rPr dirty="0" err="1"/>
              <a:t>lần</a:t>
            </a:r>
            <a:r>
              <a:rPr dirty="0"/>
              <a:t> (</a:t>
            </a:r>
            <a:r>
              <a:rPr dirty="0" err="1"/>
              <a:t>tiết</a:t>
            </a:r>
            <a:r>
              <a:rPr dirty="0"/>
              <a:t> </a:t>
            </a:r>
            <a:r>
              <a:rPr dirty="0" err="1"/>
              <a:t>kiệm</a:t>
            </a:r>
            <a:r>
              <a:rPr dirty="0"/>
              <a:t> memory)</a:t>
            </a:r>
          </a:p>
          <a:p>
            <a:pPr>
              <a:spcAft>
                <a:spcPts val="400"/>
              </a:spcAft>
              <a:defRPr sz="1600">
                <a:solidFill>
                  <a:srgbClr val="282864"/>
                </a:solidFill>
              </a:defRPr>
            </a:pPr>
            <a:r>
              <a:rPr dirty="0"/>
              <a:t>     </a:t>
            </a:r>
            <a:r>
              <a:rPr dirty="0" err="1"/>
              <a:t>normalize_embeddings</a:t>
            </a:r>
            <a:r>
              <a:rPr dirty="0"/>
              <a:t>=True  →  L2 normalized → cosine sim = dot product</a:t>
            </a:r>
          </a:p>
          <a:p>
            <a:pPr>
              <a:spcAft>
                <a:spcPts val="400"/>
              </a:spcAft>
              <a:defRPr sz="1600">
                <a:solidFill>
                  <a:srgbClr val="282864"/>
                </a:solidFill>
              </a:defRPr>
            </a:pPr>
            <a:r>
              <a:rPr dirty="0"/>
              <a:t>     </a:t>
            </a:r>
            <a:r>
              <a:rPr dirty="0" err="1"/>
              <a:t>show_progress_bar</a:t>
            </a:r>
            <a:r>
              <a:rPr dirty="0"/>
              <a:t>=True  →  </a:t>
            </a:r>
            <a:r>
              <a:rPr dirty="0" err="1"/>
              <a:t>theo</a:t>
            </a:r>
            <a:r>
              <a:rPr dirty="0"/>
              <a:t> </a:t>
            </a:r>
            <a:r>
              <a:rPr dirty="0" err="1"/>
              <a:t>dõi</a:t>
            </a:r>
            <a:r>
              <a:rPr dirty="0"/>
              <a:t> </a:t>
            </a:r>
            <a:r>
              <a:rPr dirty="0" err="1"/>
              <a:t>tiến</a:t>
            </a:r>
            <a:r>
              <a:rPr dirty="0"/>
              <a:t> </a:t>
            </a:r>
            <a:r>
              <a:rPr dirty="0" err="1"/>
              <a:t>trình</a:t>
            </a:r>
            <a:r>
              <a:rPr dirty="0"/>
              <a:t> </a:t>
            </a:r>
            <a:r>
              <a:rPr dirty="0" err="1"/>
              <a:t>khi</a:t>
            </a:r>
            <a:r>
              <a:rPr dirty="0"/>
              <a:t> encode </a:t>
            </a:r>
            <a:r>
              <a:rPr dirty="0" err="1"/>
              <a:t>nhiều</a:t>
            </a:r>
            <a:endParaRPr dirty="0"/>
          </a:p>
          <a:p>
            <a:pPr>
              <a:spcAft>
                <a:spcPts val="800"/>
              </a:spcAft>
              <a:defRPr sz="1800">
                <a:solidFill>
                  <a:srgbClr val="14143C"/>
                </a:solidFill>
              </a:defRPr>
            </a:pPr>
            <a:r>
              <a:rPr dirty="0"/>
              <a:t>• Input: `</a:t>
            </a:r>
            <a:r>
              <a:rPr dirty="0" err="1"/>
              <a:t>tender_text</a:t>
            </a:r>
            <a:r>
              <a:rPr dirty="0"/>
              <a:t>`</a:t>
            </a:r>
          </a:p>
          <a:p>
            <a:pPr>
              <a:spcAft>
                <a:spcPts val="400"/>
              </a:spcAft>
              <a:defRPr sz="1600">
                <a:solidFill>
                  <a:srgbClr val="282864"/>
                </a:solidFill>
              </a:defRPr>
            </a:pPr>
            <a:r>
              <a:rPr dirty="0"/>
              <a:t>     Text </a:t>
            </a:r>
            <a:r>
              <a:rPr dirty="0" err="1"/>
              <a:t>gói</a:t>
            </a:r>
            <a:r>
              <a:rPr dirty="0"/>
              <a:t> </a:t>
            </a:r>
            <a:r>
              <a:rPr dirty="0" err="1"/>
              <a:t>thầu</a:t>
            </a:r>
            <a:r>
              <a:rPr dirty="0"/>
              <a:t> (</a:t>
            </a:r>
            <a:r>
              <a:rPr dirty="0" err="1"/>
              <a:t>giữ</a:t>
            </a:r>
            <a:r>
              <a:rPr dirty="0"/>
              <a:t> </a:t>
            </a:r>
            <a:r>
              <a:rPr dirty="0" err="1"/>
              <a:t>dấu</a:t>
            </a:r>
            <a:r>
              <a:rPr dirty="0"/>
              <a:t> </a:t>
            </a:r>
            <a:r>
              <a:rPr dirty="0" err="1"/>
              <a:t>tiếng</a:t>
            </a:r>
            <a:r>
              <a:rPr dirty="0"/>
              <a:t> Việt - multilingual model </a:t>
            </a:r>
            <a:r>
              <a:rPr dirty="0" err="1"/>
              <a:t>hiểu</a:t>
            </a:r>
            <a:r>
              <a:rPr dirty="0"/>
              <a:t>)</a:t>
            </a:r>
          </a:p>
          <a:p>
            <a:pPr>
              <a:spcAft>
                <a:spcPts val="800"/>
              </a:spcAft>
              <a:defRPr sz="1800">
                <a:solidFill>
                  <a:srgbClr val="14143C"/>
                </a:solidFill>
              </a:defRPr>
            </a:pPr>
            <a:r>
              <a:rPr dirty="0"/>
              <a:t>• Output: Ma </a:t>
            </a:r>
            <a:r>
              <a:rPr dirty="0" err="1"/>
              <a:t>trận</a:t>
            </a:r>
            <a:r>
              <a:rPr dirty="0"/>
              <a:t> embedding</a:t>
            </a:r>
          </a:p>
          <a:p>
            <a:pPr>
              <a:spcAft>
                <a:spcPts val="400"/>
              </a:spcAft>
              <a:defRPr sz="1600">
                <a:solidFill>
                  <a:srgbClr val="282864"/>
                </a:solidFill>
              </a:defRPr>
            </a:pPr>
            <a:r>
              <a:rPr dirty="0"/>
              <a:t>     Shape: (</a:t>
            </a:r>
            <a:r>
              <a:rPr dirty="0" err="1"/>
              <a:t>số</a:t>
            </a:r>
            <a:r>
              <a:rPr dirty="0"/>
              <a:t> </a:t>
            </a:r>
            <a:r>
              <a:rPr dirty="0" err="1"/>
              <a:t>gói</a:t>
            </a:r>
            <a:r>
              <a:rPr dirty="0"/>
              <a:t> </a:t>
            </a:r>
            <a:r>
              <a:rPr dirty="0" err="1"/>
              <a:t>thầu</a:t>
            </a:r>
            <a:r>
              <a:rPr dirty="0"/>
              <a:t>, 384)</a:t>
            </a:r>
          </a:p>
          <a:p>
            <a:pPr>
              <a:spcAft>
                <a:spcPts val="400"/>
              </a:spcAft>
              <a:defRPr sz="1600">
                <a:solidFill>
                  <a:srgbClr val="282864"/>
                </a:solidFill>
              </a:defRPr>
            </a:pPr>
            <a:r>
              <a:rPr dirty="0"/>
              <a:t>     Lưu: artifacts/</a:t>
            </a:r>
            <a:r>
              <a:rPr dirty="0" err="1"/>
              <a:t>semantic_index.joblib</a:t>
            </a:r>
            <a:endParaRPr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064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Code: Sentence Transformer Trong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05840"/>
            <a:ext cx="11612880" cy="51860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400">
                <a:solidFill>
                  <a:srgbClr val="78DC78"/>
                </a:solidFill>
                <a:latin typeface="Courier New"/>
              </a:defRPr>
            </a:pPr>
            <a:r>
              <a:rPr sz="1200" dirty="0"/>
              <a:t>class </a:t>
            </a:r>
            <a:r>
              <a:rPr sz="1200" dirty="0" err="1"/>
              <a:t>SemanticIndexer</a:t>
            </a:r>
            <a:r>
              <a:rPr sz="1200" dirty="0"/>
              <a:t>:</a:t>
            </a:r>
          </a:p>
          <a:p>
            <a:pPr>
              <a:spcAft>
                <a:spcPts val="300"/>
              </a:spcAft>
              <a:defRPr sz="1400">
                <a:solidFill>
                  <a:srgbClr val="78DC78"/>
                </a:solidFill>
                <a:latin typeface="Courier New"/>
              </a:defRPr>
            </a:pPr>
            <a:r>
              <a:rPr sz="1200" dirty="0"/>
              <a:t>    @classmethod</a:t>
            </a:r>
          </a:p>
          <a:p>
            <a:pPr>
              <a:spcAft>
                <a:spcPts val="300"/>
              </a:spcAft>
              <a:defRPr sz="1400">
                <a:solidFill>
                  <a:srgbClr val="78DC78"/>
                </a:solidFill>
                <a:latin typeface="Courier New"/>
              </a:defRPr>
            </a:pPr>
            <a:r>
              <a:rPr sz="1200" dirty="0"/>
              <a:t>    def build(</a:t>
            </a:r>
            <a:r>
              <a:rPr sz="1200" dirty="0" err="1"/>
              <a:t>cls</a:t>
            </a:r>
            <a:r>
              <a:rPr sz="1200" dirty="0"/>
              <a:t>, </a:t>
            </a:r>
            <a:r>
              <a:rPr sz="1200" dirty="0" err="1"/>
              <a:t>tender_df</a:t>
            </a:r>
            <a:r>
              <a:rPr sz="1200" dirty="0"/>
              <a:t>, </a:t>
            </a:r>
            <a:r>
              <a:rPr sz="1200" dirty="0" err="1"/>
              <a:t>model_name</a:t>
            </a:r>
            <a:r>
              <a:rPr sz="1200" dirty="0"/>
              <a:t>="paraphrase-multilingual-MiniLM-L12-v2"):</a:t>
            </a:r>
          </a:p>
          <a:p>
            <a:pPr>
              <a:spcAft>
                <a:spcPts val="300"/>
              </a:spcAft>
              <a:defRPr sz="1400">
                <a:solidFill>
                  <a:srgbClr val="78DC78"/>
                </a:solidFill>
                <a:latin typeface="Courier New"/>
              </a:defRPr>
            </a:pPr>
            <a:r>
              <a:rPr sz="1200" dirty="0"/>
              <a:t>        from </a:t>
            </a:r>
            <a:r>
              <a:rPr sz="1200" dirty="0" err="1"/>
              <a:t>sentence_transformers</a:t>
            </a:r>
            <a:r>
              <a:rPr sz="1200" dirty="0"/>
              <a:t> import </a:t>
            </a:r>
            <a:r>
              <a:rPr sz="1200" dirty="0" err="1"/>
              <a:t>SentenceTransformer</a:t>
            </a:r>
            <a:endParaRPr sz="1200" dirty="0"/>
          </a:p>
          <a:p>
            <a:pPr>
              <a:spcAft>
                <a:spcPts val="300"/>
              </a:spcAft>
              <a:defRPr sz="1400">
                <a:solidFill>
                  <a:srgbClr val="78DC78"/>
                </a:solidFill>
                <a:latin typeface="Courier New"/>
              </a:defRPr>
            </a:pPr>
            <a:endParaRPr sz="1200" dirty="0"/>
          </a:p>
          <a:p>
            <a:pPr>
              <a:spcAft>
                <a:spcPts val="300"/>
              </a:spcAft>
              <a:defRPr sz="1400">
                <a:solidFill>
                  <a:srgbClr val="78DC78"/>
                </a:solidFill>
                <a:latin typeface="Courier New"/>
              </a:defRPr>
            </a:pPr>
            <a:r>
              <a:rPr sz="1200" dirty="0"/>
              <a:t>        texts = </a:t>
            </a:r>
            <a:r>
              <a:rPr sz="1200" dirty="0" err="1"/>
              <a:t>tender_df</a:t>
            </a:r>
            <a:r>
              <a:rPr sz="1200" dirty="0"/>
              <a:t>['</a:t>
            </a:r>
            <a:r>
              <a:rPr sz="1200" dirty="0" err="1"/>
              <a:t>tender_text</a:t>
            </a:r>
            <a:r>
              <a:rPr sz="1200" dirty="0"/>
              <a:t>'].</a:t>
            </a:r>
            <a:r>
              <a:rPr sz="1200" dirty="0" err="1"/>
              <a:t>fillna</a:t>
            </a:r>
            <a:r>
              <a:rPr sz="1200" dirty="0"/>
              <a:t>('').</a:t>
            </a:r>
            <a:r>
              <a:rPr sz="1200" dirty="0" err="1"/>
              <a:t>tolist</a:t>
            </a:r>
            <a:r>
              <a:rPr sz="1200" dirty="0"/>
              <a:t>()</a:t>
            </a:r>
          </a:p>
          <a:p>
            <a:pPr>
              <a:spcAft>
                <a:spcPts val="300"/>
              </a:spcAft>
              <a:defRPr sz="1400">
                <a:solidFill>
                  <a:srgbClr val="78DC78"/>
                </a:solidFill>
                <a:latin typeface="Courier New"/>
              </a:defRPr>
            </a:pPr>
            <a:r>
              <a:rPr sz="1200" dirty="0"/>
              <a:t>        </a:t>
            </a:r>
            <a:r>
              <a:rPr sz="1200" dirty="0" err="1"/>
              <a:t>tender_ids</a:t>
            </a:r>
            <a:r>
              <a:rPr sz="1200" dirty="0"/>
              <a:t> = </a:t>
            </a:r>
            <a:r>
              <a:rPr sz="1200" dirty="0" err="1"/>
              <a:t>tender_df</a:t>
            </a:r>
            <a:r>
              <a:rPr sz="1200" dirty="0"/>
              <a:t>['</a:t>
            </a:r>
            <a:r>
              <a:rPr sz="1200" dirty="0" err="1"/>
              <a:t>bidonotifycontractormnotifyno</a:t>
            </a:r>
            <a:r>
              <a:rPr sz="1200" dirty="0"/>
              <a:t>'].</a:t>
            </a:r>
            <a:r>
              <a:rPr sz="1200" dirty="0" err="1"/>
              <a:t>tolist</a:t>
            </a:r>
            <a:r>
              <a:rPr sz="1200" dirty="0"/>
              <a:t>()</a:t>
            </a:r>
          </a:p>
          <a:p>
            <a:pPr>
              <a:spcAft>
                <a:spcPts val="300"/>
              </a:spcAft>
              <a:defRPr sz="1400">
                <a:solidFill>
                  <a:srgbClr val="78DC78"/>
                </a:solidFill>
                <a:latin typeface="Courier New"/>
              </a:defRPr>
            </a:pPr>
            <a:endParaRPr sz="1200" dirty="0"/>
          </a:p>
          <a:p>
            <a:pPr>
              <a:spcAft>
                <a:spcPts val="300"/>
              </a:spcAft>
              <a:defRPr sz="1400">
                <a:solidFill>
                  <a:srgbClr val="78DC78"/>
                </a:solidFill>
                <a:latin typeface="Courier New"/>
              </a:defRPr>
            </a:pPr>
            <a:r>
              <a:rPr sz="1200" dirty="0"/>
              <a:t>        print(f'[Semantic] Loading model: {</a:t>
            </a:r>
            <a:r>
              <a:rPr sz="1200" dirty="0" err="1"/>
              <a:t>model_name</a:t>
            </a:r>
            <a:r>
              <a:rPr sz="1200" dirty="0"/>
              <a:t>}')</a:t>
            </a:r>
          </a:p>
          <a:p>
            <a:pPr>
              <a:spcAft>
                <a:spcPts val="300"/>
              </a:spcAft>
              <a:defRPr sz="1400">
                <a:solidFill>
                  <a:srgbClr val="78DC78"/>
                </a:solidFill>
                <a:latin typeface="Courier New"/>
              </a:defRPr>
            </a:pPr>
            <a:r>
              <a:rPr sz="1200" dirty="0"/>
              <a:t>        model = </a:t>
            </a:r>
            <a:r>
              <a:rPr sz="1200" dirty="0" err="1"/>
              <a:t>SentenceTransformer</a:t>
            </a:r>
            <a:r>
              <a:rPr sz="1200" dirty="0"/>
              <a:t>(</a:t>
            </a:r>
            <a:r>
              <a:rPr sz="1200" dirty="0" err="1"/>
              <a:t>model_name</a:t>
            </a:r>
            <a:r>
              <a:rPr sz="1200" dirty="0"/>
              <a:t>)</a:t>
            </a:r>
          </a:p>
          <a:p>
            <a:pPr>
              <a:spcAft>
                <a:spcPts val="300"/>
              </a:spcAft>
              <a:defRPr sz="1400">
                <a:solidFill>
                  <a:srgbClr val="78DC78"/>
                </a:solidFill>
                <a:latin typeface="Courier New"/>
              </a:defRPr>
            </a:pPr>
            <a:r>
              <a:rPr sz="1200" dirty="0"/>
              <a:t>        print(f'[Semantic] Encoding {</a:t>
            </a:r>
            <a:r>
              <a:rPr sz="1200" dirty="0" err="1"/>
              <a:t>len</a:t>
            </a:r>
            <a:r>
              <a:rPr sz="1200" dirty="0"/>
              <a:t>(texts)} tenders...')</a:t>
            </a:r>
          </a:p>
          <a:p>
            <a:pPr>
              <a:spcAft>
                <a:spcPts val="300"/>
              </a:spcAft>
              <a:defRPr sz="1400">
                <a:solidFill>
                  <a:srgbClr val="78DC78"/>
                </a:solidFill>
                <a:latin typeface="Courier New"/>
              </a:defRPr>
            </a:pPr>
            <a:r>
              <a:rPr sz="1200" dirty="0"/>
              <a:t>        embeddings = </a:t>
            </a:r>
            <a:r>
              <a:rPr sz="1200" dirty="0" err="1"/>
              <a:t>model.encode</a:t>
            </a:r>
            <a:r>
              <a:rPr sz="1200" dirty="0"/>
              <a:t>(</a:t>
            </a:r>
          </a:p>
          <a:p>
            <a:pPr>
              <a:spcAft>
                <a:spcPts val="300"/>
              </a:spcAft>
              <a:defRPr sz="1400">
                <a:solidFill>
                  <a:srgbClr val="78DC78"/>
                </a:solidFill>
                <a:latin typeface="Courier New"/>
              </a:defRPr>
            </a:pPr>
            <a:r>
              <a:rPr sz="1200" dirty="0"/>
              <a:t>            texts,</a:t>
            </a:r>
          </a:p>
          <a:p>
            <a:pPr>
              <a:spcAft>
                <a:spcPts val="300"/>
              </a:spcAft>
              <a:defRPr sz="1400">
                <a:solidFill>
                  <a:srgbClr val="78DC78"/>
                </a:solidFill>
                <a:latin typeface="Courier New"/>
              </a:defRPr>
            </a:pPr>
            <a:r>
              <a:rPr sz="1200" dirty="0"/>
              <a:t>            </a:t>
            </a:r>
            <a:r>
              <a:rPr sz="1200" dirty="0" err="1"/>
              <a:t>batch_size</a:t>
            </a:r>
            <a:r>
              <a:rPr sz="1200" dirty="0"/>
              <a:t>=256,</a:t>
            </a:r>
          </a:p>
          <a:p>
            <a:pPr>
              <a:spcAft>
                <a:spcPts val="300"/>
              </a:spcAft>
              <a:defRPr sz="1400">
                <a:solidFill>
                  <a:srgbClr val="78DC78"/>
                </a:solidFill>
                <a:latin typeface="Courier New"/>
              </a:defRPr>
            </a:pPr>
            <a:r>
              <a:rPr sz="1200" dirty="0"/>
              <a:t>            </a:t>
            </a:r>
            <a:r>
              <a:rPr sz="1200" dirty="0" err="1"/>
              <a:t>show_progress_bar</a:t>
            </a:r>
            <a:r>
              <a:rPr sz="1200" dirty="0"/>
              <a:t>=True,</a:t>
            </a:r>
          </a:p>
          <a:p>
            <a:pPr>
              <a:spcAft>
                <a:spcPts val="300"/>
              </a:spcAft>
              <a:defRPr sz="1400">
                <a:solidFill>
                  <a:srgbClr val="78DC78"/>
                </a:solidFill>
                <a:latin typeface="Courier New"/>
              </a:defRPr>
            </a:pPr>
            <a:r>
              <a:rPr sz="1200" dirty="0"/>
              <a:t>            </a:t>
            </a:r>
            <a:r>
              <a:rPr sz="1200" dirty="0" err="1"/>
              <a:t>normalize_embeddings</a:t>
            </a:r>
            <a:r>
              <a:rPr sz="1200" dirty="0"/>
              <a:t>=True,   # cosine sim = dot product</a:t>
            </a:r>
          </a:p>
          <a:p>
            <a:pPr>
              <a:spcAft>
                <a:spcPts val="300"/>
              </a:spcAft>
              <a:defRPr sz="1400">
                <a:solidFill>
                  <a:srgbClr val="78DC78"/>
                </a:solidFill>
                <a:latin typeface="Courier New"/>
              </a:defRPr>
            </a:pPr>
            <a:r>
              <a:rPr sz="1200" dirty="0"/>
              <a:t>        )</a:t>
            </a:r>
          </a:p>
          <a:p>
            <a:pPr>
              <a:spcAft>
                <a:spcPts val="300"/>
              </a:spcAft>
              <a:defRPr sz="1400">
                <a:solidFill>
                  <a:srgbClr val="78DC78"/>
                </a:solidFill>
                <a:latin typeface="Courier New"/>
              </a:defRPr>
            </a:pPr>
            <a:r>
              <a:rPr sz="1200" dirty="0"/>
              <a:t>        return </a:t>
            </a:r>
            <a:r>
              <a:rPr sz="1200" dirty="0" err="1"/>
              <a:t>cls</a:t>
            </a:r>
            <a:r>
              <a:rPr sz="1200" dirty="0"/>
              <a:t>(</a:t>
            </a:r>
            <a:r>
              <a:rPr sz="1200" dirty="0" err="1"/>
              <a:t>model_name</a:t>
            </a:r>
            <a:r>
              <a:rPr sz="1200" dirty="0"/>
              <a:t>, embeddings, </a:t>
            </a:r>
            <a:r>
              <a:rPr sz="1200" dirty="0" err="1"/>
              <a:t>tender_ids</a:t>
            </a:r>
            <a:r>
              <a:rPr sz="1200" dirty="0"/>
              <a:t>, ready=True)</a:t>
            </a:r>
          </a:p>
          <a:p>
            <a:pPr>
              <a:spcAft>
                <a:spcPts val="300"/>
              </a:spcAft>
              <a:defRPr sz="1400">
                <a:solidFill>
                  <a:srgbClr val="78DC78"/>
                </a:solidFill>
                <a:latin typeface="Courier New"/>
              </a:defRPr>
            </a:pPr>
            <a:endParaRPr sz="1200" dirty="0"/>
          </a:p>
          <a:p>
            <a:pPr>
              <a:spcAft>
                <a:spcPts val="300"/>
              </a:spcAft>
              <a:defRPr sz="1400">
                <a:solidFill>
                  <a:srgbClr val="78DC78"/>
                </a:solidFill>
                <a:latin typeface="Courier New"/>
              </a:defRPr>
            </a:pPr>
            <a:r>
              <a:rPr sz="1200" dirty="0"/>
              <a:t>    def score(self, query: str) -&gt; </a:t>
            </a:r>
            <a:r>
              <a:rPr sz="1200" dirty="0" err="1"/>
              <a:t>dict</a:t>
            </a:r>
            <a:r>
              <a:rPr sz="1200" dirty="0"/>
              <a:t>[str, float]:</a:t>
            </a:r>
          </a:p>
          <a:p>
            <a:pPr>
              <a:spcAft>
                <a:spcPts val="300"/>
              </a:spcAft>
              <a:defRPr sz="1400">
                <a:solidFill>
                  <a:srgbClr val="78DC78"/>
                </a:solidFill>
                <a:latin typeface="Courier New"/>
              </a:defRPr>
            </a:pPr>
            <a:r>
              <a:rPr sz="1200" dirty="0"/>
              <a:t>        </a:t>
            </a:r>
            <a:r>
              <a:rPr sz="1200" dirty="0" err="1"/>
              <a:t>q_emb</a:t>
            </a:r>
            <a:r>
              <a:rPr sz="1200" dirty="0"/>
              <a:t> = </a:t>
            </a:r>
            <a:r>
              <a:rPr sz="1200" dirty="0" err="1"/>
              <a:t>model.encode</a:t>
            </a:r>
            <a:r>
              <a:rPr sz="1200" dirty="0"/>
              <a:t>([query], </a:t>
            </a:r>
            <a:r>
              <a:rPr sz="1200" dirty="0" err="1"/>
              <a:t>normalize_embeddings</a:t>
            </a:r>
            <a:r>
              <a:rPr sz="1200" dirty="0"/>
              <a:t>=True)</a:t>
            </a:r>
          </a:p>
          <a:p>
            <a:pPr>
              <a:spcAft>
                <a:spcPts val="300"/>
              </a:spcAft>
              <a:defRPr sz="1400">
                <a:solidFill>
                  <a:srgbClr val="78DC78"/>
                </a:solidFill>
                <a:latin typeface="Courier New"/>
              </a:defRPr>
            </a:pPr>
            <a:r>
              <a:rPr sz="1200" dirty="0"/>
              <a:t>        sims = (</a:t>
            </a:r>
            <a:r>
              <a:rPr sz="1200" dirty="0" err="1"/>
              <a:t>q_emb</a:t>
            </a:r>
            <a:r>
              <a:rPr sz="1200" dirty="0"/>
              <a:t> @ </a:t>
            </a:r>
            <a:r>
              <a:rPr sz="1200" dirty="0" err="1"/>
              <a:t>self.embeddings.T</a:t>
            </a:r>
            <a:r>
              <a:rPr sz="1200" dirty="0"/>
              <a:t>).flatten()</a:t>
            </a:r>
          </a:p>
          <a:p>
            <a:pPr>
              <a:spcAft>
                <a:spcPts val="300"/>
              </a:spcAft>
              <a:defRPr sz="1400">
                <a:solidFill>
                  <a:srgbClr val="78DC78"/>
                </a:solidFill>
                <a:latin typeface="Courier New"/>
              </a:defRPr>
            </a:pPr>
            <a:r>
              <a:rPr sz="1200" dirty="0"/>
              <a:t>        # sims[</a:t>
            </a:r>
            <a:r>
              <a:rPr sz="1200" dirty="0" err="1"/>
              <a:t>i</a:t>
            </a:r>
            <a:r>
              <a:rPr sz="1200" dirty="0"/>
              <a:t>] = cosine similarity query vs </a:t>
            </a:r>
            <a:r>
              <a:rPr sz="1200" dirty="0" err="1"/>
              <a:t>gói</a:t>
            </a:r>
            <a:r>
              <a:rPr sz="1200" dirty="0"/>
              <a:t> </a:t>
            </a:r>
            <a:r>
              <a:rPr sz="1200" dirty="0" err="1"/>
              <a:t>thầu</a:t>
            </a:r>
            <a:r>
              <a:rPr sz="1200" dirty="0"/>
              <a:t> </a:t>
            </a:r>
            <a:r>
              <a:rPr sz="1200" dirty="0" err="1"/>
              <a:t>i</a:t>
            </a:r>
            <a:endParaRPr sz="1200" dirty="0"/>
          </a:p>
        </p:txBody>
      </p:sp>
      <p:sp>
        <p:nvSpPr>
          <p:cNvPr id="5" name="TextBox 4"/>
          <p:cNvSpPr txBox="1"/>
          <p:nvPr/>
        </p:nvSpPr>
        <p:spPr>
          <a:xfrm>
            <a:off x="457200" y="62179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i="1">
                <a:solidFill>
                  <a:srgbClr val="9696C8"/>
                </a:solidFill>
              </a:defRPr>
            </a:pPr>
            <a:r>
              <a:t>Semantic scoring tắt tự động nếu sentence-transformers chưa cài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F20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Luồng Sentence Transformer Trong Hệ Thống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7353" y="1479666"/>
            <a:ext cx="5154093" cy="48628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0F2041"/>
                </a:solidFill>
              </a:defRPr>
            </a:pPr>
            <a:r>
              <a:rPr dirty="0"/>
              <a:t>  BUILD TIME (offline):</a:t>
            </a:r>
          </a:p>
          <a:p>
            <a:pPr>
              <a:spcAft>
                <a:spcPts val="600"/>
              </a:spcAft>
              <a:defRPr sz="1600">
                <a:solidFill>
                  <a:srgbClr val="0F2041"/>
                </a:solidFill>
              </a:defRPr>
            </a:pPr>
            <a:endParaRPr dirty="0"/>
          </a:p>
          <a:p>
            <a:pPr>
              <a:spcAft>
                <a:spcPts val="600"/>
              </a:spcAft>
              <a:defRPr sz="1600">
                <a:solidFill>
                  <a:srgbClr val="0F2041"/>
                </a:solidFill>
              </a:defRPr>
            </a:pPr>
            <a:r>
              <a:rPr dirty="0"/>
              <a:t>  data/dauthau_data.csv</a:t>
            </a:r>
          </a:p>
          <a:p>
            <a:pPr>
              <a:spcAft>
                <a:spcPts val="600"/>
              </a:spcAft>
              <a:defRPr sz="1600">
                <a:solidFill>
                  <a:srgbClr val="0F2041"/>
                </a:solidFill>
              </a:defRPr>
            </a:pPr>
            <a:r>
              <a:rPr dirty="0"/>
              <a:t>        |</a:t>
            </a:r>
          </a:p>
          <a:p>
            <a:pPr>
              <a:spcAft>
                <a:spcPts val="600"/>
              </a:spcAft>
              <a:defRPr sz="1600">
                <a:solidFill>
                  <a:srgbClr val="0F2041"/>
                </a:solidFill>
              </a:defRPr>
            </a:pPr>
            <a:r>
              <a:rPr dirty="0"/>
              <a:t>        v</a:t>
            </a:r>
          </a:p>
          <a:p>
            <a:pPr>
              <a:spcAft>
                <a:spcPts val="600"/>
              </a:spcAft>
              <a:defRPr sz="1600">
                <a:solidFill>
                  <a:srgbClr val="0F2041"/>
                </a:solidFill>
              </a:defRPr>
            </a:pPr>
            <a:r>
              <a:rPr dirty="0"/>
              <a:t>  </a:t>
            </a:r>
            <a:r>
              <a:rPr dirty="0" err="1"/>
              <a:t>tender_text</a:t>
            </a:r>
            <a:r>
              <a:rPr dirty="0"/>
              <a:t> (</a:t>
            </a:r>
            <a:r>
              <a:rPr dirty="0" err="1"/>
              <a:t>giữ</a:t>
            </a:r>
            <a:r>
              <a:rPr dirty="0"/>
              <a:t> </a:t>
            </a:r>
            <a:r>
              <a:rPr dirty="0" err="1"/>
              <a:t>dấu</a:t>
            </a:r>
            <a:r>
              <a:rPr dirty="0"/>
              <a:t> </a:t>
            </a:r>
            <a:r>
              <a:rPr dirty="0" err="1"/>
              <a:t>tiếng</a:t>
            </a:r>
            <a:r>
              <a:rPr dirty="0"/>
              <a:t> Việt)</a:t>
            </a:r>
          </a:p>
          <a:p>
            <a:pPr>
              <a:spcAft>
                <a:spcPts val="600"/>
              </a:spcAft>
              <a:defRPr sz="1600">
                <a:solidFill>
                  <a:srgbClr val="0F2041"/>
                </a:solidFill>
              </a:defRPr>
            </a:pPr>
            <a:r>
              <a:rPr dirty="0"/>
              <a:t>        |</a:t>
            </a:r>
          </a:p>
          <a:p>
            <a:pPr>
              <a:spcAft>
                <a:spcPts val="600"/>
              </a:spcAft>
              <a:defRPr sz="1600">
                <a:solidFill>
                  <a:srgbClr val="0F2041"/>
                </a:solidFill>
              </a:defRPr>
            </a:pPr>
            <a:r>
              <a:rPr dirty="0"/>
              <a:t>        v</a:t>
            </a:r>
          </a:p>
          <a:p>
            <a:pPr>
              <a:spcAft>
                <a:spcPts val="600"/>
              </a:spcAft>
              <a:defRPr sz="1600">
                <a:solidFill>
                  <a:srgbClr val="0F2041"/>
                </a:solidFill>
              </a:defRPr>
            </a:pPr>
            <a:r>
              <a:rPr dirty="0"/>
              <a:t>  </a:t>
            </a:r>
            <a:r>
              <a:rPr dirty="0" err="1"/>
              <a:t>SentenceTransformer.encode</a:t>
            </a:r>
            <a:r>
              <a:rPr dirty="0"/>
              <a:t>()  →  embeddings (N x 384)</a:t>
            </a:r>
          </a:p>
          <a:p>
            <a:pPr>
              <a:spcAft>
                <a:spcPts val="600"/>
              </a:spcAft>
              <a:defRPr sz="1600">
                <a:solidFill>
                  <a:srgbClr val="0F2041"/>
                </a:solidFill>
              </a:defRPr>
            </a:pPr>
            <a:r>
              <a:rPr dirty="0"/>
              <a:t>        |</a:t>
            </a:r>
          </a:p>
          <a:p>
            <a:pPr>
              <a:spcAft>
                <a:spcPts val="600"/>
              </a:spcAft>
              <a:defRPr sz="1600">
                <a:solidFill>
                  <a:srgbClr val="0F2041"/>
                </a:solidFill>
              </a:defRPr>
            </a:pPr>
            <a:r>
              <a:rPr dirty="0"/>
              <a:t>        v</a:t>
            </a:r>
          </a:p>
          <a:p>
            <a:pPr>
              <a:spcAft>
                <a:spcPts val="600"/>
              </a:spcAft>
              <a:defRPr sz="1600">
                <a:solidFill>
                  <a:srgbClr val="0F2041"/>
                </a:solidFill>
              </a:defRPr>
            </a:pPr>
            <a:r>
              <a:rPr dirty="0"/>
              <a:t>  Lưu: artifacts/</a:t>
            </a:r>
            <a:r>
              <a:rPr dirty="0" err="1"/>
              <a:t>semantic_index.joblib</a:t>
            </a:r>
            <a:endParaRPr dirty="0"/>
          </a:p>
          <a:p>
            <a:pPr>
              <a:spcAft>
                <a:spcPts val="600"/>
              </a:spcAft>
              <a:defRPr sz="1600">
                <a:solidFill>
                  <a:srgbClr val="0F2041"/>
                </a:solidFill>
              </a:defRPr>
            </a:pPr>
            <a:endParaRPr dirty="0"/>
          </a:p>
          <a:p>
            <a:pPr>
              <a:spcAft>
                <a:spcPts val="600"/>
              </a:spcAft>
              <a:defRPr sz="1600">
                <a:solidFill>
                  <a:srgbClr val="0F2041"/>
                </a:solidFill>
              </a:defRPr>
            </a:pPr>
            <a:endParaRPr dirty="0"/>
          </a:p>
          <a:p>
            <a:pPr>
              <a:spcAft>
                <a:spcPts val="600"/>
              </a:spcAft>
              <a:defRPr sz="1600">
                <a:solidFill>
                  <a:srgbClr val="0F2041"/>
                </a:solidFill>
              </a:defRPr>
            </a:pPr>
            <a:r>
              <a:rPr dirty="0"/>
              <a:t> 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81978A8-6C14-CBA7-610F-ADD6654FE44C}"/>
              </a:ext>
            </a:extLst>
          </p:cNvPr>
          <p:cNvSpPr txBox="1"/>
          <p:nvPr/>
        </p:nvSpPr>
        <p:spPr>
          <a:xfrm>
            <a:off x="5878484" y="1611161"/>
            <a:ext cx="6137564" cy="38933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0F2041"/>
                </a:solidFill>
              </a:defRPr>
            </a:pPr>
            <a:r>
              <a:rPr lang="vi-VN" dirty="0"/>
              <a:t>RUNTIME (mỗi query):</a:t>
            </a:r>
          </a:p>
          <a:p>
            <a:pPr>
              <a:spcAft>
                <a:spcPts val="600"/>
              </a:spcAft>
              <a:defRPr sz="1600">
                <a:solidFill>
                  <a:srgbClr val="0F2041"/>
                </a:solidFill>
              </a:defRPr>
            </a:pPr>
            <a:endParaRPr lang="vi-VN" dirty="0"/>
          </a:p>
          <a:p>
            <a:pPr>
              <a:spcAft>
                <a:spcPts val="600"/>
              </a:spcAft>
              <a:defRPr sz="1600">
                <a:solidFill>
                  <a:srgbClr val="0F2041"/>
                </a:solidFill>
              </a:defRPr>
            </a:pPr>
            <a:r>
              <a:rPr lang="vi-VN" dirty="0"/>
              <a:t>  User query: 'Thi công cầu đường'</a:t>
            </a:r>
          </a:p>
          <a:p>
            <a:pPr>
              <a:spcAft>
                <a:spcPts val="600"/>
              </a:spcAft>
              <a:defRPr sz="1600">
                <a:solidFill>
                  <a:srgbClr val="0F2041"/>
                </a:solidFill>
              </a:defRPr>
            </a:pPr>
            <a:r>
              <a:rPr lang="vi-VN" dirty="0"/>
              <a:t>        |</a:t>
            </a:r>
          </a:p>
          <a:p>
            <a:pPr>
              <a:spcAft>
                <a:spcPts val="600"/>
              </a:spcAft>
              <a:defRPr sz="1600">
                <a:solidFill>
                  <a:srgbClr val="0F2041"/>
                </a:solidFill>
              </a:defRPr>
            </a:pPr>
            <a:r>
              <a:rPr lang="vi-VN" dirty="0"/>
              <a:t>        v</a:t>
            </a:r>
          </a:p>
          <a:p>
            <a:pPr>
              <a:spcAft>
                <a:spcPts val="600"/>
              </a:spcAft>
              <a:defRPr sz="1600">
                <a:solidFill>
                  <a:srgbClr val="0F2041"/>
                </a:solidFill>
              </a:defRPr>
            </a:pPr>
            <a:r>
              <a:rPr lang="vi-VN" dirty="0"/>
              <a:t>  model.encode([query])  →  q_emb (1 x 384)</a:t>
            </a:r>
          </a:p>
          <a:p>
            <a:pPr>
              <a:spcAft>
                <a:spcPts val="600"/>
              </a:spcAft>
              <a:defRPr sz="1600">
                <a:solidFill>
                  <a:srgbClr val="0F2041"/>
                </a:solidFill>
              </a:defRPr>
            </a:pPr>
            <a:r>
              <a:rPr lang="vi-VN" dirty="0"/>
              <a:t>        |</a:t>
            </a:r>
          </a:p>
          <a:p>
            <a:pPr>
              <a:spcAft>
                <a:spcPts val="600"/>
              </a:spcAft>
              <a:defRPr sz="1600">
                <a:solidFill>
                  <a:srgbClr val="0F2041"/>
                </a:solidFill>
              </a:defRPr>
            </a:pPr>
            <a:r>
              <a:rPr lang="vi-VN" dirty="0"/>
              <a:t>        v</a:t>
            </a:r>
          </a:p>
          <a:p>
            <a:pPr>
              <a:spcAft>
                <a:spcPts val="600"/>
              </a:spcAft>
              <a:defRPr sz="1600">
                <a:solidFill>
                  <a:srgbClr val="0F2041"/>
                </a:solidFill>
              </a:defRPr>
            </a:pPr>
            <a:r>
              <a:rPr lang="vi-VN" dirty="0"/>
              <a:t>  dot(q_emb, embeddings.T)  →  cosine similarity</a:t>
            </a:r>
          </a:p>
          <a:p>
            <a:pPr>
              <a:spcAft>
                <a:spcPts val="600"/>
              </a:spcAft>
              <a:defRPr sz="1600">
                <a:solidFill>
                  <a:srgbClr val="0F2041"/>
                </a:solidFill>
              </a:defRPr>
            </a:pPr>
            <a:r>
              <a:rPr lang="vi-VN" dirty="0"/>
              <a:t>        |</a:t>
            </a:r>
          </a:p>
          <a:p>
            <a:pPr>
              <a:spcAft>
                <a:spcPts val="600"/>
              </a:spcAft>
              <a:defRPr sz="1600">
                <a:solidFill>
                  <a:srgbClr val="0F2041"/>
                </a:solidFill>
              </a:defRPr>
            </a:pPr>
            <a:r>
              <a:rPr lang="vi-VN" dirty="0"/>
              <a:t>        v</a:t>
            </a:r>
          </a:p>
          <a:p>
            <a:pPr>
              <a:spcAft>
                <a:spcPts val="600"/>
              </a:spcAft>
              <a:defRPr sz="1600">
                <a:solidFill>
                  <a:srgbClr val="0F2041"/>
                </a:solidFill>
              </a:defRPr>
            </a:pPr>
            <a:r>
              <a:rPr lang="vi-VN" dirty="0"/>
              <a:t>  ↑ Điểm semantic_score cho mỗi gói thầu (0-100)</a:t>
            </a:r>
          </a:p>
        </p:txBody>
      </p:sp>
      <p:sp>
        <p:nvSpPr>
          <p:cNvPr id="7" name="AutoShape 2" descr="Quy trình tìm kiếm dữ liệu AI">
            <a:extLst>
              <a:ext uri="{FF2B5EF4-FFF2-40B4-BE49-F238E27FC236}">
                <a16:creationId xmlns:a16="http://schemas.microsoft.com/office/drawing/2014/main" id="{CC8DD02C-B9CE-539C-2930-505887EDA8C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183476" y="-481937"/>
            <a:ext cx="4063337" cy="40633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03A58A0-ABBC-0131-0D16-54EF670525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4558" y="1234440"/>
            <a:ext cx="8048684" cy="528641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64A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0"/>
            <a:ext cx="11274552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4. Kết Hợp Hybrid Scoring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064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Công Thức Hybrid Scoring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05840"/>
            <a:ext cx="11612880" cy="53860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400">
                <a:solidFill>
                  <a:srgbClr val="78DC78"/>
                </a:solidFill>
                <a:latin typeface="Courier New"/>
              </a:defRPr>
            </a:pPr>
            <a:r>
              <a:rPr dirty="0"/>
              <a:t>  # </a:t>
            </a:r>
            <a:r>
              <a:rPr dirty="0" err="1"/>
              <a:t>Điểm</a:t>
            </a:r>
            <a:r>
              <a:rPr dirty="0"/>
              <a:t> raw (</a:t>
            </a:r>
            <a:r>
              <a:rPr dirty="0" err="1"/>
              <a:t>mỗi</a:t>
            </a:r>
            <a:r>
              <a:rPr dirty="0"/>
              <a:t> </a:t>
            </a:r>
            <a:r>
              <a:rPr dirty="0" err="1"/>
              <a:t>thành</a:t>
            </a:r>
            <a:r>
              <a:rPr dirty="0"/>
              <a:t> </a:t>
            </a:r>
            <a:r>
              <a:rPr dirty="0" err="1"/>
              <a:t>phần</a:t>
            </a:r>
            <a:r>
              <a:rPr dirty="0"/>
              <a:t> scale 0→1 </a:t>
            </a:r>
            <a:r>
              <a:rPr dirty="0" err="1"/>
              <a:t>hoặc</a:t>
            </a:r>
            <a:r>
              <a:rPr dirty="0"/>
              <a:t> 0→100)</a:t>
            </a:r>
          </a:p>
          <a:p>
            <a:pPr>
              <a:spcAft>
                <a:spcPts val="300"/>
              </a:spcAft>
              <a:defRPr sz="1400">
                <a:solidFill>
                  <a:srgbClr val="78DC78"/>
                </a:solidFill>
                <a:latin typeface="Courier New"/>
              </a:defRPr>
            </a:pPr>
            <a:r>
              <a:rPr dirty="0"/>
              <a:t>  </a:t>
            </a:r>
            <a:r>
              <a:rPr dirty="0" err="1"/>
              <a:t>lex_score</a:t>
            </a:r>
            <a:r>
              <a:rPr dirty="0"/>
              <a:t>      = min(</a:t>
            </a:r>
            <a:r>
              <a:rPr dirty="0" err="1"/>
              <a:t>raw_lex</a:t>
            </a:r>
            <a:r>
              <a:rPr dirty="0"/>
              <a:t> * 100, 100.0)          # 0→100</a:t>
            </a:r>
          </a:p>
          <a:p>
            <a:pPr>
              <a:spcAft>
                <a:spcPts val="300"/>
              </a:spcAft>
              <a:defRPr sz="1400">
                <a:solidFill>
                  <a:srgbClr val="78DC78"/>
                </a:solidFill>
                <a:latin typeface="Courier New"/>
              </a:defRPr>
            </a:pPr>
            <a:r>
              <a:rPr dirty="0"/>
              <a:t>  </a:t>
            </a:r>
            <a:r>
              <a:rPr dirty="0" err="1"/>
              <a:t>sem_score</a:t>
            </a:r>
            <a:r>
              <a:rPr dirty="0"/>
              <a:t>      = min(</a:t>
            </a:r>
            <a:r>
              <a:rPr dirty="0" err="1"/>
              <a:t>raw_sem</a:t>
            </a:r>
            <a:r>
              <a:rPr dirty="0"/>
              <a:t> * 100, 100.0)          # 0→100</a:t>
            </a:r>
          </a:p>
          <a:p>
            <a:pPr>
              <a:spcAft>
                <a:spcPts val="300"/>
              </a:spcAft>
              <a:defRPr sz="1400">
                <a:solidFill>
                  <a:srgbClr val="78DC78"/>
                </a:solidFill>
                <a:latin typeface="Courier New"/>
              </a:defRPr>
            </a:pPr>
            <a:r>
              <a:rPr dirty="0"/>
              <a:t>  </a:t>
            </a:r>
            <a:r>
              <a:rPr dirty="0" err="1"/>
              <a:t>hist_fit</a:t>
            </a:r>
            <a:r>
              <a:rPr dirty="0"/>
              <a:t>       = ...  (0→100, profile-based)     # 0→100</a:t>
            </a:r>
          </a:p>
          <a:p>
            <a:pPr>
              <a:spcAft>
                <a:spcPts val="300"/>
              </a:spcAft>
              <a:defRPr sz="1400">
                <a:solidFill>
                  <a:srgbClr val="78DC78"/>
                </a:solidFill>
                <a:latin typeface="Courier New"/>
              </a:defRPr>
            </a:pPr>
            <a:r>
              <a:rPr dirty="0"/>
              <a:t>  </a:t>
            </a:r>
            <a:r>
              <a:rPr dirty="0" err="1"/>
              <a:t>price_fit</a:t>
            </a:r>
            <a:r>
              <a:rPr dirty="0"/>
              <a:t>      = ...  (0→100, heuristic)         # 0→100</a:t>
            </a:r>
          </a:p>
          <a:p>
            <a:pPr>
              <a:spcAft>
                <a:spcPts val="300"/>
              </a:spcAft>
              <a:defRPr sz="1400">
                <a:solidFill>
                  <a:srgbClr val="78DC78"/>
                </a:solidFill>
                <a:latin typeface="Courier New"/>
              </a:defRPr>
            </a:pPr>
            <a:r>
              <a:rPr dirty="0"/>
              <a:t>  </a:t>
            </a:r>
            <a:r>
              <a:rPr dirty="0" err="1"/>
              <a:t>recency_score</a:t>
            </a:r>
            <a:r>
              <a:rPr dirty="0"/>
              <a:t>  = ...  (0→100, deadline-based)    # 0→100</a:t>
            </a:r>
          </a:p>
          <a:p>
            <a:pPr>
              <a:spcAft>
                <a:spcPts val="300"/>
              </a:spcAft>
              <a:defRPr sz="1400">
                <a:solidFill>
                  <a:srgbClr val="78DC78"/>
                </a:solidFill>
                <a:latin typeface="Courier New"/>
              </a:defRPr>
            </a:pPr>
            <a:r>
              <a:rPr dirty="0"/>
              <a:t>  # Công </a:t>
            </a:r>
            <a:r>
              <a:rPr dirty="0" err="1"/>
              <a:t>thức</a:t>
            </a:r>
            <a:r>
              <a:rPr dirty="0"/>
              <a:t> </a:t>
            </a:r>
            <a:r>
              <a:rPr dirty="0" err="1"/>
              <a:t>tổng</a:t>
            </a:r>
            <a:r>
              <a:rPr dirty="0"/>
              <a:t> </a:t>
            </a:r>
            <a:r>
              <a:rPr dirty="0" err="1"/>
              <a:t>có</a:t>
            </a:r>
            <a:r>
              <a:rPr dirty="0"/>
              <a:t> </a:t>
            </a:r>
            <a:r>
              <a:rPr dirty="0" err="1"/>
              <a:t>trọng</a:t>
            </a:r>
            <a:r>
              <a:rPr dirty="0"/>
              <a:t> </a:t>
            </a:r>
            <a:r>
              <a:rPr dirty="0" err="1"/>
              <a:t>số</a:t>
            </a:r>
            <a:endParaRPr dirty="0"/>
          </a:p>
          <a:p>
            <a:pPr>
              <a:spcAft>
                <a:spcPts val="300"/>
              </a:spcAft>
              <a:defRPr sz="1400">
                <a:solidFill>
                  <a:srgbClr val="78DC78"/>
                </a:solidFill>
                <a:latin typeface="Courier New"/>
              </a:defRPr>
            </a:pPr>
            <a:r>
              <a:rPr dirty="0"/>
              <a:t>  total = (</a:t>
            </a:r>
          </a:p>
          <a:p>
            <a:pPr>
              <a:spcAft>
                <a:spcPts val="300"/>
              </a:spcAft>
              <a:defRPr sz="1400">
                <a:solidFill>
                  <a:srgbClr val="78DC78"/>
                </a:solidFill>
                <a:latin typeface="Courier New"/>
              </a:defRPr>
            </a:pPr>
            <a:r>
              <a:rPr dirty="0"/>
              <a:t>      0.35 * </a:t>
            </a:r>
            <a:r>
              <a:rPr dirty="0" err="1"/>
              <a:t>lex_score</a:t>
            </a:r>
            <a:endParaRPr dirty="0"/>
          </a:p>
          <a:p>
            <a:pPr>
              <a:spcAft>
                <a:spcPts val="300"/>
              </a:spcAft>
              <a:defRPr sz="1400">
                <a:solidFill>
                  <a:srgbClr val="78DC78"/>
                </a:solidFill>
                <a:latin typeface="Courier New"/>
              </a:defRPr>
            </a:pPr>
            <a:r>
              <a:rPr dirty="0"/>
              <a:t>    + 0.35 * </a:t>
            </a:r>
            <a:r>
              <a:rPr dirty="0" err="1"/>
              <a:t>sem_score</a:t>
            </a:r>
            <a:endParaRPr dirty="0"/>
          </a:p>
          <a:p>
            <a:pPr>
              <a:spcAft>
                <a:spcPts val="300"/>
              </a:spcAft>
              <a:defRPr sz="1400">
                <a:solidFill>
                  <a:srgbClr val="78DC78"/>
                </a:solidFill>
                <a:latin typeface="Courier New"/>
              </a:defRPr>
            </a:pPr>
            <a:r>
              <a:rPr dirty="0"/>
              <a:t>    + 0.15 * </a:t>
            </a:r>
            <a:r>
              <a:rPr dirty="0" err="1"/>
              <a:t>hist_fit</a:t>
            </a:r>
            <a:endParaRPr dirty="0"/>
          </a:p>
          <a:p>
            <a:pPr>
              <a:spcAft>
                <a:spcPts val="300"/>
              </a:spcAft>
              <a:defRPr sz="1400">
                <a:solidFill>
                  <a:srgbClr val="78DC78"/>
                </a:solidFill>
                <a:latin typeface="Courier New"/>
              </a:defRPr>
            </a:pPr>
            <a:r>
              <a:rPr dirty="0"/>
              <a:t>    + 0.10 * </a:t>
            </a:r>
            <a:r>
              <a:rPr dirty="0" err="1"/>
              <a:t>price_fit</a:t>
            </a:r>
            <a:endParaRPr dirty="0"/>
          </a:p>
          <a:p>
            <a:pPr>
              <a:spcAft>
                <a:spcPts val="300"/>
              </a:spcAft>
              <a:defRPr sz="1400">
                <a:solidFill>
                  <a:srgbClr val="78DC78"/>
                </a:solidFill>
                <a:latin typeface="Courier New"/>
              </a:defRPr>
            </a:pPr>
            <a:r>
              <a:rPr dirty="0"/>
              <a:t>    + 0.05 * </a:t>
            </a:r>
            <a:r>
              <a:rPr dirty="0" err="1"/>
              <a:t>recency_score</a:t>
            </a:r>
            <a:endParaRPr dirty="0"/>
          </a:p>
          <a:p>
            <a:pPr>
              <a:spcAft>
                <a:spcPts val="300"/>
              </a:spcAft>
              <a:defRPr sz="1400">
                <a:solidFill>
                  <a:srgbClr val="78DC78"/>
                </a:solidFill>
                <a:latin typeface="Courier New"/>
              </a:defRPr>
            </a:pPr>
            <a:r>
              <a:rPr dirty="0"/>
              <a:t>  )</a:t>
            </a:r>
          </a:p>
          <a:p>
            <a:pPr>
              <a:spcAft>
                <a:spcPts val="300"/>
              </a:spcAft>
              <a:defRPr sz="1400">
                <a:solidFill>
                  <a:srgbClr val="78DC78"/>
                </a:solidFill>
                <a:latin typeface="Courier New"/>
              </a:defRPr>
            </a:pPr>
            <a:r>
              <a:rPr dirty="0"/>
              <a:t>  # =&gt; total ∈ [0, 100]</a:t>
            </a:r>
          </a:p>
          <a:p>
            <a:pPr>
              <a:spcAft>
                <a:spcPts val="300"/>
              </a:spcAft>
              <a:defRPr sz="1400">
                <a:solidFill>
                  <a:srgbClr val="78DC78"/>
                </a:solidFill>
                <a:latin typeface="Courier New"/>
              </a:defRPr>
            </a:pPr>
            <a:r>
              <a:rPr dirty="0"/>
              <a:t>  # </a:t>
            </a:r>
            <a:r>
              <a:rPr dirty="0" err="1"/>
              <a:t>Trọng</a:t>
            </a:r>
            <a:r>
              <a:rPr dirty="0"/>
              <a:t> </a:t>
            </a:r>
            <a:r>
              <a:rPr dirty="0" err="1"/>
              <a:t>số</a:t>
            </a:r>
            <a:r>
              <a:rPr dirty="0"/>
              <a:t> </a:t>
            </a:r>
            <a:r>
              <a:rPr dirty="0" err="1"/>
              <a:t>mặc</a:t>
            </a:r>
            <a:r>
              <a:rPr dirty="0"/>
              <a:t> </a:t>
            </a:r>
            <a:r>
              <a:rPr dirty="0" err="1"/>
              <a:t>định</a:t>
            </a:r>
            <a:r>
              <a:rPr dirty="0"/>
              <a:t> (settings.py)</a:t>
            </a:r>
          </a:p>
          <a:p>
            <a:pPr>
              <a:spcAft>
                <a:spcPts val="300"/>
              </a:spcAft>
              <a:defRPr sz="1400">
                <a:solidFill>
                  <a:srgbClr val="78DC78"/>
                </a:solidFill>
                <a:latin typeface="Courier New"/>
              </a:defRPr>
            </a:pPr>
            <a:r>
              <a:rPr dirty="0"/>
              <a:t>  </a:t>
            </a:r>
            <a:r>
              <a:rPr dirty="0" err="1"/>
              <a:t>lexical_weight</a:t>
            </a:r>
            <a:r>
              <a:rPr dirty="0"/>
              <a:t>     = 0.35</a:t>
            </a:r>
          </a:p>
          <a:p>
            <a:pPr>
              <a:spcAft>
                <a:spcPts val="300"/>
              </a:spcAft>
              <a:defRPr sz="1400">
                <a:solidFill>
                  <a:srgbClr val="78DC78"/>
                </a:solidFill>
                <a:latin typeface="Courier New"/>
              </a:defRPr>
            </a:pPr>
            <a:r>
              <a:rPr dirty="0"/>
              <a:t>  </a:t>
            </a:r>
            <a:r>
              <a:rPr dirty="0" err="1"/>
              <a:t>semantic_weight</a:t>
            </a:r>
            <a:r>
              <a:rPr dirty="0"/>
              <a:t>   = 0.35</a:t>
            </a:r>
          </a:p>
          <a:p>
            <a:pPr>
              <a:spcAft>
                <a:spcPts val="300"/>
              </a:spcAft>
              <a:defRPr sz="1400">
                <a:solidFill>
                  <a:srgbClr val="78DC78"/>
                </a:solidFill>
                <a:latin typeface="Courier New"/>
              </a:defRPr>
            </a:pPr>
            <a:r>
              <a:rPr dirty="0"/>
              <a:t>  </a:t>
            </a:r>
            <a:r>
              <a:rPr dirty="0" err="1"/>
              <a:t>historical_weight</a:t>
            </a:r>
            <a:r>
              <a:rPr dirty="0"/>
              <a:t> = 0.15</a:t>
            </a:r>
          </a:p>
          <a:p>
            <a:pPr>
              <a:spcAft>
                <a:spcPts val="300"/>
              </a:spcAft>
              <a:defRPr sz="1400">
                <a:solidFill>
                  <a:srgbClr val="78DC78"/>
                </a:solidFill>
                <a:latin typeface="Courier New"/>
              </a:defRPr>
            </a:pPr>
            <a:r>
              <a:rPr dirty="0"/>
              <a:t>  </a:t>
            </a:r>
            <a:r>
              <a:rPr dirty="0" err="1"/>
              <a:t>price_weight</a:t>
            </a:r>
            <a:r>
              <a:rPr dirty="0"/>
              <a:t>       = 0.10</a:t>
            </a:r>
          </a:p>
          <a:p>
            <a:pPr>
              <a:spcAft>
                <a:spcPts val="300"/>
              </a:spcAft>
              <a:defRPr sz="1400">
                <a:solidFill>
                  <a:srgbClr val="78DC78"/>
                </a:solidFill>
                <a:latin typeface="Courier New"/>
              </a:defRPr>
            </a:pPr>
            <a:r>
              <a:rPr dirty="0"/>
              <a:t>  </a:t>
            </a:r>
            <a:r>
              <a:rPr dirty="0" err="1"/>
              <a:t>recency_weight</a:t>
            </a:r>
            <a:r>
              <a:rPr dirty="0"/>
              <a:t>    = 0.05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i="1">
                <a:solidFill>
                  <a:srgbClr val="9696C8"/>
                </a:solidFill>
              </a:defRPr>
            </a:pPr>
            <a:r>
              <a:t>Nếu semantic chưa sẵn sàng, trọng số được re-normalize: lexical=1.0, bỏ semantic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064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Code: Hybrid Scoring Trong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05840"/>
            <a:ext cx="11612880" cy="6655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400">
                <a:solidFill>
                  <a:srgbClr val="78DC78"/>
                </a:solidFill>
                <a:latin typeface="Courier New"/>
              </a:defRPr>
            </a:pPr>
            <a:r>
              <a:rPr dirty="0"/>
              <a:t>  # Trong </a:t>
            </a:r>
            <a:r>
              <a:rPr dirty="0" err="1"/>
              <a:t>HybridRanker.score</a:t>
            </a:r>
            <a:r>
              <a:rPr dirty="0"/>
              <a:t>()</a:t>
            </a:r>
          </a:p>
          <a:p>
            <a:pPr>
              <a:spcAft>
                <a:spcPts val="300"/>
              </a:spcAft>
              <a:defRPr sz="1400">
                <a:solidFill>
                  <a:srgbClr val="78DC78"/>
                </a:solidFill>
                <a:latin typeface="Courier New"/>
              </a:defRPr>
            </a:pPr>
            <a:r>
              <a:rPr dirty="0"/>
              <a:t>  for _, row in </a:t>
            </a:r>
            <a:r>
              <a:rPr dirty="0" err="1"/>
              <a:t>candidate_df.iterrows</a:t>
            </a:r>
            <a:r>
              <a:rPr dirty="0"/>
              <a:t>():</a:t>
            </a:r>
          </a:p>
          <a:p>
            <a:pPr>
              <a:spcAft>
                <a:spcPts val="300"/>
              </a:spcAft>
              <a:defRPr sz="1400">
                <a:solidFill>
                  <a:srgbClr val="78DC78"/>
                </a:solidFill>
                <a:latin typeface="Courier New"/>
              </a:defRPr>
            </a:pPr>
            <a:r>
              <a:rPr dirty="0"/>
              <a:t>      </a:t>
            </a:r>
            <a:r>
              <a:rPr dirty="0" err="1"/>
              <a:t>nid</a:t>
            </a:r>
            <a:r>
              <a:rPr dirty="0"/>
              <a:t> = row['</a:t>
            </a:r>
            <a:r>
              <a:rPr dirty="0" err="1"/>
              <a:t>bidonotifycontractormnotifyno</a:t>
            </a:r>
            <a:r>
              <a:rPr dirty="0"/>
              <a:t>']</a:t>
            </a:r>
          </a:p>
          <a:p>
            <a:pPr>
              <a:spcAft>
                <a:spcPts val="300"/>
              </a:spcAft>
              <a:defRPr sz="1400">
                <a:solidFill>
                  <a:srgbClr val="78DC78"/>
                </a:solidFill>
                <a:latin typeface="Courier New"/>
              </a:defRPr>
            </a:pPr>
            <a:r>
              <a:rPr dirty="0"/>
              <a:t>      # Lexical</a:t>
            </a:r>
          </a:p>
          <a:p>
            <a:pPr>
              <a:spcAft>
                <a:spcPts val="300"/>
              </a:spcAft>
              <a:defRPr sz="1400">
                <a:solidFill>
                  <a:srgbClr val="78DC78"/>
                </a:solidFill>
                <a:latin typeface="Courier New"/>
              </a:defRPr>
            </a:pPr>
            <a:r>
              <a:rPr dirty="0"/>
              <a:t>      lex = </a:t>
            </a:r>
            <a:r>
              <a:rPr dirty="0" err="1"/>
              <a:t>lex_scores.get</a:t>
            </a:r>
            <a:r>
              <a:rPr dirty="0"/>
              <a:t>(</a:t>
            </a:r>
            <a:r>
              <a:rPr dirty="0" err="1"/>
              <a:t>nid</a:t>
            </a:r>
            <a:r>
              <a:rPr dirty="0"/>
              <a:t>, 0.0)</a:t>
            </a:r>
          </a:p>
          <a:p>
            <a:pPr>
              <a:spcAft>
                <a:spcPts val="300"/>
              </a:spcAft>
              <a:defRPr sz="1400">
                <a:solidFill>
                  <a:srgbClr val="78DC78"/>
                </a:solidFill>
                <a:latin typeface="Courier New"/>
              </a:defRPr>
            </a:pPr>
            <a:r>
              <a:rPr dirty="0"/>
              <a:t>      lex = min(lex * 100.0, 100.0)</a:t>
            </a:r>
          </a:p>
          <a:p>
            <a:pPr>
              <a:spcAft>
                <a:spcPts val="300"/>
              </a:spcAft>
              <a:defRPr sz="1400">
                <a:solidFill>
                  <a:srgbClr val="78DC78"/>
                </a:solidFill>
                <a:latin typeface="Courier New"/>
              </a:defRPr>
            </a:pPr>
            <a:r>
              <a:rPr dirty="0"/>
              <a:t>      # Semantic</a:t>
            </a:r>
          </a:p>
          <a:p>
            <a:pPr>
              <a:spcAft>
                <a:spcPts val="300"/>
              </a:spcAft>
              <a:defRPr sz="1400">
                <a:solidFill>
                  <a:srgbClr val="78DC78"/>
                </a:solidFill>
                <a:latin typeface="Courier New"/>
              </a:defRPr>
            </a:pPr>
            <a:r>
              <a:rPr dirty="0"/>
              <a:t>      </a:t>
            </a:r>
            <a:r>
              <a:rPr dirty="0" err="1"/>
              <a:t>sem</a:t>
            </a:r>
            <a:r>
              <a:rPr dirty="0"/>
              <a:t> = </a:t>
            </a:r>
            <a:r>
              <a:rPr dirty="0" err="1"/>
              <a:t>sem_scores.get</a:t>
            </a:r>
            <a:r>
              <a:rPr dirty="0"/>
              <a:t>(</a:t>
            </a:r>
            <a:r>
              <a:rPr dirty="0" err="1"/>
              <a:t>nid</a:t>
            </a:r>
            <a:r>
              <a:rPr dirty="0"/>
              <a:t>, 0.0)</a:t>
            </a:r>
          </a:p>
          <a:p>
            <a:pPr>
              <a:spcAft>
                <a:spcPts val="300"/>
              </a:spcAft>
              <a:defRPr sz="1400">
                <a:solidFill>
                  <a:srgbClr val="78DC78"/>
                </a:solidFill>
                <a:latin typeface="Courier New"/>
              </a:defRPr>
            </a:pPr>
            <a:r>
              <a:rPr dirty="0"/>
              <a:t>      </a:t>
            </a:r>
            <a:r>
              <a:rPr dirty="0" err="1"/>
              <a:t>sem</a:t>
            </a:r>
            <a:r>
              <a:rPr dirty="0"/>
              <a:t> = min(</a:t>
            </a:r>
            <a:r>
              <a:rPr dirty="0" err="1"/>
              <a:t>sem</a:t>
            </a:r>
            <a:r>
              <a:rPr dirty="0"/>
              <a:t> * 100.0, 100.0)</a:t>
            </a:r>
          </a:p>
          <a:p>
            <a:pPr>
              <a:spcAft>
                <a:spcPts val="300"/>
              </a:spcAft>
              <a:defRPr sz="1400">
                <a:solidFill>
                  <a:srgbClr val="78DC78"/>
                </a:solidFill>
                <a:latin typeface="Courier New"/>
              </a:defRPr>
            </a:pPr>
            <a:r>
              <a:rPr dirty="0"/>
              <a:t>      # Profile-based (historical + price)</a:t>
            </a:r>
          </a:p>
          <a:p>
            <a:pPr>
              <a:spcAft>
                <a:spcPts val="300"/>
              </a:spcAft>
              <a:defRPr sz="1400">
                <a:solidFill>
                  <a:srgbClr val="78DC78"/>
                </a:solidFill>
                <a:latin typeface="Courier New"/>
              </a:defRPr>
            </a:pPr>
            <a:r>
              <a:rPr dirty="0"/>
              <a:t>      if profile:</a:t>
            </a:r>
          </a:p>
          <a:p>
            <a:pPr>
              <a:spcAft>
                <a:spcPts val="300"/>
              </a:spcAft>
              <a:defRPr sz="1400">
                <a:solidFill>
                  <a:srgbClr val="78DC78"/>
                </a:solidFill>
                <a:latin typeface="Courier New"/>
              </a:defRPr>
            </a:pPr>
            <a:r>
              <a:rPr dirty="0"/>
              <a:t>          </a:t>
            </a:r>
            <a:r>
              <a:rPr dirty="0" err="1"/>
              <a:t>hist_fit</a:t>
            </a:r>
            <a:r>
              <a:rPr dirty="0"/>
              <a:t>, </a:t>
            </a:r>
            <a:r>
              <a:rPr dirty="0" err="1"/>
              <a:t>price_fit</a:t>
            </a:r>
            <a:r>
              <a:rPr dirty="0"/>
              <a:t>, </a:t>
            </a:r>
            <a:r>
              <a:rPr dirty="0" err="1"/>
              <a:t>why_parts</a:t>
            </a:r>
            <a:r>
              <a:rPr dirty="0"/>
              <a:t> = _</a:t>
            </a:r>
            <a:r>
              <a:rPr dirty="0" err="1"/>
              <a:t>compute_profile_scores</a:t>
            </a:r>
            <a:r>
              <a:rPr dirty="0"/>
              <a:t>(...)</a:t>
            </a:r>
          </a:p>
          <a:p>
            <a:pPr>
              <a:spcAft>
                <a:spcPts val="300"/>
              </a:spcAft>
              <a:defRPr sz="1400">
                <a:solidFill>
                  <a:srgbClr val="78DC78"/>
                </a:solidFill>
                <a:latin typeface="Courier New"/>
              </a:defRPr>
            </a:pPr>
            <a:r>
              <a:rPr dirty="0"/>
              <a:t>      # Recency</a:t>
            </a:r>
          </a:p>
          <a:p>
            <a:pPr>
              <a:spcAft>
                <a:spcPts val="300"/>
              </a:spcAft>
              <a:defRPr sz="1400">
                <a:solidFill>
                  <a:srgbClr val="78DC78"/>
                </a:solidFill>
                <a:latin typeface="Courier New"/>
              </a:defRPr>
            </a:pPr>
            <a:r>
              <a:rPr dirty="0"/>
              <a:t>      rec = self._</a:t>
            </a:r>
            <a:r>
              <a:rPr dirty="0" err="1"/>
              <a:t>compute_recency</a:t>
            </a:r>
            <a:r>
              <a:rPr dirty="0"/>
              <a:t>(row)</a:t>
            </a:r>
          </a:p>
          <a:p>
            <a:pPr>
              <a:spcAft>
                <a:spcPts val="300"/>
              </a:spcAft>
              <a:defRPr sz="1400">
                <a:solidFill>
                  <a:srgbClr val="78DC78"/>
                </a:solidFill>
                <a:latin typeface="Courier New"/>
              </a:defRPr>
            </a:pPr>
            <a:r>
              <a:rPr dirty="0"/>
              <a:t>      # </a:t>
            </a:r>
            <a:r>
              <a:rPr dirty="0" err="1"/>
              <a:t>Tổng</a:t>
            </a:r>
            <a:r>
              <a:rPr dirty="0"/>
              <a:t> </a:t>
            </a:r>
            <a:r>
              <a:rPr dirty="0" err="1"/>
              <a:t>có</a:t>
            </a:r>
            <a:r>
              <a:rPr dirty="0"/>
              <a:t> </a:t>
            </a:r>
            <a:r>
              <a:rPr dirty="0" err="1"/>
              <a:t>trọng</a:t>
            </a:r>
            <a:r>
              <a:rPr dirty="0"/>
              <a:t> </a:t>
            </a:r>
            <a:r>
              <a:rPr dirty="0" err="1"/>
              <a:t>số</a:t>
            </a:r>
            <a:endParaRPr dirty="0"/>
          </a:p>
          <a:p>
            <a:pPr>
              <a:spcAft>
                <a:spcPts val="300"/>
              </a:spcAft>
              <a:defRPr sz="1400">
                <a:solidFill>
                  <a:srgbClr val="78DC78"/>
                </a:solidFill>
                <a:latin typeface="Courier New"/>
              </a:defRPr>
            </a:pPr>
            <a:r>
              <a:rPr dirty="0"/>
              <a:t>      total = (</a:t>
            </a:r>
          </a:p>
          <a:p>
            <a:pPr>
              <a:spcAft>
                <a:spcPts val="300"/>
              </a:spcAft>
              <a:defRPr sz="1400">
                <a:solidFill>
                  <a:srgbClr val="78DC78"/>
                </a:solidFill>
                <a:latin typeface="Courier New"/>
              </a:defRPr>
            </a:pPr>
            <a:r>
              <a:rPr dirty="0"/>
              <a:t>          0.35 * lex</a:t>
            </a:r>
          </a:p>
          <a:p>
            <a:pPr>
              <a:spcAft>
                <a:spcPts val="300"/>
              </a:spcAft>
              <a:defRPr sz="1400">
                <a:solidFill>
                  <a:srgbClr val="78DC78"/>
                </a:solidFill>
                <a:latin typeface="Courier New"/>
              </a:defRPr>
            </a:pPr>
            <a:r>
              <a:rPr dirty="0"/>
              <a:t>        + 0.35 * </a:t>
            </a:r>
            <a:r>
              <a:rPr dirty="0" err="1"/>
              <a:t>sem</a:t>
            </a:r>
            <a:endParaRPr dirty="0"/>
          </a:p>
          <a:p>
            <a:pPr>
              <a:spcAft>
                <a:spcPts val="300"/>
              </a:spcAft>
              <a:defRPr sz="1400">
                <a:solidFill>
                  <a:srgbClr val="78DC78"/>
                </a:solidFill>
                <a:latin typeface="Courier New"/>
              </a:defRPr>
            </a:pPr>
            <a:r>
              <a:rPr dirty="0"/>
              <a:t>        + 0.15 * </a:t>
            </a:r>
            <a:r>
              <a:rPr dirty="0" err="1"/>
              <a:t>hist_fit</a:t>
            </a:r>
            <a:endParaRPr dirty="0"/>
          </a:p>
          <a:p>
            <a:pPr>
              <a:spcAft>
                <a:spcPts val="300"/>
              </a:spcAft>
              <a:defRPr sz="1400">
                <a:solidFill>
                  <a:srgbClr val="78DC78"/>
                </a:solidFill>
                <a:latin typeface="Courier New"/>
              </a:defRPr>
            </a:pPr>
            <a:r>
              <a:rPr dirty="0"/>
              <a:t>        + 0.10 * </a:t>
            </a:r>
            <a:r>
              <a:rPr dirty="0" err="1"/>
              <a:t>price_fit</a:t>
            </a:r>
            <a:endParaRPr dirty="0"/>
          </a:p>
          <a:p>
            <a:pPr>
              <a:spcAft>
                <a:spcPts val="300"/>
              </a:spcAft>
              <a:defRPr sz="1400">
                <a:solidFill>
                  <a:srgbClr val="78DC78"/>
                </a:solidFill>
                <a:latin typeface="Courier New"/>
              </a:defRPr>
            </a:pPr>
            <a:r>
              <a:rPr dirty="0"/>
              <a:t>        + 0.05 * rec</a:t>
            </a:r>
          </a:p>
          <a:p>
            <a:pPr>
              <a:spcAft>
                <a:spcPts val="300"/>
              </a:spcAft>
              <a:defRPr sz="1400">
                <a:solidFill>
                  <a:srgbClr val="78DC78"/>
                </a:solidFill>
                <a:latin typeface="Courier New"/>
              </a:defRPr>
            </a:pPr>
            <a:r>
              <a:rPr dirty="0"/>
              <a:t>      )</a:t>
            </a:r>
          </a:p>
          <a:p>
            <a:pPr>
              <a:spcAft>
                <a:spcPts val="300"/>
              </a:spcAft>
              <a:defRPr sz="1400">
                <a:solidFill>
                  <a:srgbClr val="78DC78"/>
                </a:solidFill>
                <a:latin typeface="Courier New"/>
              </a:defRPr>
            </a:pPr>
            <a:endParaRPr dirty="0"/>
          </a:p>
          <a:p>
            <a:pPr>
              <a:spcAft>
                <a:spcPts val="300"/>
              </a:spcAft>
              <a:defRPr sz="1400">
                <a:solidFill>
                  <a:srgbClr val="78DC78"/>
                </a:solidFill>
                <a:latin typeface="Courier New"/>
              </a:defRPr>
            </a:pPr>
            <a:r>
              <a:rPr dirty="0"/>
              <a:t>      </a:t>
            </a:r>
            <a:r>
              <a:rPr dirty="0" err="1"/>
              <a:t>results.append</a:t>
            </a:r>
            <a:r>
              <a:rPr dirty="0"/>
              <a:t>(</a:t>
            </a:r>
            <a:r>
              <a:rPr dirty="0" err="1"/>
              <a:t>RankedTender</a:t>
            </a:r>
            <a:r>
              <a:rPr dirty="0"/>
              <a:t>(</a:t>
            </a:r>
            <a:r>
              <a:rPr dirty="0" err="1"/>
              <a:t>total_score</a:t>
            </a:r>
            <a:r>
              <a:rPr dirty="0"/>
              <a:t>=round(total, 2), ...))</a:t>
            </a:r>
          </a:p>
          <a:p>
            <a:pPr>
              <a:spcAft>
                <a:spcPts val="300"/>
              </a:spcAft>
              <a:defRPr sz="1400">
                <a:solidFill>
                  <a:srgbClr val="78DC78"/>
                </a:solidFill>
                <a:latin typeface="Courier New"/>
              </a:defRPr>
            </a:pPr>
            <a:endParaRPr dirty="0"/>
          </a:p>
          <a:p>
            <a:pPr>
              <a:spcAft>
                <a:spcPts val="300"/>
              </a:spcAft>
              <a:defRPr sz="1400">
                <a:solidFill>
                  <a:srgbClr val="78DC78"/>
                </a:solidFill>
                <a:latin typeface="Courier New"/>
              </a:defRPr>
            </a:pPr>
            <a:r>
              <a:rPr dirty="0"/>
              <a:t>  </a:t>
            </a:r>
            <a:r>
              <a:rPr dirty="0" err="1"/>
              <a:t>results.sort</a:t>
            </a:r>
            <a:r>
              <a:rPr dirty="0"/>
              <a:t>(key=lambda x: </a:t>
            </a:r>
            <a:r>
              <a:rPr dirty="0" err="1"/>
              <a:t>x.total_score</a:t>
            </a:r>
            <a:r>
              <a:rPr dirty="0"/>
              <a:t>, reverse=True)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i="1">
                <a:solidFill>
                  <a:srgbClr val="9696C8"/>
                </a:solidFill>
              </a:defRPr>
            </a:pPr>
            <a:r>
              <a:t>Kết quả cuối: danh sách top-K gói thầu xếp hạng theo total_score giảm dần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F20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Ví Dụ Điểm Số Thực Tế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9766" y="2071254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64A0"/>
                </a:solidFill>
              </a:defRPr>
            </a:pPr>
            <a:r>
              <a:rPr dirty="0" err="1"/>
              <a:t>Gói</a:t>
            </a:r>
            <a:r>
              <a:rPr dirty="0"/>
              <a:t> </a:t>
            </a:r>
            <a:r>
              <a:rPr dirty="0" err="1"/>
              <a:t>thầu</a:t>
            </a:r>
            <a:r>
              <a:rPr dirty="0"/>
              <a:t> A (</a:t>
            </a:r>
            <a:r>
              <a:rPr dirty="0" err="1"/>
              <a:t>khớp</a:t>
            </a:r>
            <a:r>
              <a:rPr dirty="0"/>
              <a:t> </a:t>
            </a:r>
            <a:r>
              <a:rPr dirty="0" err="1"/>
              <a:t>hoàn</a:t>
            </a:r>
            <a:r>
              <a:rPr dirty="0"/>
              <a:t> </a:t>
            </a:r>
            <a:r>
              <a:rPr dirty="0" err="1"/>
              <a:t>hảo</a:t>
            </a:r>
            <a:r>
              <a:rPr dirty="0"/>
              <a:t>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8012" y="2673927"/>
            <a:ext cx="5486400" cy="38933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14143C"/>
                </a:solidFill>
              </a:defRPr>
            </a:pPr>
            <a:r>
              <a:rPr dirty="0"/>
              <a:t>• Query: '</a:t>
            </a:r>
            <a:r>
              <a:rPr dirty="0" err="1"/>
              <a:t>Xây</a:t>
            </a:r>
            <a:r>
              <a:rPr dirty="0"/>
              <a:t> </a:t>
            </a:r>
            <a:r>
              <a:rPr dirty="0" err="1"/>
              <a:t>dựng</a:t>
            </a:r>
            <a:r>
              <a:rPr dirty="0"/>
              <a:t> </a:t>
            </a:r>
            <a:r>
              <a:rPr dirty="0" err="1"/>
              <a:t>cầu</a:t>
            </a:r>
            <a:r>
              <a:rPr dirty="0"/>
              <a:t> </a:t>
            </a:r>
            <a:r>
              <a:rPr dirty="0" err="1"/>
              <a:t>giao</a:t>
            </a:r>
            <a:r>
              <a:rPr dirty="0"/>
              <a:t> </a:t>
            </a:r>
            <a:r>
              <a:rPr dirty="0" err="1"/>
              <a:t>thông</a:t>
            </a:r>
            <a:r>
              <a:rPr dirty="0"/>
              <a:t>'</a:t>
            </a:r>
          </a:p>
          <a:p>
            <a:pPr>
              <a:spcAft>
                <a:spcPts val="600"/>
              </a:spcAft>
              <a:defRPr sz="1600">
                <a:solidFill>
                  <a:srgbClr val="14143C"/>
                </a:solidFill>
              </a:defRPr>
            </a:pPr>
            <a:r>
              <a:rPr dirty="0"/>
              <a:t>• </a:t>
            </a:r>
            <a:r>
              <a:rPr dirty="0" err="1"/>
              <a:t>Lĩnh</a:t>
            </a:r>
            <a:r>
              <a:rPr dirty="0"/>
              <a:t> </a:t>
            </a:r>
            <a:r>
              <a:rPr dirty="0" err="1"/>
              <a:t>vực</a:t>
            </a:r>
            <a:r>
              <a:rPr dirty="0"/>
              <a:t>: '</a:t>
            </a:r>
            <a:r>
              <a:rPr dirty="0" err="1"/>
              <a:t>Xây</a:t>
            </a:r>
            <a:r>
              <a:rPr dirty="0"/>
              <a:t> </a:t>
            </a:r>
            <a:r>
              <a:rPr dirty="0" err="1"/>
              <a:t>dựng</a:t>
            </a:r>
            <a:r>
              <a:rPr dirty="0"/>
              <a:t> </a:t>
            </a:r>
            <a:r>
              <a:rPr dirty="0" err="1"/>
              <a:t>cầu</a:t>
            </a:r>
            <a:r>
              <a:rPr dirty="0"/>
              <a:t>' (</a:t>
            </a:r>
            <a:r>
              <a:rPr dirty="0" err="1"/>
              <a:t>mạnh</a:t>
            </a:r>
            <a:r>
              <a:rPr dirty="0"/>
              <a:t>)</a:t>
            </a:r>
          </a:p>
          <a:p>
            <a:pPr>
              <a:spcAft>
                <a:spcPts val="600"/>
              </a:spcAft>
              <a:defRPr sz="1600">
                <a:solidFill>
                  <a:srgbClr val="14143C"/>
                </a:solidFill>
              </a:defRPr>
            </a:pPr>
            <a:r>
              <a:rPr dirty="0"/>
              <a:t>• </a:t>
            </a:r>
            <a:r>
              <a:rPr dirty="0" err="1"/>
              <a:t>Địa</a:t>
            </a:r>
            <a:r>
              <a:rPr dirty="0"/>
              <a:t> </a:t>
            </a:r>
            <a:r>
              <a:rPr dirty="0" err="1"/>
              <a:t>bàn</a:t>
            </a:r>
            <a:r>
              <a:rPr dirty="0"/>
              <a:t>: 'Hà </a:t>
            </a:r>
            <a:r>
              <a:rPr dirty="0" err="1"/>
              <a:t>Nội</a:t>
            </a:r>
            <a:r>
              <a:rPr dirty="0"/>
              <a:t>' (</a:t>
            </a:r>
            <a:r>
              <a:rPr dirty="0" err="1"/>
              <a:t>mạnh</a:t>
            </a:r>
            <a:r>
              <a:rPr dirty="0"/>
              <a:t>)</a:t>
            </a:r>
          </a:p>
          <a:p>
            <a:pPr>
              <a:spcAft>
                <a:spcPts val="600"/>
              </a:spcAft>
              <a:defRPr sz="1600">
                <a:solidFill>
                  <a:srgbClr val="14143C"/>
                </a:solidFill>
              </a:defRPr>
            </a:pPr>
            <a:r>
              <a:rPr dirty="0"/>
              <a:t>• </a:t>
            </a:r>
            <a:r>
              <a:rPr dirty="0" err="1"/>
              <a:t>Giá</a:t>
            </a:r>
            <a:r>
              <a:rPr dirty="0"/>
              <a:t>: 10 </a:t>
            </a:r>
            <a:r>
              <a:rPr dirty="0" err="1"/>
              <a:t>Tỷ</a:t>
            </a:r>
            <a:r>
              <a:rPr dirty="0"/>
              <a:t> (</a:t>
            </a:r>
            <a:r>
              <a:rPr dirty="0" err="1"/>
              <a:t>trong</a:t>
            </a:r>
            <a:r>
              <a:rPr dirty="0"/>
              <a:t> </a:t>
            </a:r>
            <a:r>
              <a:rPr dirty="0" err="1"/>
              <a:t>khung</a:t>
            </a:r>
            <a:r>
              <a:rPr dirty="0"/>
              <a:t> 5-15T)</a:t>
            </a:r>
          </a:p>
          <a:p>
            <a:pPr>
              <a:spcAft>
                <a:spcPts val="600"/>
              </a:spcAft>
              <a:defRPr sz="1600">
                <a:solidFill>
                  <a:srgbClr val="14143C"/>
                </a:solidFill>
              </a:defRPr>
            </a:pPr>
            <a:r>
              <a:rPr dirty="0"/>
              <a:t>• Deadline: 5 </a:t>
            </a:r>
            <a:r>
              <a:rPr dirty="0" err="1"/>
              <a:t>ngày</a:t>
            </a:r>
            <a:r>
              <a:rPr dirty="0"/>
              <a:t> </a:t>
            </a:r>
            <a:r>
              <a:rPr dirty="0" err="1"/>
              <a:t>nữa</a:t>
            </a:r>
            <a:r>
              <a:rPr dirty="0"/>
              <a:t> (</a:t>
            </a:r>
            <a:r>
              <a:rPr dirty="0" err="1"/>
              <a:t>sắp</a:t>
            </a:r>
            <a:r>
              <a:rPr dirty="0"/>
              <a:t> </a:t>
            </a:r>
            <a:r>
              <a:rPr dirty="0" err="1"/>
              <a:t>đóng</a:t>
            </a:r>
            <a:r>
              <a:rPr dirty="0"/>
              <a:t>)</a:t>
            </a:r>
          </a:p>
          <a:p>
            <a:pPr>
              <a:spcAft>
                <a:spcPts val="600"/>
              </a:spcAft>
              <a:defRPr sz="1600">
                <a:solidFill>
                  <a:srgbClr val="14143C"/>
                </a:solidFill>
              </a:defRPr>
            </a:pPr>
            <a:r>
              <a:rPr lang="vi-VN" dirty="0"/>
              <a:t>---------------------------------------------</a:t>
            </a:r>
            <a:endParaRPr dirty="0"/>
          </a:p>
          <a:p>
            <a:pPr>
              <a:spcAft>
                <a:spcPts val="600"/>
              </a:spcAft>
              <a:defRPr sz="1600">
                <a:solidFill>
                  <a:srgbClr val="14143C"/>
                </a:solidFill>
              </a:defRPr>
            </a:pPr>
            <a:r>
              <a:rPr dirty="0"/>
              <a:t>• lexical:  0.35 x 95 = 33.25</a:t>
            </a:r>
          </a:p>
          <a:p>
            <a:pPr>
              <a:spcAft>
                <a:spcPts val="600"/>
              </a:spcAft>
              <a:defRPr sz="1600">
                <a:solidFill>
                  <a:srgbClr val="14143C"/>
                </a:solidFill>
              </a:defRPr>
            </a:pPr>
            <a:r>
              <a:rPr dirty="0"/>
              <a:t>• semantic: 0.35 x 91 = 31.85</a:t>
            </a:r>
          </a:p>
          <a:p>
            <a:pPr>
              <a:spcAft>
                <a:spcPts val="600"/>
              </a:spcAft>
              <a:defRPr sz="1600">
                <a:solidFill>
                  <a:srgbClr val="14143C"/>
                </a:solidFill>
              </a:defRPr>
            </a:pPr>
            <a:r>
              <a:rPr dirty="0"/>
              <a:t>• historical: 0.15 x 80 = 12.00</a:t>
            </a:r>
          </a:p>
          <a:p>
            <a:pPr>
              <a:spcAft>
                <a:spcPts val="600"/>
              </a:spcAft>
              <a:defRPr sz="1600">
                <a:solidFill>
                  <a:srgbClr val="14143C"/>
                </a:solidFill>
              </a:defRPr>
            </a:pPr>
            <a:r>
              <a:rPr dirty="0"/>
              <a:t>• price:    0.10 x 100 = 10.00</a:t>
            </a:r>
          </a:p>
          <a:p>
            <a:pPr>
              <a:spcAft>
                <a:spcPts val="600"/>
              </a:spcAft>
              <a:defRPr sz="1600">
                <a:solidFill>
                  <a:srgbClr val="14143C"/>
                </a:solidFill>
              </a:defRPr>
            </a:pPr>
            <a:r>
              <a:rPr dirty="0"/>
              <a:t>• recency:  0.05 x 100 =  5.00</a:t>
            </a:r>
          </a:p>
          <a:p>
            <a:pPr>
              <a:spcAft>
                <a:spcPts val="600"/>
              </a:spcAft>
              <a:defRPr sz="1600">
                <a:solidFill>
                  <a:srgbClr val="14143C"/>
                </a:solidFill>
              </a:defRPr>
            </a:pPr>
            <a:r>
              <a:rPr dirty="0"/>
              <a:t>• TOTAL:              = 92.10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10400" y="1584267"/>
            <a:ext cx="439404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B43232"/>
                </a:solidFill>
              </a:defRPr>
            </a:pPr>
            <a:r>
              <a:rPr sz="1600" dirty="0" err="1"/>
              <a:t>Gói</a:t>
            </a:r>
            <a:r>
              <a:rPr sz="1600" dirty="0"/>
              <a:t> </a:t>
            </a:r>
            <a:r>
              <a:rPr lang="vi-VN" sz="1600" dirty="0"/>
              <a:t>thầu:Chi phí mua sắm trang thiết bị (Đã bao gồm chi phí triển khai cài đặt, cấu hình, hướng dẫn sử dụng) </a:t>
            </a:r>
            <a:endParaRPr sz="1600" dirty="0"/>
          </a:p>
        </p:txBody>
      </p:sp>
      <p:sp>
        <p:nvSpPr>
          <p:cNvPr id="7" name="TextBox 6"/>
          <p:cNvSpPr txBox="1"/>
          <p:nvPr/>
        </p:nvSpPr>
        <p:spPr>
          <a:xfrm>
            <a:off x="7010400" y="2528454"/>
            <a:ext cx="5486400" cy="41395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14143C"/>
                </a:solidFill>
              </a:defRPr>
            </a:pPr>
            <a:r>
              <a:rPr dirty="0"/>
              <a:t>• Query: </a:t>
            </a:r>
            <a:r>
              <a:rPr lang="vi-VN" dirty="0"/>
              <a:t>"</a:t>
            </a:r>
            <a:r>
              <a:rPr lang="vi-VN" sz="1600" dirty="0"/>
              <a:t>Chi phí mua sắm trang thiết bị”</a:t>
            </a:r>
            <a:endParaRPr dirty="0"/>
          </a:p>
          <a:p>
            <a:pPr>
              <a:spcAft>
                <a:spcPts val="600"/>
              </a:spcAft>
              <a:defRPr sz="1600">
                <a:solidFill>
                  <a:srgbClr val="14143C"/>
                </a:solidFill>
              </a:defRPr>
            </a:pPr>
            <a:r>
              <a:rPr dirty="0"/>
              <a:t>• </a:t>
            </a:r>
            <a:r>
              <a:rPr dirty="0" err="1"/>
              <a:t>Lĩnh</a:t>
            </a:r>
            <a:r>
              <a:rPr dirty="0"/>
              <a:t> </a:t>
            </a:r>
            <a:r>
              <a:rPr dirty="0" err="1"/>
              <a:t>vực</a:t>
            </a:r>
            <a:r>
              <a:rPr dirty="0"/>
              <a:t>: </a:t>
            </a:r>
            <a:r>
              <a:rPr lang="en-US" dirty="0" err="1"/>
              <a:t>Hàng</a:t>
            </a:r>
            <a:r>
              <a:rPr lang="en-US" dirty="0"/>
              <a:t> </a:t>
            </a:r>
            <a:r>
              <a:rPr lang="vi-VN" dirty="0"/>
              <a:t>hóa (khớp)</a:t>
            </a:r>
          </a:p>
          <a:p>
            <a:pPr>
              <a:spcAft>
                <a:spcPts val="600"/>
              </a:spcAft>
              <a:defRPr sz="1600">
                <a:solidFill>
                  <a:srgbClr val="14143C"/>
                </a:solidFill>
              </a:defRPr>
            </a:pPr>
            <a:r>
              <a:rPr dirty="0"/>
              <a:t>• </a:t>
            </a:r>
            <a:r>
              <a:rPr dirty="0" err="1"/>
              <a:t>Địa</a:t>
            </a:r>
            <a:r>
              <a:rPr dirty="0"/>
              <a:t> </a:t>
            </a:r>
            <a:r>
              <a:rPr dirty="0" err="1"/>
              <a:t>bàn</a:t>
            </a:r>
            <a:r>
              <a:rPr dirty="0"/>
              <a:t>: </a:t>
            </a:r>
            <a:r>
              <a:rPr lang="en-US" dirty="0" err="1"/>
              <a:t>Tỉnh</a:t>
            </a:r>
            <a:r>
              <a:rPr lang="en-US" dirty="0"/>
              <a:t> </a:t>
            </a:r>
            <a:r>
              <a:rPr lang="en-US" dirty="0" err="1"/>
              <a:t>Đồng</a:t>
            </a:r>
            <a:r>
              <a:rPr lang="en-US" dirty="0"/>
              <a:t> Nai</a:t>
            </a:r>
            <a:r>
              <a:rPr dirty="0"/>
              <a:t>' (</a:t>
            </a:r>
            <a:r>
              <a:rPr dirty="0" err="1"/>
              <a:t>không</a:t>
            </a:r>
            <a:r>
              <a:rPr dirty="0"/>
              <a:t> </a:t>
            </a:r>
            <a:r>
              <a:rPr dirty="0" err="1"/>
              <a:t>mạnh</a:t>
            </a:r>
            <a:r>
              <a:rPr dirty="0"/>
              <a:t>)</a:t>
            </a:r>
          </a:p>
          <a:p>
            <a:pPr>
              <a:spcAft>
                <a:spcPts val="600"/>
              </a:spcAft>
              <a:defRPr sz="1600">
                <a:solidFill>
                  <a:srgbClr val="14143C"/>
                </a:solidFill>
              </a:defRPr>
            </a:pPr>
            <a:r>
              <a:rPr dirty="0"/>
              <a:t>• </a:t>
            </a:r>
            <a:r>
              <a:rPr dirty="0" err="1"/>
              <a:t>Giá</a:t>
            </a:r>
            <a:r>
              <a:rPr dirty="0"/>
              <a:t>: </a:t>
            </a:r>
            <a:r>
              <a:rPr lang="vi-VN" dirty="0"/>
              <a:t>21</a:t>
            </a:r>
            <a:r>
              <a:rPr dirty="0"/>
              <a:t> </a:t>
            </a:r>
            <a:r>
              <a:rPr dirty="0" err="1"/>
              <a:t>Tỷ</a:t>
            </a:r>
            <a:r>
              <a:rPr dirty="0"/>
              <a:t> (</a:t>
            </a:r>
            <a:r>
              <a:rPr lang="vi-VN" dirty="0"/>
              <a:t>trong</a:t>
            </a:r>
            <a:r>
              <a:rPr dirty="0"/>
              <a:t> </a:t>
            </a:r>
            <a:r>
              <a:rPr dirty="0" err="1"/>
              <a:t>khung</a:t>
            </a:r>
            <a:r>
              <a:rPr dirty="0"/>
              <a:t>)</a:t>
            </a:r>
          </a:p>
          <a:p>
            <a:pPr>
              <a:spcAft>
                <a:spcPts val="600"/>
              </a:spcAft>
              <a:defRPr sz="1600">
                <a:solidFill>
                  <a:srgbClr val="14143C"/>
                </a:solidFill>
              </a:defRPr>
            </a:pPr>
            <a:r>
              <a:rPr dirty="0"/>
              <a:t>• Deadline: </a:t>
            </a:r>
            <a:r>
              <a:rPr lang="vi-VN" dirty="0"/>
              <a:t>7</a:t>
            </a:r>
            <a:r>
              <a:rPr dirty="0"/>
              <a:t> </a:t>
            </a:r>
            <a:r>
              <a:rPr dirty="0" err="1"/>
              <a:t>ngày</a:t>
            </a:r>
            <a:r>
              <a:rPr dirty="0"/>
              <a:t> </a:t>
            </a:r>
            <a:r>
              <a:rPr dirty="0" err="1"/>
              <a:t>nữa</a:t>
            </a:r>
            <a:endParaRPr lang="en-US" dirty="0"/>
          </a:p>
          <a:p>
            <a:pPr>
              <a:spcAft>
                <a:spcPts val="600"/>
              </a:spcAft>
              <a:defRPr sz="1600">
                <a:solidFill>
                  <a:srgbClr val="14143C"/>
                </a:solidFill>
              </a:defRPr>
            </a:pPr>
            <a:r>
              <a:rPr lang="vi-VN" dirty="0"/>
              <a:t>---------------------------------------------------------</a:t>
            </a:r>
            <a:r>
              <a:rPr lang="en-US" dirty="0"/>
              <a:t> </a:t>
            </a:r>
          </a:p>
          <a:p>
            <a:pPr>
              <a:spcAft>
                <a:spcPts val="600"/>
              </a:spcAft>
              <a:defRPr sz="1600">
                <a:solidFill>
                  <a:srgbClr val="14143C"/>
                </a:solidFill>
              </a:defRPr>
            </a:pPr>
            <a:r>
              <a:rPr dirty="0"/>
              <a:t>• lexical:  </a:t>
            </a:r>
            <a:r>
              <a:rPr lang="en-US" dirty="0"/>
              <a:t>12,29</a:t>
            </a:r>
            <a:endParaRPr dirty="0"/>
          </a:p>
          <a:p>
            <a:pPr>
              <a:spcAft>
                <a:spcPts val="600"/>
              </a:spcAft>
              <a:defRPr sz="1600">
                <a:solidFill>
                  <a:srgbClr val="14143C"/>
                </a:solidFill>
              </a:defRPr>
            </a:pPr>
            <a:r>
              <a:rPr dirty="0"/>
              <a:t>• semantic: </a:t>
            </a:r>
            <a:r>
              <a:rPr lang="en-US" dirty="0"/>
              <a:t>73,27</a:t>
            </a:r>
            <a:endParaRPr dirty="0"/>
          </a:p>
          <a:p>
            <a:pPr>
              <a:spcAft>
                <a:spcPts val="600"/>
              </a:spcAft>
              <a:defRPr sz="1600">
                <a:solidFill>
                  <a:srgbClr val="14143C"/>
                </a:solidFill>
              </a:defRPr>
            </a:pPr>
            <a:r>
              <a:rPr dirty="0"/>
              <a:t>• historical: </a:t>
            </a:r>
            <a:r>
              <a:rPr lang="en-US" dirty="0"/>
              <a:t>100</a:t>
            </a:r>
            <a:endParaRPr dirty="0"/>
          </a:p>
          <a:p>
            <a:pPr>
              <a:spcAft>
                <a:spcPts val="600"/>
              </a:spcAft>
              <a:defRPr sz="1600">
                <a:solidFill>
                  <a:srgbClr val="14143C"/>
                </a:solidFill>
              </a:defRPr>
            </a:pPr>
            <a:r>
              <a:rPr dirty="0"/>
              <a:t>• price: </a:t>
            </a:r>
            <a:r>
              <a:rPr lang="en-US" dirty="0"/>
              <a:t>78,92</a:t>
            </a:r>
            <a:endParaRPr dirty="0"/>
          </a:p>
          <a:p>
            <a:pPr>
              <a:spcAft>
                <a:spcPts val="600"/>
              </a:spcAft>
              <a:defRPr sz="1600">
                <a:solidFill>
                  <a:srgbClr val="14143C"/>
                </a:solidFill>
              </a:defRPr>
            </a:pPr>
            <a:r>
              <a:rPr dirty="0"/>
              <a:t>• recency:  </a:t>
            </a:r>
            <a:r>
              <a:rPr lang="vi-VN" dirty="0"/>
              <a:t>30</a:t>
            </a:r>
            <a:endParaRPr dirty="0"/>
          </a:p>
          <a:p>
            <a:pPr>
              <a:spcAft>
                <a:spcPts val="600"/>
              </a:spcAft>
              <a:defRPr sz="1600">
                <a:solidFill>
                  <a:srgbClr val="14143C"/>
                </a:solidFill>
              </a:defRPr>
            </a:pPr>
            <a:r>
              <a:rPr dirty="0"/>
              <a:t>• TOTAL:  = </a:t>
            </a:r>
            <a:r>
              <a:rPr lang="vi-VN" dirty="0"/>
              <a:t>12.29*0.35 +73,27*0.35 + 100*0.15 + </a:t>
            </a:r>
            <a:br>
              <a:rPr lang="vi-VN" dirty="0"/>
            </a:br>
            <a:r>
              <a:rPr lang="vi-VN" dirty="0"/>
              <a:t>78.92*0.1 +30*0.05 = 54.3 </a:t>
            </a:r>
            <a:endParaRPr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2370F7D4-F2D8-7546-A83B-C17FA341E8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9255" y="1097280"/>
            <a:ext cx="6243914" cy="5472153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64A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0"/>
            <a:ext cx="11274552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5. Kết Luận &amp; Định Hướng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F20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Tổng Kết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28016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64A0"/>
                </a:solidFill>
              </a:defRPr>
            </a:pPr>
            <a:r>
              <a:t>Điểm mạnh của hệ thống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73736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14143C"/>
                </a:solidFill>
              </a:defRPr>
            </a:pPr>
            <a:r>
              <a:t>• TF-IDF: nhanh, đơn giản, keyword match chính xác</a:t>
            </a:r>
          </a:p>
          <a:p>
            <a:pPr>
              <a:spcAft>
                <a:spcPts val="600"/>
              </a:spcAft>
              <a:defRPr sz="1600">
                <a:solidFill>
                  <a:srgbClr val="14143C"/>
                </a:solidFill>
              </a:defRPr>
            </a:pPr>
            <a:r>
              <a:t>• Sentence-BERT: hiểu ngữ nghĩa tiếng Việt</a:t>
            </a:r>
          </a:p>
          <a:p>
            <a:pPr>
              <a:spcAft>
                <a:spcPts val="600"/>
              </a:spcAft>
              <a:defRPr sz="1600">
                <a:solidFill>
                  <a:srgbClr val="14143C"/>
                </a:solidFill>
              </a:defRPr>
            </a:pPr>
            <a:r>
              <a:t>• Hybrid: kết hợp cả 2, cân bằng precision và recall</a:t>
            </a:r>
          </a:p>
          <a:p>
            <a:pPr>
              <a:spcAft>
                <a:spcPts val="600"/>
              </a:spcAft>
              <a:defRPr sz="1600">
                <a:solidFill>
                  <a:srgbClr val="14143C"/>
                </a:solidFill>
              </a:defRPr>
            </a:pPr>
            <a:r>
              <a:t>• Company Profile: personalization dựa trên lịch sử DN</a:t>
            </a:r>
          </a:p>
          <a:p>
            <a:pPr>
              <a:spcAft>
                <a:spcPts val="600"/>
              </a:spcAft>
              <a:defRPr sz="1600">
                <a:solidFill>
                  <a:srgbClr val="14143C"/>
                </a:solidFill>
              </a:defRPr>
            </a:pPr>
            <a:r>
              <a:t>• Recency: ưu tiên gói thầu gấp</a:t>
            </a:r>
          </a:p>
          <a:p>
            <a:pPr>
              <a:spcAft>
                <a:spcPts val="600"/>
              </a:spcAft>
              <a:defRPr sz="1600">
                <a:solidFill>
                  <a:srgbClr val="14143C"/>
                </a:solidFill>
              </a:defRPr>
            </a:pPr>
            <a:r>
              <a:t>• Không cần train model: pre-trained, off-the-shelf</a:t>
            </a:r>
          </a:p>
          <a:p>
            <a:pPr>
              <a:spcAft>
                <a:spcPts val="600"/>
              </a:spcAft>
              <a:defRPr sz="1600">
                <a:solidFill>
                  <a:srgbClr val="14143C"/>
                </a:solidFill>
              </a:defRPr>
            </a:pPr>
            <a:r>
              <a:t>• Artifact-based: build offline, query online nhanh</a:t>
            </a:r>
          </a:p>
          <a:p>
            <a:pPr>
              <a:spcAft>
                <a:spcPts val="600"/>
              </a:spcAft>
              <a:defRPr sz="1600">
                <a:solidFill>
                  <a:srgbClr val="14143C"/>
                </a:solidFill>
              </a:defRPr>
            </a:pPr>
            <a:r>
              <a:t>• Graceful degradation: semantic tắt được nếu chưa cài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28016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B43232"/>
                </a:solidFill>
              </a:defRPr>
            </a:pPr>
            <a:r>
              <a:t>Hạn chế &amp; Cải tiến tiềm năng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73736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14143C"/>
                </a:solidFill>
              </a:defRPr>
            </a:pPr>
            <a:r>
              <a:t>• TF-IDF: không hiểu ngữ cảnh, nhạy với từ hiếm</a:t>
            </a:r>
          </a:p>
          <a:p>
            <a:pPr>
              <a:spcAft>
                <a:spcPts val="600"/>
              </a:spcAft>
              <a:defRPr sz="1600">
                <a:solidFill>
                  <a:srgbClr val="14143C"/>
                </a:solidFill>
              </a:defRPr>
            </a:pPr>
            <a:r>
              <a:t>• Sentence-BERT: model nhỏ, có thể yếu với ngữ pháp PV phức tạp</a:t>
            </a:r>
          </a:p>
          <a:p>
            <a:pPr>
              <a:spcAft>
                <a:spcPts val="600"/>
              </a:spcAft>
              <a:defRPr sz="1600">
                <a:solidFill>
                  <a:srgbClr val="14143C"/>
                </a:solidFill>
              </a:defRPr>
            </a:pPr>
            <a:r>
              <a:t>• Heuristic scoring: chưa tối ưu bằng learn-to-rank</a:t>
            </a:r>
          </a:p>
          <a:p>
            <a:pPr>
              <a:spcAft>
                <a:spcPts val="600"/>
              </a:spcAft>
              <a:defRPr sz="1600">
                <a:solidFill>
                  <a:srgbClr val="14143C"/>
                </a:solidFill>
              </a:defRPr>
            </a:pPr>
            <a:r>
              <a:t>• Thiếu re-ranking: BM25 / cross-encoder có thể tốt hơn</a:t>
            </a:r>
          </a:p>
          <a:p>
            <a:pPr>
              <a:spcAft>
                <a:spcPts val="600"/>
              </a:spcAft>
              <a:defRPr sz="1600">
                <a:solidFill>
                  <a:srgbClr val="14143C"/>
                </a:solidFill>
              </a:defRPr>
            </a:pPr>
            <a:r>
              <a:t>• Chưa dùng fine-tuning: nên fine-tune BERT trên data dauthau</a:t>
            </a:r>
          </a:p>
          <a:p>
            <a:pPr>
              <a:spcAft>
                <a:spcPts val="600"/>
              </a:spcAft>
              <a:defRPr sz="1600">
                <a:solidFill>
                  <a:srgbClr val="14143C"/>
                </a:solidFill>
              </a:defRPr>
            </a:pPr>
            <a:r>
              <a:t>• BM25 thay thế TF-IDF?</a:t>
            </a:r>
          </a:p>
          <a:p>
            <a:pPr>
              <a:spcAft>
                <a:spcPts val="600"/>
              </a:spcAft>
              <a:defRPr sz="1600">
                <a:solidFill>
                  <a:srgbClr val="14143C"/>
                </a:solidFill>
              </a:defRPr>
            </a:pPr>
            <a:r>
              <a:t>• Cross-encoder re-ranking top-K?</a:t>
            </a:r>
          </a:p>
          <a:p>
            <a:pPr>
              <a:spcAft>
                <a:spcPts val="600"/>
              </a:spcAft>
              <a:defRPr sz="1600">
                <a:solidFill>
                  <a:srgbClr val="14143C"/>
                </a:solidFill>
              </a:defRPr>
            </a:pPr>
            <a:r>
              <a:t>• Điều chỉnh trọng số bằng offline evaluation?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163;p9" descr="Image result for Q&amp;A">
            <a:extLst>
              <a:ext uri="{FF2B5EF4-FFF2-40B4-BE49-F238E27FC236}">
                <a16:creationId xmlns:a16="http://schemas.microsoft.com/office/drawing/2014/main" id="{CC1D5C9D-9272-016B-7131-4430912A8BBA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088375" y="1092455"/>
            <a:ext cx="6996183" cy="467308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0843841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128</TotalTime>
  <Words>2709</Words>
  <Application>Microsoft Office PowerPoint</Application>
  <PresentationFormat>Custom</PresentationFormat>
  <Paragraphs>321</Paragraphs>
  <Slides>23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8" baseType="lpstr">
      <vt:lpstr>Arial</vt:lpstr>
      <vt:lpstr>Calibri</vt:lpstr>
      <vt:lpstr>Cambria</vt:lpstr>
      <vt:lpstr>Google Sans Text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Cong Minh Nguyen</cp:lastModifiedBy>
  <cp:revision>8</cp:revision>
  <dcterms:created xsi:type="dcterms:W3CDTF">2013-01-27T09:14:16Z</dcterms:created>
  <dcterms:modified xsi:type="dcterms:W3CDTF">2026-03-27T07:34:12Z</dcterms:modified>
  <cp:category/>
</cp:coreProperties>
</file>