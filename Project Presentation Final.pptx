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0" r:id="rId3"/>
    <p:sldId id="296" r:id="rId4"/>
    <p:sldId id="281" r:id="rId5"/>
    <p:sldId id="292" r:id="rId6"/>
    <p:sldId id="283" r:id="rId7"/>
    <p:sldId id="294" r:id="rId8"/>
    <p:sldId id="293" r:id="rId9"/>
    <p:sldId id="297" r:id="rId10"/>
    <p:sldId id="298" r:id="rId11"/>
    <p:sldId id="282" r:id="rId12"/>
    <p:sldId id="284" r:id="rId13"/>
    <p:sldId id="285" r:id="rId14"/>
    <p:sldId id="299" r:id="rId15"/>
    <p:sldId id="301" r:id="rId16"/>
    <p:sldId id="300" r:id="rId17"/>
    <p:sldId id="302" r:id="rId18"/>
    <p:sldId id="303" r:id="rId19"/>
    <p:sldId id="304" r:id="rId20"/>
    <p:sldId id="305" r:id="rId21"/>
    <p:sldId id="306" r:id="rId22"/>
    <p:sldId id="308" r:id="rId23"/>
    <p:sldId id="309" r:id="rId24"/>
    <p:sldId id="291" r:id="rId25"/>
    <p:sldId id="311" r:id="rId26"/>
    <p:sldId id="312" r:id="rId27"/>
    <p:sldId id="313" r:id="rId28"/>
    <p:sldId id="314" r:id="rId29"/>
    <p:sldId id="290" r:id="rId30"/>
    <p:sldId id="316" r:id="rId31"/>
    <p:sldId id="277" r:id="rId3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J8L8rZvXpIpP40bJJTgxOGqaY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B227-69CE-27B1-27FA-C282AF81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0B8F8-569E-7348-B338-F929BA98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A01D9-B233-DF6F-1227-6B0B0E140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01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1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685800" y="1700808"/>
            <a:ext cx="7772400" cy="79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C0081"/>
              </a:buClr>
              <a:buSzPts val="4000"/>
              <a:buFont typeface="Calibri"/>
              <a:buNone/>
              <a:defRPr sz="4000" b="1" cap="none">
                <a:solidFill>
                  <a:srgbClr val="DC00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683568" y="2495327"/>
            <a:ext cx="7776864" cy="62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rgbClr val="280099"/>
              </a:buClr>
              <a:buSzPts val="3400"/>
              <a:buChar char="•"/>
              <a:defRPr sz="3400" b="1" i="1">
                <a:solidFill>
                  <a:srgbClr val="280099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sz="36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20" name="Google Shape;20;p12"/>
          <p:cNvCxnSpPr/>
          <p:nvPr/>
        </p:nvCxnSpPr>
        <p:spPr>
          <a:xfrm rot="10800000" flipH="1">
            <a:off x="457200" y="822722"/>
            <a:ext cx="8229600" cy="15783"/>
          </a:xfrm>
          <a:prstGeom prst="straightConnector1">
            <a:avLst/>
          </a:prstGeom>
          <a:noFill/>
          <a:ln w="9525" cap="flat" cmpd="sng">
            <a:solidFill>
              <a:srgbClr val="BD4B4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12"/>
          <p:cNvSpPr/>
          <p:nvPr/>
        </p:nvSpPr>
        <p:spPr>
          <a:xfrm>
            <a:off x="444243" y="6496883"/>
            <a:ext cx="874439" cy="3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en-US" sz="1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vi-VN" sz="1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dirty="0"/>
          </a:p>
        </p:txBody>
      </p:sp>
      <p:cxnSp>
        <p:nvCxnSpPr>
          <p:cNvPr id="23" name="Google Shape;23;p12"/>
          <p:cNvCxnSpPr/>
          <p:nvPr/>
        </p:nvCxnSpPr>
        <p:spPr>
          <a:xfrm>
            <a:off x="444243" y="6496883"/>
            <a:ext cx="874439" cy="0"/>
          </a:xfrm>
          <a:prstGeom prst="straightConnector1">
            <a:avLst/>
          </a:prstGeom>
          <a:noFill/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54" name="Picture 6" descr="Logo vietinbank qua các thời kỳ và ý nghĩa thương hiệu">
            <a:extLst>
              <a:ext uri="{FF2B5EF4-FFF2-40B4-BE49-F238E27FC236}">
                <a16:creationId xmlns:a16="http://schemas.microsoft.com/office/drawing/2014/main" id="{C85B9FC8-D8A9-24ED-38A5-1D34CF17E0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49" y="0"/>
            <a:ext cx="2349062" cy="63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>
            <a:spLocks noGrp="1"/>
          </p:cNvSpPr>
          <p:nvPr>
            <p:ph type="ctrTitle"/>
          </p:nvPr>
        </p:nvSpPr>
        <p:spPr>
          <a:xfrm>
            <a:off x="203577" y="2223453"/>
            <a:ext cx="8940423" cy="241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vi-VN" sz="3600" dirty="0">
                <a:solidFill>
                  <a:srgbClr val="0070C0"/>
                </a:solidFill>
              </a:rPr>
              <a:t>Hệ thống gợi ý đấu thầu </a:t>
            </a:r>
            <a:br>
              <a:rPr lang="vi-VN" sz="3600" dirty="0">
                <a:solidFill>
                  <a:srgbClr val="0070C0"/>
                </a:solidFill>
              </a:rPr>
            </a:br>
            <a:r>
              <a:rPr lang="vi-VN" sz="3600" dirty="0">
                <a:solidFill>
                  <a:srgbClr val="0070C0"/>
                </a:solidFill>
              </a:rPr>
              <a:t>cho doanh nghiệp</a:t>
            </a:r>
            <a:endParaRPr dirty="0"/>
          </a:p>
        </p:txBody>
      </p:sp>
      <p:pic>
        <p:nvPicPr>
          <p:cNvPr id="1026" name="Picture 2" descr="Logo vietinbank qua các thời kỳ và ý nghĩa thương hiệu">
            <a:extLst>
              <a:ext uri="{FF2B5EF4-FFF2-40B4-BE49-F238E27FC236}">
                <a16:creationId xmlns:a16="http://schemas.microsoft.com/office/drawing/2014/main" id="{2589EE77-503E-B48B-C3AC-69BCF297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696" y="703380"/>
            <a:ext cx="4495295" cy="121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618B-73E8-E228-EC82-113A1061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Nội dung trình bày</a:t>
            </a:r>
            <a:endParaRPr lang="en-US" dirty="0"/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EE17F8BD-C872-85F4-2706-35D1AC5F3755}"/>
              </a:ext>
            </a:extLst>
          </p:cNvPr>
          <p:cNvSpPr/>
          <p:nvPr/>
        </p:nvSpPr>
        <p:spPr>
          <a:xfrm>
            <a:off x="365760" y="146304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1D775C-2B81-C642-2ACB-CAFFED127F0B}"/>
              </a:ext>
            </a:extLst>
          </p:cNvPr>
          <p:cNvSpPr txBox="1"/>
          <p:nvPr/>
        </p:nvSpPr>
        <p:spPr>
          <a:xfrm>
            <a:off x="5486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5AA518-8614-26CD-D49A-E69A41359830}"/>
              </a:ext>
            </a:extLst>
          </p:cNvPr>
          <p:cNvSpPr txBox="1"/>
          <p:nvPr/>
        </p:nvSpPr>
        <p:spPr>
          <a:xfrm>
            <a:off x="1234440" y="1601784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Tổng quan dự án</a:t>
            </a:r>
            <a:endParaRPr dirty="0"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D2C7E322-FE6D-E0E4-024B-D0C260058D6A}"/>
              </a:ext>
            </a:extLst>
          </p:cNvPr>
          <p:cNvSpPr/>
          <p:nvPr/>
        </p:nvSpPr>
        <p:spPr>
          <a:xfrm>
            <a:off x="365760" y="269923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A4225C-97D7-3C4D-A202-2729CD5F8537}"/>
              </a:ext>
            </a:extLst>
          </p:cNvPr>
          <p:cNvSpPr txBox="1"/>
          <p:nvPr/>
        </p:nvSpPr>
        <p:spPr>
          <a:xfrm>
            <a:off x="548640" y="279067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B13D80-FE26-AC9C-0BA5-74C63FF9845F}"/>
              </a:ext>
            </a:extLst>
          </p:cNvPr>
          <p:cNvSpPr txBox="1"/>
          <p:nvPr/>
        </p:nvSpPr>
        <p:spPr>
          <a:xfrm>
            <a:off x="1188720" y="2856470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Chức năng chính</a:t>
            </a:r>
            <a:endParaRPr dirty="0"/>
          </a:p>
        </p:txBody>
      </p:sp>
      <p:sp>
        <p:nvSpPr>
          <p:cNvPr id="34" name="Rounded Rectangle 12">
            <a:extLst>
              <a:ext uri="{FF2B5EF4-FFF2-40B4-BE49-F238E27FC236}">
                <a16:creationId xmlns:a16="http://schemas.microsoft.com/office/drawing/2014/main" id="{41FD55C7-E429-BEAA-EBB6-41CFE44245B4}"/>
              </a:ext>
            </a:extLst>
          </p:cNvPr>
          <p:cNvSpPr/>
          <p:nvPr/>
        </p:nvSpPr>
        <p:spPr>
          <a:xfrm>
            <a:off x="365760" y="393542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8FF835-C8C7-5746-A966-71554E226B88}"/>
              </a:ext>
            </a:extLst>
          </p:cNvPr>
          <p:cNvSpPr txBox="1"/>
          <p:nvPr/>
        </p:nvSpPr>
        <p:spPr>
          <a:xfrm>
            <a:off x="548640" y="40268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t>03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535B04-62BD-4F52-6AD4-1B62D18BC0DF}"/>
              </a:ext>
            </a:extLst>
          </p:cNvPr>
          <p:cNvSpPr txBox="1"/>
          <p:nvPr/>
        </p:nvSpPr>
        <p:spPr>
          <a:xfrm>
            <a:off x="1097280" y="40926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/>
              <a:t>Luồng hoạt động tổng quan</a:t>
            </a:r>
            <a:endParaRPr dirty="0"/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5D0FE840-9A7A-867D-30E3-8A2D607A2AAF}"/>
              </a:ext>
            </a:extLst>
          </p:cNvPr>
          <p:cNvSpPr/>
          <p:nvPr/>
        </p:nvSpPr>
        <p:spPr>
          <a:xfrm>
            <a:off x="4663440" y="146304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31707-077A-CCC3-376F-15F86D398D56}"/>
              </a:ext>
            </a:extLst>
          </p:cNvPr>
          <p:cNvSpPr txBox="1"/>
          <p:nvPr/>
        </p:nvSpPr>
        <p:spPr>
          <a:xfrm>
            <a:off x="4846320" y="155448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05</a:t>
            </a:r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3F896C-1C2D-B75F-F3B0-60B2A5C5DD4F}"/>
              </a:ext>
            </a:extLst>
          </p:cNvPr>
          <p:cNvSpPr txBox="1"/>
          <p:nvPr/>
        </p:nvSpPr>
        <p:spPr>
          <a:xfrm>
            <a:off x="5486400" y="1601784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Cách hệ thống chấm điểm</a:t>
            </a:r>
            <a:endParaRPr dirty="0"/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5A90D93B-9A0E-AD72-A694-A0D02088F5DE}"/>
              </a:ext>
            </a:extLst>
          </p:cNvPr>
          <p:cNvSpPr/>
          <p:nvPr/>
        </p:nvSpPr>
        <p:spPr>
          <a:xfrm>
            <a:off x="4663440" y="269923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00DD13-804B-D06E-3413-E6A208AEDF72}"/>
              </a:ext>
            </a:extLst>
          </p:cNvPr>
          <p:cNvSpPr txBox="1"/>
          <p:nvPr/>
        </p:nvSpPr>
        <p:spPr>
          <a:xfrm>
            <a:off x="4846320" y="279067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06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7DFCF8-49D8-9C3E-1A87-D0F60E21C8FA}"/>
              </a:ext>
            </a:extLst>
          </p:cNvPr>
          <p:cNvSpPr txBox="1"/>
          <p:nvPr/>
        </p:nvSpPr>
        <p:spPr>
          <a:xfrm>
            <a:off x="5304310" y="2832735"/>
            <a:ext cx="3546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Phân tích đối thủ cạnh tranh</a:t>
            </a:r>
            <a:endParaRPr dirty="0"/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29CA19A5-4AE5-EAEF-C250-EDA63E7AC42A}"/>
              </a:ext>
            </a:extLst>
          </p:cNvPr>
          <p:cNvSpPr/>
          <p:nvPr/>
        </p:nvSpPr>
        <p:spPr>
          <a:xfrm>
            <a:off x="4663440" y="393542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43C6D2-4474-068E-5A70-DC56173D02CE}"/>
              </a:ext>
            </a:extLst>
          </p:cNvPr>
          <p:cNvSpPr txBox="1"/>
          <p:nvPr/>
        </p:nvSpPr>
        <p:spPr>
          <a:xfrm>
            <a:off x="4846320" y="402686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07</a:t>
            </a:r>
            <a:endParaRPr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1633AE-DD60-53AD-48D9-84235FFCFDE6}"/>
              </a:ext>
            </a:extLst>
          </p:cNvPr>
          <p:cNvSpPr txBox="1"/>
          <p:nvPr/>
        </p:nvSpPr>
        <p:spPr>
          <a:xfrm>
            <a:off x="5486400" y="4068210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Giao diện hệ thống</a:t>
            </a:r>
            <a:endParaRPr dirty="0"/>
          </a:p>
        </p:txBody>
      </p:sp>
      <p:sp>
        <p:nvSpPr>
          <p:cNvPr id="52" name="Rounded Rectangle 12">
            <a:extLst>
              <a:ext uri="{FF2B5EF4-FFF2-40B4-BE49-F238E27FC236}">
                <a16:creationId xmlns:a16="http://schemas.microsoft.com/office/drawing/2014/main" id="{9DDBF123-A3F2-2060-A58E-F7796F907964}"/>
              </a:ext>
            </a:extLst>
          </p:cNvPr>
          <p:cNvSpPr/>
          <p:nvPr/>
        </p:nvSpPr>
        <p:spPr>
          <a:xfrm>
            <a:off x="365760" y="521208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B06C49-17FE-8E9C-BD34-77901C2509B9}"/>
              </a:ext>
            </a:extLst>
          </p:cNvPr>
          <p:cNvSpPr txBox="1"/>
          <p:nvPr/>
        </p:nvSpPr>
        <p:spPr>
          <a:xfrm>
            <a:off x="548640" y="530352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04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5260AA-69B7-2EEF-1D4A-DEBF8697A035}"/>
              </a:ext>
            </a:extLst>
          </p:cNvPr>
          <p:cNvSpPr txBox="1"/>
          <p:nvPr/>
        </p:nvSpPr>
        <p:spPr>
          <a:xfrm>
            <a:off x="1188720" y="5343276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Giải thuật chi tiết</a:t>
            </a:r>
            <a:endParaRPr dirty="0"/>
          </a:p>
        </p:txBody>
      </p:sp>
      <p:sp>
        <p:nvSpPr>
          <p:cNvPr id="55" name="Rounded Rectangle 24">
            <a:extLst>
              <a:ext uri="{FF2B5EF4-FFF2-40B4-BE49-F238E27FC236}">
                <a16:creationId xmlns:a16="http://schemas.microsoft.com/office/drawing/2014/main" id="{636E0338-AF3E-8FBA-E93D-C13E6AAB0121}"/>
              </a:ext>
            </a:extLst>
          </p:cNvPr>
          <p:cNvSpPr/>
          <p:nvPr/>
        </p:nvSpPr>
        <p:spPr>
          <a:xfrm>
            <a:off x="4663440" y="521208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898144-2AD5-4AAE-4CE8-296EE1524685}"/>
              </a:ext>
            </a:extLst>
          </p:cNvPr>
          <p:cNvSpPr txBox="1"/>
          <p:nvPr/>
        </p:nvSpPr>
        <p:spPr>
          <a:xfrm>
            <a:off x="4846320" y="530352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08</a:t>
            </a:r>
            <a:endParaRPr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B4EE75-4B3E-49CD-DB59-615458D4F434}"/>
              </a:ext>
            </a:extLst>
          </p:cNvPr>
          <p:cNvSpPr txBox="1"/>
          <p:nvPr/>
        </p:nvSpPr>
        <p:spPr>
          <a:xfrm>
            <a:off x="5577840" y="532538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kết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544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ACF7-6250-B4BC-0DA1-0FFB53FD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quan dự án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9D702-F503-18B4-AFD1-029E7B82C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IT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nội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bộ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của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VietinBank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version 12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dụng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dữ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liệu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lịch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đấu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để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GỢI Ý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phù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hợp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Giống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"Google"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cho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doanh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nghiệp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tìm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thay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vì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tìm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kiếm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công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vi-V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tự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động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tìm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và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xếp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hạng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các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phù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hợp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nhất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vi-V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Song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song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PHÂN TÍCH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đối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cạnh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tranh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trên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từng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vi-V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Giao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diện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web 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Streamlit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) —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dễ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dụng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không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cần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kiến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thức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9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8ECC-753F-92AB-AD90-22FFF2EA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quan dự án</a:t>
            </a:r>
            <a:endParaRPr lang="en-US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6BC1FE1-8AE6-09EF-38D1-E613729A370E}"/>
              </a:ext>
            </a:extLst>
          </p:cNvPr>
          <p:cNvSpPr/>
          <p:nvPr/>
        </p:nvSpPr>
        <p:spPr>
          <a:xfrm>
            <a:off x="274320" y="1371600"/>
            <a:ext cx="4023360" cy="4170218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4D3EE-DDF8-1A4B-2112-8EAE55423D09}"/>
              </a:ext>
            </a:extLst>
          </p:cNvPr>
          <p:cNvSpPr txBox="1"/>
          <p:nvPr/>
        </p:nvSpPr>
        <p:spPr>
          <a:xfrm>
            <a:off x="457200" y="146304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C00000"/>
                </a:solidFill>
              </a:defRPr>
            </a:pPr>
            <a:r>
              <a:t>Truyền thống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2B9FC-7E9C-D4FA-B95A-954C8E7051D5}"/>
              </a:ext>
            </a:extLst>
          </p:cNvPr>
          <p:cNvSpPr txBox="1"/>
          <p:nvPr/>
        </p:nvSpPr>
        <p:spPr>
          <a:xfrm>
            <a:off x="457200" y="182880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t>(Trước đây)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D3730-A468-AA02-7070-BFEDF9F9D1C9}"/>
              </a:ext>
            </a:extLst>
          </p:cNvPr>
          <p:cNvSpPr/>
          <p:nvPr/>
        </p:nvSpPr>
        <p:spPr>
          <a:xfrm>
            <a:off x="1554480" y="2194560"/>
            <a:ext cx="173736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4093E452-100A-10F6-D3B0-AF806DA1973B}"/>
              </a:ext>
            </a:extLst>
          </p:cNvPr>
          <p:cNvSpPr/>
          <p:nvPr/>
        </p:nvSpPr>
        <p:spPr>
          <a:xfrm>
            <a:off x="457200" y="237744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459F3-4E2B-23D9-092D-EA3D939AE133}"/>
              </a:ext>
            </a:extLst>
          </p:cNvPr>
          <p:cNvSpPr txBox="1"/>
          <p:nvPr/>
        </p:nvSpPr>
        <p:spPr>
          <a:xfrm>
            <a:off x="457200" y="239572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57FA8-E1D1-5780-4AFF-C240F9FAC2BB}"/>
              </a:ext>
            </a:extLst>
          </p:cNvPr>
          <p:cNvSpPr txBox="1"/>
          <p:nvPr/>
        </p:nvSpPr>
        <p:spPr>
          <a:xfrm>
            <a:off x="914400" y="237744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Tìm kiếm thủ công trên mạng</a:t>
            </a:r>
            <a:endParaRPr dirty="0"/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1E16D491-63C5-4F00-D46D-7ED1E26E928C}"/>
              </a:ext>
            </a:extLst>
          </p:cNvPr>
          <p:cNvSpPr/>
          <p:nvPr/>
        </p:nvSpPr>
        <p:spPr>
          <a:xfrm>
            <a:off x="457200" y="297180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98D3C1-8103-954A-6299-962FFC133087}"/>
              </a:ext>
            </a:extLst>
          </p:cNvPr>
          <p:cNvSpPr txBox="1"/>
          <p:nvPr/>
        </p:nvSpPr>
        <p:spPr>
          <a:xfrm>
            <a:off x="457200" y="299008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B3059-2D48-124E-E011-7B46D1672D79}"/>
              </a:ext>
            </a:extLst>
          </p:cNvPr>
          <p:cNvSpPr txBox="1"/>
          <p:nvPr/>
        </p:nvSpPr>
        <p:spPr>
          <a:xfrm>
            <a:off x="914400" y="29718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Đọc danh sách dài</a:t>
            </a:r>
            <a:endParaRPr dirty="0"/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178910D3-9C4F-B458-9468-21AC49AED78D}"/>
              </a:ext>
            </a:extLst>
          </p:cNvPr>
          <p:cNvSpPr/>
          <p:nvPr/>
        </p:nvSpPr>
        <p:spPr>
          <a:xfrm>
            <a:off x="457200" y="356616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224B5-C55A-D07E-7A61-2DDDC6AD1041}"/>
              </a:ext>
            </a:extLst>
          </p:cNvPr>
          <p:cNvSpPr txBox="1"/>
          <p:nvPr/>
        </p:nvSpPr>
        <p:spPr>
          <a:xfrm>
            <a:off x="457200" y="358444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674E3-5EF5-AA14-F321-61B555BA2490}"/>
              </a:ext>
            </a:extLst>
          </p:cNvPr>
          <p:cNvSpPr txBox="1"/>
          <p:nvPr/>
        </p:nvSpPr>
        <p:spPr>
          <a:xfrm>
            <a:off x="914400" y="35661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Không biết thông tin nào phù hợp</a:t>
            </a:r>
            <a:endParaRPr dirty="0"/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ED86F288-4D82-0AAC-50B1-25A627EB6906}"/>
              </a:ext>
            </a:extLst>
          </p:cNvPr>
          <p:cNvSpPr/>
          <p:nvPr/>
        </p:nvSpPr>
        <p:spPr>
          <a:xfrm>
            <a:off x="457200" y="416052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C30F4F-0C7B-08B6-661C-890F3B1E9929}"/>
              </a:ext>
            </a:extLst>
          </p:cNvPr>
          <p:cNvSpPr txBox="1"/>
          <p:nvPr/>
        </p:nvSpPr>
        <p:spPr>
          <a:xfrm>
            <a:off x="457200" y="417880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3B09C3-70F6-D156-C156-371D031C966A}"/>
              </a:ext>
            </a:extLst>
          </p:cNvPr>
          <p:cNvSpPr txBox="1"/>
          <p:nvPr/>
        </p:nvSpPr>
        <p:spPr>
          <a:xfrm>
            <a:off x="914400" y="41605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Mất nhiều thời gian</a:t>
            </a:r>
            <a:endParaRPr dirty="0"/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35887E83-2795-A559-438D-6D4BE6CF1671}"/>
              </a:ext>
            </a:extLst>
          </p:cNvPr>
          <p:cNvSpPr/>
          <p:nvPr/>
        </p:nvSpPr>
        <p:spPr>
          <a:xfrm>
            <a:off x="457200" y="475488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DC94F3-F3B3-2754-4E98-B1D1AC7B03FD}"/>
              </a:ext>
            </a:extLst>
          </p:cNvPr>
          <p:cNvSpPr txBox="1"/>
          <p:nvPr/>
        </p:nvSpPr>
        <p:spPr>
          <a:xfrm>
            <a:off x="457200" y="477316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C641DF-1037-A73D-E60B-C9DCDB20DDA6}"/>
              </a:ext>
            </a:extLst>
          </p:cNvPr>
          <p:cNvSpPr txBox="1"/>
          <p:nvPr/>
        </p:nvSpPr>
        <p:spPr>
          <a:xfrm>
            <a:off x="914400" y="475488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Tỷ lệ thắng thầu thấp</a:t>
            </a:r>
            <a:endParaRPr dirty="0"/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1C5004EE-8A56-9BF1-39E0-C0FAFB018738}"/>
              </a:ext>
            </a:extLst>
          </p:cNvPr>
          <p:cNvSpPr/>
          <p:nvPr/>
        </p:nvSpPr>
        <p:spPr>
          <a:xfrm>
            <a:off x="4846320" y="1371600"/>
            <a:ext cx="4023360" cy="4170218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4FE36D-ABD3-3F47-1E8C-C1B51A28D7D9}"/>
              </a:ext>
            </a:extLst>
          </p:cNvPr>
          <p:cNvSpPr txBox="1"/>
          <p:nvPr/>
        </p:nvSpPr>
        <p:spPr>
          <a:xfrm>
            <a:off x="5029200" y="146304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B050"/>
                </a:solidFill>
              </a:defRPr>
            </a:pPr>
            <a:r>
              <a:rPr lang="vi-VN" dirty="0"/>
              <a:t>Hệ</a:t>
            </a:r>
            <a:r>
              <a:rPr dirty="0"/>
              <a:t> </a:t>
            </a:r>
            <a:r>
              <a:rPr lang="vi-VN" dirty="0"/>
              <a:t>thống</a:t>
            </a:r>
            <a:r>
              <a:rPr dirty="0"/>
              <a:t> </a:t>
            </a:r>
            <a:r>
              <a:rPr lang="vi-VN" dirty="0"/>
              <a:t>mới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9595F6-8E9C-F557-CD7E-890D882AD8E6}"/>
              </a:ext>
            </a:extLst>
          </p:cNvPr>
          <p:cNvSpPr txBox="1"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t>(VietinBank v12.0)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5E188A-2886-94EC-8068-CFEEF10CB41E}"/>
              </a:ext>
            </a:extLst>
          </p:cNvPr>
          <p:cNvSpPr/>
          <p:nvPr/>
        </p:nvSpPr>
        <p:spPr>
          <a:xfrm>
            <a:off x="6126480" y="2194560"/>
            <a:ext cx="1737360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6">
            <a:extLst>
              <a:ext uri="{FF2B5EF4-FFF2-40B4-BE49-F238E27FC236}">
                <a16:creationId xmlns:a16="http://schemas.microsoft.com/office/drawing/2014/main" id="{963120D6-CF7E-38A4-EDB4-05503690CD98}"/>
              </a:ext>
            </a:extLst>
          </p:cNvPr>
          <p:cNvSpPr/>
          <p:nvPr/>
        </p:nvSpPr>
        <p:spPr>
          <a:xfrm>
            <a:off x="5029200" y="237744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32BE39-940B-8000-C1C4-CD2CF647DC21}"/>
              </a:ext>
            </a:extLst>
          </p:cNvPr>
          <p:cNvSpPr txBox="1"/>
          <p:nvPr/>
        </p:nvSpPr>
        <p:spPr>
          <a:xfrm>
            <a:off x="5029200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612CC4-EC0D-70D2-D8E2-79D110F7942D}"/>
              </a:ext>
            </a:extLst>
          </p:cNvPr>
          <p:cNvSpPr txBox="1"/>
          <p:nvPr/>
        </p:nvSpPr>
        <p:spPr>
          <a:xfrm>
            <a:off x="5486400" y="237744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Tự động gợi ý gói thầu phù hợp</a:t>
            </a:r>
            <a:endParaRPr dirty="0"/>
          </a:p>
        </p:txBody>
      </p:sp>
      <p:sp>
        <p:nvSpPr>
          <p:cNvPr id="32" name="Rounded Rectangle 29">
            <a:extLst>
              <a:ext uri="{FF2B5EF4-FFF2-40B4-BE49-F238E27FC236}">
                <a16:creationId xmlns:a16="http://schemas.microsoft.com/office/drawing/2014/main" id="{CE43F7E5-0FC5-2912-FA2D-ECDED40235E3}"/>
              </a:ext>
            </a:extLst>
          </p:cNvPr>
          <p:cNvSpPr/>
          <p:nvPr/>
        </p:nvSpPr>
        <p:spPr>
          <a:xfrm>
            <a:off x="5029200" y="297180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A430E7-B8A3-730F-DAA4-EF670675774C}"/>
              </a:ext>
            </a:extLst>
          </p:cNvPr>
          <p:cNvSpPr txBox="1"/>
          <p:nvPr/>
        </p:nvSpPr>
        <p:spPr>
          <a:xfrm>
            <a:off x="5029200" y="29900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1FD826-F82D-F546-6B36-254D25782662}"/>
              </a:ext>
            </a:extLst>
          </p:cNvPr>
          <p:cNvSpPr txBox="1"/>
          <p:nvPr/>
        </p:nvSpPr>
        <p:spPr>
          <a:xfrm>
            <a:off x="5486400" y="29718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Xếp hạng từ cao tới thấp</a:t>
            </a:r>
            <a:endParaRPr dirty="0"/>
          </a:p>
        </p:txBody>
      </p:sp>
      <p:sp>
        <p:nvSpPr>
          <p:cNvPr id="35" name="Rounded Rectangle 32">
            <a:extLst>
              <a:ext uri="{FF2B5EF4-FFF2-40B4-BE49-F238E27FC236}">
                <a16:creationId xmlns:a16="http://schemas.microsoft.com/office/drawing/2014/main" id="{02E4B481-6764-B561-F33B-C211DF96AA4B}"/>
              </a:ext>
            </a:extLst>
          </p:cNvPr>
          <p:cNvSpPr/>
          <p:nvPr/>
        </p:nvSpPr>
        <p:spPr>
          <a:xfrm>
            <a:off x="5029200" y="356616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3494C4-A5E0-2347-E648-EA171921F55F}"/>
              </a:ext>
            </a:extLst>
          </p:cNvPr>
          <p:cNvSpPr txBox="1"/>
          <p:nvPr/>
        </p:nvSpPr>
        <p:spPr>
          <a:xfrm>
            <a:off x="5029200" y="3584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EC7262-21BC-F4A9-291E-EF63E22AAD89}"/>
              </a:ext>
            </a:extLst>
          </p:cNvPr>
          <p:cNvSpPr txBox="1"/>
          <p:nvPr/>
        </p:nvSpPr>
        <p:spPr>
          <a:xfrm>
            <a:off x="5486400" y="35661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Biết ai là đối thủ cạnh tranh</a:t>
            </a:r>
            <a:endParaRPr dirty="0"/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839C0AD3-D2C6-ADBA-2B2E-68B97D1D1AA3}"/>
              </a:ext>
            </a:extLst>
          </p:cNvPr>
          <p:cNvSpPr/>
          <p:nvPr/>
        </p:nvSpPr>
        <p:spPr>
          <a:xfrm>
            <a:off x="5029200" y="416052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94092F-3D67-37CA-FA33-ED7E7512B0A3}"/>
              </a:ext>
            </a:extLst>
          </p:cNvPr>
          <p:cNvSpPr txBox="1"/>
          <p:nvPr/>
        </p:nvSpPr>
        <p:spPr>
          <a:xfrm>
            <a:off x="5029200" y="41788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656E6B-7697-BB68-C20D-7D2679ACE17D}"/>
              </a:ext>
            </a:extLst>
          </p:cNvPr>
          <p:cNvSpPr txBox="1"/>
          <p:nvPr/>
        </p:nvSpPr>
        <p:spPr>
          <a:xfrm>
            <a:off x="5486400" y="41605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Chỉ mất 30s để tìm</a:t>
            </a:r>
            <a:endParaRPr dirty="0"/>
          </a:p>
        </p:txBody>
      </p:sp>
      <p:sp>
        <p:nvSpPr>
          <p:cNvPr id="41" name="Rounded Rectangle 38">
            <a:extLst>
              <a:ext uri="{FF2B5EF4-FFF2-40B4-BE49-F238E27FC236}">
                <a16:creationId xmlns:a16="http://schemas.microsoft.com/office/drawing/2014/main" id="{12ADDA2A-05A1-5917-CA06-4CAA76482050}"/>
              </a:ext>
            </a:extLst>
          </p:cNvPr>
          <p:cNvSpPr/>
          <p:nvPr/>
        </p:nvSpPr>
        <p:spPr>
          <a:xfrm>
            <a:off x="5029200" y="475488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BA7D82-6659-82C1-E7A0-E931B979A5FF}"/>
              </a:ext>
            </a:extLst>
          </p:cNvPr>
          <p:cNvSpPr txBox="1"/>
          <p:nvPr/>
        </p:nvSpPr>
        <p:spPr>
          <a:xfrm>
            <a:off x="5029200" y="4773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C64DEE-E075-1EE8-69D1-55B8076B3F1A}"/>
              </a:ext>
            </a:extLst>
          </p:cNvPr>
          <p:cNvSpPr txBox="1"/>
          <p:nvPr/>
        </p:nvSpPr>
        <p:spPr>
          <a:xfrm>
            <a:off x="5486400" y="475488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Tăng tỷ lệ thắng thầu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304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EB53-260F-389C-8F23-4963FA8E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88BC-1591-35A2-CBBF-55D0D183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045" y="103829"/>
            <a:ext cx="6764977" cy="822722"/>
          </a:xfrm>
        </p:spPr>
        <p:txBody>
          <a:bodyPr>
            <a:noAutofit/>
          </a:bodyPr>
          <a:lstStyle/>
          <a:p>
            <a:r>
              <a:rPr lang="vi-VN" sz="2800" dirty="0"/>
              <a:t>Tổng quan dự án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60510-25FF-A1BE-18DB-F730DF310B7E}"/>
              </a:ext>
            </a:extLst>
          </p:cNvPr>
          <p:cNvSpPr txBox="1"/>
          <p:nvPr/>
        </p:nvSpPr>
        <p:spPr>
          <a:xfrm>
            <a:off x="631768" y="1127719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tx1"/>
                </a:solidFill>
              </a:rPr>
              <a:t>Ví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dụ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thực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vi-VN" sz="2000" dirty="0">
                <a:solidFill>
                  <a:schemeClr val="tx1"/>
                </a:solidFill>
              </a:rPr>
              <a:t>tế: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EFDDF99B-C4A5-7687-84D9-32CA0138C288}"/>
              </a:ext>
            </a:extLst>
          </p:cNvPr>
          <p:cNvSpPr/>
          <p:nvPr/>
        </p:nvSpPr>
        <p:spPr>
          <a:xfrm>
            <a:off x="441297" y="1929558"/>
            <a:ext cx="3715789" cy="3800723"/>
          </a:xfrm>
          <a:prstGeom prst="roundRect">
            <a:avLst/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1397-BD99-6DCB-46D9-B24F6CB958A7}"/>
              </a:ext>
            </a:extLst>
          </p:cNvPr>
          <p:cNvSpPr txBox="1"/>
          <p:nvPr/>
        </p:nvSpPr>
        <p:spPr>
          <a:xfrm>
            <a:off x="532738" y="2255562"/>
            <a:ext cx="3459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huống</a:t>
            </a:r>
            <a:r>
              <a:rPr lang="en-US" dirty="0"/>
              <a:t>: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thoại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462B66-1918-5EE1-2F51-9B9C4AE30FC8}"/>
              </a:ext>
            </a:extLst>
          </p:cNvPr>
          <p:cNvSpPr/>
          <p:nvPr/>
        </p:nvSpPr>
        <p:spPr>
          <a:xfrm>
            <a:off x="715617" y="3160819"/>
            <a:ext cx="2947005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AE0240-D8E9-2439-DD1D-B00DF9E299DF}"/>
              </a:ext>
            </a:extLst>
          </p:cNvPr>
          <p:cNvSpPr txBox="1"/>
          <p:nvPr/>
        </p:nvSpPr>
        <p:spPr>
          <a:xfrm>
            <a:off x="564602" y="3307122"/>
            <a:ext cx="333139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có tiêu chí: giá 15tr, camera tốt, pin trâu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sẽ so sánh nhiều cửa hàng và sản phẩm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chọn chiếc phù hợp nhất với túi tiền</a:t>
            </a:r>
          </a:p>
        </p:txBody>
      </p:sp>
      <p:sp>
        <p:nvSpPr>
          <p:cNvPr id="11" name="Right Arrow 9">
            <a:extLst>
              <a:ext uri="{FF2B5EF4-FFF2-40B4-BE49-F238E27FC236}">
                <a16:creationId xmlns:a16="http://schemas.microsoft.com/office/drawing/2014/main" id="{D8321487-B99E-A0E8-CCBA-EC0D7501100B}"/>
              </a:ext>
            </a:extLst>
          </p:cNvPr>
          <p:cNvSpPr/>
          <p:nvPr/>
        </p:nvSpPr>
        <p:spPr>
          <a:xfrm>
            <a:off x="4395934" y="3653357"/>
            <a:ext cx="320327" cy="211151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E84CCB42-F283-BCF6-D6CC-512EF1DAC965}"/>
              </a:ext>
            </a:extLst>
          </p:cNvPr>
          <p:cNvSpPr/>
          <p:nvPr/>
        </p:nvSpPr>
        <p:spPr>
          <a:xfrm>
            <a:off x="5046549" y="1929558"/>
            <a:ext cx="3715789" cy="3800723"/>
          </a:xfrm>
          <a:prstGeom prst="roundRect">
            <a:avLst/>
          </a:prstGeom>
          <a:solidFill>
            <a:srgbClr val="F5F5F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3F043-62D2-25D5-3113-ABEE044B0E99}"/>
              </a:ext>
            </a:extLst>
          </p:cNvPr>
          <p:cNvSpPr txBox="1"/>
          <p:nvPr/>
        </p:nvSpPr>
        <p:spPr>
          <a:xfrm>
            <a:off x="5073923" y="2255561"/>
            <a:ext cx="3459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Tương tự với Hệ thống Gợi ý Thầu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F51DC6-536F-2C36-D690-CAC060474313}"/>
              </a:ext>
            </a:extLst>
          </p:cNvPr>
          <p:cNvSpPr/>
          <p:nvPr/>
        </p:nvSpPr>
        <p:spPr>
          <a:xfrm>
            <a:off x="5330184" y="3197395"/>
            <a:ext cx="2947005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600B1-1959-CAF4-587D-055A1232449A}"/>
              </a:ext>
            </a:extLst>
          </p:cNvPr>
          <p:cNvSpPr txBox="1"/>
          <p:nvPr/>
        </p:nvSpPr>
        <p:spPr>
          <a:xfrm>
            <a:off x="5137989" y="3444282"/>
            <a:ext cx="333139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Input: Thông tin doanh nghiệp (lĩnh vực, khu vực, khung giá)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Xử lý: So sánh với hàng ngàn gói thầu trong CSDL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Output: Danh sách những gói phù hợp nhất, xếp hạng từ cao </a:t>
            </a:r>
            <a:r>
              <a:rPr lang="vi-VN" dirty="0">
                <a:sym typeface="Wingdings" panose="05000000000000000000" pitchFamily="2" charset="2"/>
              </a:rPr>
              <a:t> thấp</a:t>
            </a:r>
            <a:r>
              <a:rPr lang="vi-VN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322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FAC7-C772-427B-5D45-6531DEEB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Chức năng chính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9E6A00-B380-D4D9-7A94-3E4A33FEA1FA}"/>
              </a:ext>
            </a:extLst>
          </p:cNvPr>
          <p:cNvSpPr/>
          <p:nvPr/>
        </p:nvSpPr>
        <p:spPr>
          <a:xfrm>
            <a:off x="187036" y="1697616"/>
            <a:ext cx="1942408" cy="4048644"/>
          </a:xfrm>
          <a:prstGeom prst="roundRect">
            <a:avLst/>
          </a:prstGeom>
          <a:solidFill>
            <a:srgbClr val="F8F8F8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DFEBD-CF71-DD36-D913-4D6954B6FC84}"/>
              </a:ext>
            </a:extLst>
          </p:cNvPr>
          <p:cNvSpPr txBox="1"/>
          <p:nvPr/>
        </p:nvSpPr>
        <p:spPr>
          <a:xfrm>
            <a:off x="885304" y="173710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C00000"/>
                </a:solidFill>
              </a:defRPr>
            </a:pPr>
            <a: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8C0017-39B1-1CB1-8817-538B8B1343FF}"/>
              </a:ext>
            </a:extLst>
          </p:cNvPr>
          <p:cNvSpPr/>
          <p:nvPr/>
        </p:nvSpPr>
        <p:spPr>
          <a:xfrm>
            <a:off x="415637" y="2866093"/>
            <a:ext cx="155448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51C3C-C845-9F16-5768-910E2901F60F}"/>
              </a:ext>
            </a:extLst>
          </p:cNvPr>
          <p:cNvSpPr txBox="1"/>
          <p:nvPr/>
        </p:nvSpPr>
        <p:spPr>
          <a:xfrm>
            <a:off x="285403" y="2991660"/>
            <a:ext cx="2033848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Nhập</a:t>
            </a:r>
            <a:r>
              <a:rPr lang="en-US" sz="1100" dirty="0"/>
              <a:t> </a:t>
            </a:r>
            <a:r>
              <a:rPr lang="en-US" sz="1100" dirty="0" err="1"/>
              <a:t>tên</a:t>
            </a:r>
            <a:r>
              <a:rPr lang="en-US" sz="1100" dirty="0"/>
              <a:t> </a:t>
            </a:r>
            <a:r>
              <a:rPr lang="en-US" sz="1100" dirty="0" err="1"/>
              <a:t>công</a:t>
            </a:r>
            <a:r>
              <a:rPr lang="en-US" sz="1100" dirty="0"/>
              <a:t> ty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Xem </a:t>
            </a:r>
            <a:r>
              <a:rPr lang="en-US" sz="1100" dirty="0" err="1"/>
              <a:t>lịch</a:t>
            </a:r>
            <a:r>
              <a:rPr lang="en-US" sz="1100" dirty="0"/>
              <a:t> </a:t>
            </a:r>
            <a:r>
              <a:rPr lang="en-US" sz="1100" dirty="0" err="1"/>
              <a:t>sử</a:t>
            </a:r>
            <a:r>
              <a:rPr lang="en-US" sz="1100" dirty="0"/>
              <a:t> </a:t>
            </a:r>
            <a:r>
              <a:rPr lang="en-US" sz="1100" dirty="0" err="1"/>
              <a:t>đấu</a:t>
            </a:r>
            <a:r>
              <a:rPr lang="en-US" sz="1100" dirty="0"/>
              <a:t> </a:t>
            </a:r>
            <a:r>
              <a:rPr lang="en-US" sz="1100" dirty="0" err="1"/>
              <a:t>thầu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Biết</a:t>
            </a:r>
            <a:r>
              <a:rPr lang="en-US" sz="1100" dirty="0"/>
              <a:t> </a:t>
            </a:r>
            <a:r>
              <a:rPr lang="en-US" sz="1100" dirty="0" err="1"/>
              <a:t>tổng</a:t>
            </a:r>
            <a:r>
              <a:rPr lang="en-US" sz="1100" dirty="0"/>
              <a:t> </a:t>
            </a:r>
            <a:r>
              <a:rPr lang="en-US" sz="1100" dirty="0" err="1"/>
              <a:t>gói</a:t>
            </a:r>
            <a:r>
              <a:rPr lang="en-US" sz="1100" dirty="0"/>
              <a:t> </a:t>
            </a:r>
            <a:r>
              <a:rPr lang="en-US" sz="1100" dirty="0" err="1"/>
              <a:t>đã</a:t>
            </a:r>
            <a:r>
              <a:rPr lang="en-US" sz="1100" dirty="0"/>
              <a:t> </a:t>
            </a:r>
            <a:r>
              <a:rPr lang="en-US" sz="1100" dirty="0" err="1"/>
              <a:t>tham</a:t>
            </a:r>
            <a:r>
              <a:rPr lang="en-US" sz="1100" dirty="0"/>
              <a:t> </a:t>
            </a:r>
            <a:r>
              <a:rPr lang="en-US" sz="1100" dirty="0" err="1"/>
              <a:t>gia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Biết</a:t>
            </a:r>
            <a:r>
              <a:rPr lang="en-US" sz="1100" dirty="0"/>
              <a:t> </a:t>
            </a:r>
            <a:r>
              <a:rPr lang="en-US" sz="1100" dirty="0" err="1"/>
              <a:t>tỉ</a:t>
            </a:r>
            <a:r>
              <a:rPr lang="en-US" sz="1100" dirty="0"/>
              <a:t> </a:t>
            </a:r>
            <a:r>
              <a:rPr lang="en-US" sz="1100" dirty="0" err="1"/>
              <a:t>lệ</a:t>
            </a:r>
            <a:r>
              <a:rPr lang="en-US" sz="1100" dirty="0"/>
              <a:t> </a:t>
            </a:r>
            <a:r>
              <a:rPr lang="en-US" sz="1100" dirty="0" err="1"/>
              <a:t>thắng</a:t>
            </a:r>
            <a:r>
              <a:rPr lang="en-US" sz="1100" dirty="0"/>
              <a:t> </a:t>
            </a:r>
            <a:r>
              <a:rPr lang="en-US" sz="1100" dirty="0" err="1"/>
              <a:t>thầu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Xem </a:t>
            </a:r>
            <a:r>
              <a:rPr lang="en-US" sz="1100" dirty="0" err="1"/>
              <a:t>lĩnh</a:t>
            </a:r>
            <a:r>
              <a:rPr lang="en-US" sz="1100" dirty="0"/>
              <a:t> </a:t>
            </a:r>
            <a:r>
              <a:rPr lang="en-US" sz="1100" dirty="0" err="1"/>
              <a:t>vực</a:t>
            </a:r>
            <a:r>
              <a:rPr lang="en-US" sz="1100" dirty="0"/>
              <a:t> </a:t>
            </a:r>
            <a:r>
              <a:rPr lang="en-US" sz="1100" dirty="0" err="1"/>
              <a:t>mạnh</a:t>
            </a:r>
            <a:r>
              <a:rPr lang="en-US" sz="1100" dirty="0"/>
              <a:t>/</a:t>
            </a:r>
            <a:r>
              <a:rPr lang="en-US" sz="1100" dirty="0" err="1"/>
              <a:t>yếu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Xem </a:t>
            </a:r>
            <a:r>
              <a:rPr lang="en-US" sz="1100" dirty="0" err="1"/>
              <a:t>địa</a:t>
            </a:r>
            <a:r>
              <a:rPr lang="en-US" sz="1100" dirty="0"/>
              <a:t> </a:t>
            </a:r>
            <a:r>
              <a:rPr lang="en-US" sz="1100" dirty="0" err="1"/>
              <a:t>bàn</a:t>
            </a:r>
            <a:r>
              <a:rPr lang="en-US" sz="1100" dirty="0"/>
              <a:t> </a:t>
            </a:r>
            <a:r>
              <a:rPr lang="en-US" sz="1100" dirty="0" err="1"/>
              <a:t>mạnh</a:t>
            </a:r>
            <a:r>
              <a:rPr lang="en-US" sz="1100" dirty="0"/>
              <a:t>/</a:t>
            </a:r>
            <a:r>
              <a:rPr lang="en-US" sz="1100" dirty="0" err="1"/>
              <a:t>yếu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Xuất</a:t>
            </a:r>
            <a:r>
              <a:rPr lang="en-US" sz="1100" dirty="0"/>
              <a:t> file Excel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847163-8177-E64F-B4FE-9A97C4ED6EA7}"/>
              </a:ext>
            </a:extLst>
          </p:cNvPr>
          <p:cNvSpPr/>
          <p:nvPr/>
        </p:nvSpPr>
        <p:spPr>
          <a:xfrm>
            <a:off x="2220884" y="1691660"/>
            <a:ext cx="2263832" cy="4054600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2BF388-94F3-8F14-7066-03319BF81420}"/>
              </a:ext>
            </a:extLst>
          </p:cNvPr>
          <p:cNvSpPr txBox="1"/>
          <p:nvPr/>
        </p:nvSpPr>
        <p:spPr>
          <a:xfrm>
            <a:off x="3113115" y="173710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9900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14D18-4145-473C-7072-CBD612B9DE2A}"/>
              </a:ext>
            </a:extLst>
          </p:cNvPr>
          <p:cNvSpPr txBox="1"/>
          <p:nvPr/>
        </p:nvSpPr>
        <p:spPr>
          <a:xfrm>
            <a:off x="2473035" y="2342369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337BA1-C339-5B7D-4B6E-C462D314C28C}"/>
              </a:ext>
            </a:extLst>
          </p:cNvPr>
          <p:cNvSpPr/>
          <p:nvPr/>
        </p:nvSpPr>
        <p:spPr>
          <a:xfrm>
            <a:off x="2655915" y="2871054"/>
            <a:ext cx="1554480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3A117-5513-3378-739B-DB116AAAACB8}"/>
              </a:ext>
            </a:extLst>
          </p:cNvPr>
          <p:cNvSpPr txBox="1"/>
          <p:nvPr/>
        </p:nvSpPr>
        <p:spPr>
          <a:xfrm>
            <a:off x="2364971" y="2942843"/>
            <a:ext cx="2074024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Chọn công ty hoặc nhập ngành nghề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Lọc theo khu vực (Miền Bắc/Trung/Nam)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Lọc theo lĩnh vực (Xây lắp, Tư vấn...)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Lọc theo ngân sách (0 → &gt;1000 tỷ)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Hệ thống gợi ý TOP 20 gói phù hợp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Mỗi gói đi kèm phân tích đối thủ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Xuất file Excel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88EE7CA-720F-7FBF-E06D-B32DEDA28764}"/>
              </a:ext>
            </a:extLst>
          </p:cNvPr>
          <p:cNvSpPr/>
          <p:nvPr/>
        </p:nvSpPr>
        <p:spPr>
          <a:xfrm>
            <a:off x="4572000" y="1697616"/>
            <a:ext cx="2198715" cy="4048644"/>
          </a:xfrm>
          <a:prstGeom prst="roundRect">
            <a:avLst/>
          </a:prstGeom>
          <a:solidFill>
            <a:srgbClr val="F8F8F8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0917A-C5C9-32AE-6A04-CAC5D45CF74D}"/>
              </a:ext>
            </a:extLst>
          </p:cNvPr>
          <p:cNvSpPr txBox="1"/>
          <p:nvPr/>
        </p:nvSpPr>
        <p:spPr>
          <a:xfrm>
            <a:off x="5464231" y="16999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C0504D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F0943-F86D-CB80-3F5A-6742CAF909B1}"/>
              </a:ext>
            </a:extLst>
          </p:cNvPr>
          <p:cNvSpPr txBox="1"/>
          <p:nvPr/>
        </p:nvSpPr>
        <p:spPr>
          <a:xfrm>
            <a:off x="4824151" y="2373141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88B3D-0EEF-2BF6-6FE0-855409BD3C8D}"/>
              </a:ext>
            </a:extLst>
          </p:cNvPr>
          <p:cNvSpPr/>
          <p:nvPr/>
        </p:nvSpPr>
        <p:spPr>
          <a:xfrm>
            <a:off x="4887882" y="2874265"/>
            <a:ext cx="1554480" cy="45719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8797CCD-D33C-E33E-CC83-4C718D62583A}"/>
              </a:ext>
            </a:extLst>
          </p:cNvPr>
          <p:cNvSpPr/>
          <p:nvPr/>
        </p:nvSpPr>
        <p:spPr>
          <a:xfrm>
            <a:off x="6857999" y="1691660"/>
            <a:ext cx="2103120" cy="4048644"/>
          </a:xfrm>
          <a:prstGeom prst="roundRect">
            <a:avLst/>
          </a:prstGeom>
          <a:solidFill>
            <a:srgbClr val="F8F8F8"/>
          </a:solidFill>
          <a:ln>
            <a:solidFill>
              <a:srgbClr val="9B4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85756-398C-2E62-027D-D19B7CA282F1}"/>
              </a:ext>
            </a:extLst>
          </p:cNvPr>
          <p:cNvSpPr txBox="1"/>
          <p:nvPr/>
        </p:nvSpPr>
        <p:spPr>
          <a:xfrm>
            <a:off x="7567351" y="173710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9B4F94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1EC54-71A2-9CC3-2C18-E6B72043D28C}"/>
              </a:ext>
            </a:extLst>
          </p:cNvPr>
          <p:cNvSpPr txBox="1"/>
          <p:nvPr/>
        </p:nvSpPr>
        <p:spPr>
          <a:xfrm>
            <a:off x="6862155" y="2403760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en-US" dirty="0" err="1"/>
              <a:t>Sức</a:t>
            </a:r>
            <a:r>
              <a:rPr lang="en-US" dirty="0"/>
              <a:t> </a:t>
            </a:r>
            <a:r>
              <a:rPr lang="en-US" dirty="0" err="1"/>
              <a:t>khỏe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vi-VN" dirty="0"/>
              <a:t> (phụ)</a:t>
            </a:r>
            <a:endParaRPr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2D8D3F-CE1F-625B-5FDA-B3EBCAD33DD5}"/>
              </a:ext>
            </a:extLst>
          </p:cNvPr>
          <p:cNvSpPr/>
          <p:nvPr/>
        </p:nvSpPr>
        <p:spPr>
          <a:xfrm>
            <a:off x="7045035" y="2897124"/>
            <a:ext cx="1554480" cy="45719"/>
          </a:xfrm>
          <a:prstGeom prst="rect">
            <a:avLst/>
          </a:prstGeom>
          <a:solidFill>
            <a:srgbClr val="9B4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241BCE-D7EC-8D91-316B-02D11EE334AB}"/>
              </a:ext>
            </a:extLst>
          </p:cNvPr>
          <p:cNvSpPr txBox="1"/>
          <p:nvPr/>
        </p:nvSpPr>
        <p:spPr>
          <a:xfrm>
            <a:off x="405936" y="1111740"/>
            <a:ext cx="6288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solidFill>
                  <a:schemeClr val="tx1"/>
                </a:solidFill>
              </a:rPr>
              <a:t>Hệ thống có 3 chức năng chính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2D7DB2-9A3F-31E4-C890-933CFEC0E442}"/>
              </a:ext>
            </a:extLst>
          </p:cNvPr>
          <p:cNvSpPr txBox="1"/>
          <p:nvPr/>
        </p:nvSpPr>
        <p:spPr>
          <a:xfrm>
            <a:off x="4572000" y="3019844"/>
            <a:ext cx="393192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✓ </a:t>
            </a:r>
            <a:r>
              <a:rPr sz="1050" dirty="0" err="1"/>
              <a:t>Chọn</a:t>
            </a:r>
            <a:r>
              <a:rPr sz="1050" dirty="0"/>
              <a:t> 1 </a:t>
            </a:r>
            <a:r>
              <a:rPr sz="1050" dirty="0" err="1"/>
              <a:t>gói</a:t>
            </a:r>
            <a:r>
              <a:rPr sz="1050" dirty="0"/>
              <a:t> </a:t>
            </a:r>
            <a:r>
              <a:rPr sz="1050" dirty="0" err="1"/>
              <a:t>thầu</a:t>
            </a:r>
            <a:r>
              <a:rPr sz="1050" dirty="0"/>
              <a:t> </a:t>
            </a:r>
            <a:r>
              <a:rPr sz="1050" dirty="0" err="1"/>
              <a:t>đã</a:t>
            </a:r>
            <a:r>
              <a:rPr sz="1050" dirty="0"/>
              <a:t> </a:t>
            </a:r>
            <a:r>
              <a:rPr sz="1050" dirty="0" err="1"/>
              <a:t>được</a:t>
            </a:r>
            <a:r>
              <a:rPr sz="1050" dirty="0"/>
              <a:t> </a:t>
            </a:r>
            <a:r>
              <a:rPr sz="1050" dirty="0" err="1"/>
              <a:t>gợi</a:t>
            </a:r>
            <a:r>
              <a:rPr sz="1050" dirty="0"/>
              <a:t> ý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✓ Xem ai </a:t>
            </a:r>
            <a:r>
              <a:rPr sz="1050" dirty="0" err="1"/>
              <a:t>là</a:t>
            </a:r>
            <a:r>
              <a:rPr sz="1050" dirty="0"/>
              <a:t> </a:t>
            </a:r>
            <a:r>
              <a:rPr sz="1050" dirty="0" err="1"/>
              <a:t>đối</a:t>
            </a:r>
            <a:r>
              <a:rPr sz="1050" dirty="0"/>
              <a:t> </a:t>
            </a:r>
            <a:r>
              <a:rPr sz="1050" dirty="0" err="1"/>
              <a:t>thủ</a:t>
            </a:r>
            <a:r>
              <a:rPr sz="1050" dirty="0"/>
              <a:t> </a:t>
            </a:r>
            <a:r>
              <a:rPr sz="1050" dirty="0" err="1"/>
              <a:t>tiềm</a:t>
            </a:r>
            <a:r>
              <a:rPr sz="1050" dirty="0"/>
              <a:t> </a:t>
            </a:r>
            <a:r>
              <a:rPr sz="1050" dirty="0" err="1"/>
              <a:t>năng</a:t>
            </a:r>
            <a:endParaRPr sz="105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✓ </a:t>
            </a:r>
            <a:r>
              <a:rPr sz="1050" dirty="0" err="1"/>
              <a:t>Mỗi</a:t>
            </a:r>
            <a:r>
              <a:rPr sz="1050" dirty="0"/>
              <a:t> </a:t>
            </a:r>
            <a:r>
              <a:rPr sz="1050" dirty="0" err="1"/>
              <a:t>đối</a:t>
            </a:r>
            <a:r>
              <a:rPr sz="1050" dirty="0"/>
              <a:t> </a:t>
            </a:r>
            <a:r>
              <a:rPr sz="1050" dirty="0" err="1"/>
              <a:t>thủ</a:t>
            </a:r>
            <a:r>
              <a:rPr sz="1050" dirty="0"/>
              <a:t> </a:t>
            </a:r>
            <a:r>
              <a:rPr sz="1050" dirty="0" err="1"/>
              <a:t>được</a:t>
            </a:r>
            <a:r>
              <a:rPr sz="1050" dirty="0"/>
              <a:t> </a:t>
            </a:r>
            <a:r>
              <a:rPr sz="1050" dirty="0" err="1"/>
              <a:t>chấm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: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Chủ</a:t>
            </a:r>
            <a:r>
              <a:rPr sz="1050" dirty="0"/>
              <a:t> </a:t>
            </a:r>
            <a:r>
              <a:rPr sz="1050" dirty="0" err="1"/>
              <a:t>đầu</a:t>
            </a:r>
            <a:r>
              <a:rPr sz="1050" dirty="0"/>
              <a:t> </a:t>
            </a:r>
            <a:r>
              <a:rPr sz="1050" dirty="0" err="1"/>
              <a:t>tư</a:t>
            </a: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Địa</a:t>
            </a:r>
            <a:r>
              <a:rPr sz="1050" dirty="0"/>
              <a:t> </a:t>
            </a:r>
            <a:r>
              <a:rPr sz="1050" dirty="0" err="1"/>
              <a:t>bàn</a:t>
            </a: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Lĩnh</a:t>
            </a:r>
            <a:r>
              <a:rPr sz="1050" dirty="0"/>
              <a:t> </a:t>
            </a:r>
            <a:r>
              <a:rPr sz="1050" dirty="0" err="1"/>
              <a:t>vực</a:t>
            </a: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Phân</a:t>
            </a:r>
            <a:r>
              <a:rPr sz="1050" dirty="0"/>
              <a:t> </a:t>
            </a:r>
            <a:r>
              <a:rPr sz="1050" dirty="0" err="1"/>
              <a:t>khúc</a:t>
            </a:r>
            <a:r>
              <a:rPr sz="1050" dirty="0"/>
              <a:t> </a:t>
            </a:r>
            <a:r>
              <a:rPr sz="1050" dirty="0" err="1"/>
              <a:t>giá</a:t>
            </a:r>
            <a:endParaRPr lang="vi-VN" sz="105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57B21D-D7C2-4B87-688E-5367EF9D0A12}"/>
              </a:ext>
            </a:extLst>
          </p:cNvPr>
          <p:cNvSpPr txBox="1"/>
          <p:nvPr/>
        </p:nvSpPr>
        <p:spPr>
          <a:xfrm>
            <a:off x="6923116" y="2991660"/>
            <a:ext cx="210312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</a:t>
            </a:r>
            <a:r>
              <a:rPr sz="1100" dirty="0" err="1"/>
              <a:t>Kiểm</a:t>
            </a:r>
            <a:r>
              <a:rPr sz="1100" dirty="0"/>
              <a:t> </a:t>
            </a:r>
            <a:r>
              <a:rPr sz="1100" dirty="0" err="1"/>
              <a:t>tra</a:t>
            </a:r>
            <a:r>
              <a:rPr sz="1100" dirty="0"/>
              <a:t> </a:t>
            </a:r>
            <a:r>
              <a:rPr sz="1100" dirty="0" err="1"/>
              <a:t>hệ</a:t>
            </a:r>
            <a:r>
              <a:rPr sz="1100" dirty="0"/>
              <a:t> </a:t>
            </a:r>
            <a:r>
              <a:rPr sz="1100" dirty="0" err="1"/>
              <a:t>thống</a:t>
            </a:r>
            <a:r>
              <a:rPr sz="1100" dirty="0"/>
              <a:t> </a:t>
            </a:r>
            <a:r>
              <a:rPr sz="1100" dirty="0" err="1"/>
              <a:t>hoạt</a:t>
            </a:r>
            <a:r>
              <a:rPr sz="1100" dirty="0"/>
              <a:t> </a:t>
            </a:r>
            <a:r>
              <a:rPr sz="1100" dirty="0" err="1"/>
              <a:t>động</a:t>
            </a:r>
            <a:r>
              <a:rPr sz="1100" dirty="0"/>
              <a:t> </a:t>
            </a:r>
            <a:r>
              <a:rPr sz="1100" dirty="0" err="1"/>
              <a:t>tốt</a:t>
            </a:r>
            <a:r>
              <a:rPr sz="1100" dirty="0"/>
              <a:t> </a:t>
            </a:r>
            <a:r>
              <a:rPr sz="1100" dirty="0" err="1"/>
              <a:t>không</a:t>
            </a:r>
            <a:endParaRPr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tổng</a:t>
            </a:r>
            <a:r>
              <a:rPr sz="1100" dirty="0"/>
              <a:t> </a:t>
            </a:r>
            <a:r>
              <a:rPr sz="1100" dirty="0" err="1"/>
              <a:t>số</a:t>
            </a:r>
            <a:r>
              <a:rPr sz="1100" dirty="0"/>
              <a:t> </a:t>
            </a:r>
            <a:r>
              <a:rPr sz="1100" dirty="0" err="1"/>
              <a:t>gói</a:t>
            </a:r>
            <a:r>
              <a:rPr sz="1100" dirty="0"/>
              <a:t> </a:t>
            </a:r>
            <a:r>
              <a:rPr sz="1100" dirty="0" err="1"/>
              <a:t>thầu</a:t>
            </a:r>
            <a:r>
              <a:rPr sz="1100" dirty="0"/>
              <a:t> </a:t>
            </a:r>
            <a:r>
              <a:rPr sz="1100" dirty="0" err="1"/>
              <a:t>trong</a:t>
            </a:r>
            <a:r>
              <a:rPr sz="1100" dirty="0"/>
              <a:t> CSDL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tổng</a:t>
            </a:r>
            <a:r>
              <a:rPr sz="1100" dirty="0"/>
              <a:t> </a:t>
            </a:r>
            <a:r>
              <a:rPr sz="1100" dirty="0" err="1"/>
              <a:t>số</a:t>
            </a:r>
            <a:r>
              <a:rPr sz="1100" dirty="0"/>
              <a:t> bidder-history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trạng</a:t>
            </a:r>
            <a:r>
              <a:rPr sz="1100" dirty="0"/>
              <a:t> </a:t>
            </a:r>
            <a:r>
              <a:rPr sz="1100" dirty="0" err="1"/>
              <a:t>thái</a:t>
            </a:r>
            <a:r>
              <a:rPr sz="1100" dirty="0"/>
              <a:t> Semantic model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các</a:t>
            </a:r>
            <a:r>
              <a:rPr sz="1100" dirty="0"/>
              <a:t> file artifact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trọng</a:t>
            </a:r>
            <a:r>
              <a:rPr sz="1100" dirty="0"/>
              <a:t> </a:t>
            </a:r>
            <a:r>
              <a:rPr sz="1100" dirty="0" err="1"/>
              <a:t>số</a:t>
            </a:r>
            <a:r>
              <a:rPr sz="1100" dirty="0"/>
              <a:t> scoring </a:t>
            </a:r>
            <a:r>
              <a:rPr sz="1100" dirty="0" err="1"/>
              <a:t>hiện</a:t>
            </a:r>
            <a:r>
              <a:rPr sz="1100" dirty="0"/>
              <a:t> </a:t>
            </a:r>
            <a:r>
              <a:rPr sz="1100" dirty="0" err="1"/>
              <a:t>tại</a:t>
            </a:r>
            <a:endParaRPr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(</a:t>
            </a:r>
            <a:r>
              <a:rPr sz="1100" dirty="0" err="1"/>
              <a:t>Dành</a:t>
            </a:r>
            <a:r>
              <a:rPr sz="1100" dirty="0"/>
              <a:t> </a:t>
            </a:r>
            <a:r>
              <a:rPr sz="1100" dirty="0" err="1"/>
              <a:t>cho</a:t>
            </a:r>
            <a:r>
              <a:rPr sz="1100" dirty="0"/>
              <a:t> </a:t>
            </a:r>
            <a:r>
              <a:rPr sz="1100" dirty="0" err="1"/>
              <a:t>quản</a:t>
            </a:r>
            <a:r>
              <a:rPr sz="1100" dirty="0"/>
              <a:t> </a:t>
            </a:r>
            <a:r>
              <a:rPr sz="1100" dirty="0" err="1"/>
              <a:t>trị</a:t>
            </a:r>
            <a:r>
              <a:rPr sz="1100" dirty="0"/>
              <a:t> </a:t>
            </a:r>
            <a:r>
              <a:rPr sz="1100" dirty="0" err="1"/>
              <a:t>viên</a:t>
            </a:r>
            <a:r>
              <a:rPr sz="1100" dirty="0"/>
              <a:t>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80498-C6C4-0E97-042C-B6D885176AD8}"/>
              </a:ext>
            </a:extLst>
          </p:cNvPr>
          <p:cNvSpPr txBox="1"/>
          <p:nvPr/>
        </p:nvSpPr>
        <p:spPr>
          <a:xfrm>
            <a:off x="245224" y="2232247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Hồ sơ Doanh nghiệp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415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9CD6-C17C-3C59-1C52-EBE3381E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Luồng hoạt động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15114-0409-C7A3-AEC4-1906E8C2174F}"/>
              </a:ext>
            </a:extLst>
          </p:cNvPr>
          <p:cNvSpPr txBox="1"/>
          <p:nvPr/>
        </p:nvSpPr>
        <p:spPr>
          <a:xfrm>
            <a:off x="640080" y="1342172"/>
            <a:ext cx="45865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tx1"/>
                </a:solidFill>
              </a:rPr>
              <a:t>Hệ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thống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hoạt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động</a:t>
            </a:r>
            <a:r>
              <a:rPr sz="2000" dirty="0">
                <a:solidFill>
                  <a:schemeClr val="tx1"/>
                </a:solidFill>
              </a:rPr>
              <a:t> qua 4 Giai </a:t>
            </a:r>
            <a:r>
              <a:rPr sz="2000" dirty="0" err="1">
                <a:solidFill>
                  <a:schemeClr val="tx1"/>
                </a:solidFill>
              </a:rPr>
              <a:t>đoạn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BEF4EED9-C00A-26E0-4A2B-7B2F33A349C7}"/>
              </a:ext>
            </a:extLst>
          </p:cNvPr>
          <p:cNvSpPr/>
          <p:nvPr/>
        </p:nvSpPr>
        <p:spPr>
          <a:xfrm>
            <a:off x="751332" y="2658545"/>
            <a:ext cx="1694965" cy="8229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2BF25E4B-807A-3F62-97A8-71963B7B56D5}"/>
              </a:ext>
            </a:extLst>
          </p:cNvPr>
          <p:cNvSpPr/>
          <p:nvPr/>
        </p:nvSpPr>
        <p:spPr>
          <a:xfrm>
            <a:off x="2641543" y="2658545"/>
            <a:ext cx="1694965" cy="82296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44FCFEE9-1EC9-7D5B-C02C-16F8C3BA6E9B}"/>
              </a:ext>
            </a:extLst>
          </p:cNvPr>
          <p:cNvSpPr/>
          <p:nvPr/>
        </p:nvSpPr>
        <p:spPr>
          <a:xfrm>
            <a:off x="4607502" y="2658545"/>
            <a:ext cx="1694965" cy="8229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6FBBB786-7EE6-E07A-8F8D-345DD6C70C4E}"/>
              </a:ext>
            </a:extLst>
          </p:cNvPr>
          <p:cNvSpPr/>
          <p:nvPr/>
        </p:nvSpPr>
        <p:spPr>
          <a:xfrm>
            <a:off x="6591751" y="2666499"/>
            <a:ext cx="1828800" cy="82296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D3DFC3-CE2C-B09C-2007-D7D602E438C0}"/>
              </a:ext>
            </a:extLst>
          </p:cNvPr>
          <p:cNvSpPr txBox="1"/>
          <p:nvPr/>
        </p:nvSpPr>
        <p:spPr>
          <a:xfrm>
            <a:off x="6643706" y="27059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4</a:t>
            </a:r>
            <a:br>
              <a:rPr dirty="0"/>
            </a:b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br>
              <a:rPr dirty="0"/>
            </a:b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hạng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EA6CA7-AFA2-0324-E520-3398537DA4E7}"/>
              </a:ext>
            </a:extLst>
          </p:cNvPr>
          <p:cNvSpPr txBox="1"/>
          <p:nvPr/>
        </p:nvSpPr>
        <p:spPr>
          <a:xfrm>
            <a:off x="4557211" y="27059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3</a:t>
            </a:r>
            <a:br>
              <a:rPr dirty="0"/>
            </a:br>
            <a:r>
              <a:rPr dirty="0" err="1"/>
              <a:t>Chấm</a:t>
            </a:r>
            <a:r>
              <a:rPr dirty="0"/>
              <a:t> </a:t>
            </a:r>
            <a:r>
              <a:rPr dirty="0" err="1"/>
              <a:t>điểm</a:t>
            </a:r>
            <a:br>
              <a:rPr dirty="0"/>
            </a:br>
            <a:r>
              <a:rPr dirty="0"/>
              <a:t>Ranking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11B02C-10DD-2469-F624-87097961D727}"/>
              </a:ext>
            </a:extLst>
          </p:cNvPr>
          <p:cNvSpPr txBox="1"/>
          <p:nvPr/>
        </p:nvSpPr>
        <p:spPr>
          <a:xfrm>
            <a:off x="2600083" y="268997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2</a:t>
            </a:r>
            <a:br>
              <a:rPr dirty="0"/>
            </a:b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br>
              <a:rPr dirty="0"/>
            </a:b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DN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0F5810-9F54-6421-5BE3-A19C2A3688A3}"/>
              </a:ext>
            </a:extLst>
          </p:cNvPr>
          <p:cNvSpPr txBox="1"/>
          <p:nvPr/>
        </p:nvSpPr>
        <p:spPr>
          <a:xfrm>
            <a:off x="651787" y="273063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1</a:t>
            </a:r>
            <a:br>
              <a:rPr dirty="0"/>
            </a:br>
            <a:r>
              <a:rPr dirty="0"/>
              <a:t>Thu </a:t>
            </a:r>
            <a:r>
              <a:rPr dirty="0" err="1"/>
              <a:t>thập</a:t>
            </a:r>
            <a:br>
              <a:rPr dirty="0"/>
            </a:b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29" name="Right Arrow 5">
            <a:extLst>
              <a:ext uri="{FF2B5EF4-FFF2-40B4-BE49-F238E27FC236}">
                <a16:creationId xmlns:a16="http://schemas.microsoft.com/office/drawing/2014/main" id="{03F04799-F42F-31AB-C33A-66EDE734CA1E}"/>
              </a:ext>
            </a:extLst>
          </p:cNvPr>
          <p:cNvSpPr/>
          <p:nvPr/>
        </p:nvSpPr>
        <p:spPr>
          <a:xfrm>
            <a:off x="2478924" y="293286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5">
            <a:extLst>
              <a:ext uri="{FF2B5EF4-FFF2-40B4-BE49-F238E27FC236}">
                <a16:creationId xmlns:a16="http://schemas.microsoft.com/office/drawing/2014/main" id="{7CA91319-07AB-CE7A-E981-00582BB4E4B3}"/>
              </a:ext>
            </a:extLst>
          </p:cNvPr>
          <p:cNvSpPr/>
          <p:nvPr/>
        </p:nvSpPr>
        <p:spPr>
          <a:xfrm>
            <a:off x="4418387" y="2964299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5">
            <a:extLst>
              <a:ext uri="{FF2B5EF4-FFF2-40B4-BE49-F238E27FC236}">
                <a16:creationId xmlns:a16="http://schemas.microsoft.com/office/drawing/2014/main" id="{78161B82-7DF0-DE2B-13E1-F5DA8A709B22}"/>
              </a:ext>
            </a:extLst>
          </p:cNvPr>
          <p:cNvSpPr/>
          <p:nvPr/>
        </p:nvSpPr>
        <p:spPr>
          <a:xfrm>
            <a:off x="6368347" y="293286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C58A1-39FA-DCE2-0F8E-29D9AC312F25}"/>
              </a:ext>
            </a:extLst>
          </p:cNvPr>
          <p:cNvSpPr txBox="1"/>
          <p:nvPr/>
        </p:nvSpPr>
        <p:spPr>
          <a:xfrm>
            <a:off x="372167" y="3755825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F8C8D"/>
                </a:solidFill>
              </a:defRPr>
            </a:pP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thô</a:t>
            </a:r>
            <a:r>
              <a:rPr dirty="0"/>
              <a:t> (CSV) →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sạch</a:t>
            </a:r>
            <a:r>
              <a:rPr dirty="0"/>
              <a:t> →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→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</a:t>
            </a:r>
          </a:p>
        </p:txBody>
      </p:sp>
    </p:spTree>
    <p:extLst>
      <p:ext uri="{BB962C8B-B14F-4D97-AF65-F5344CB8AC3E}">
        <p14:creationId xmlns:p14="http://schemas.microsoft.com/office/powerpoint/2010/main" val="36852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C9FD-7C20-5970-4107-526060E12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5327-7849-5D30-33B8-A15DA0DD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0B99D3-4394-E8CD-714E-8FE6908D3880}"/>
              </a:ext>
            </a:extLst>
          </p:cNvPr>
          <p:cNvSpPr/>
          <p:nvPr/>
        </p:nvSpPr>
        <p:spPr>
          <a:xfrm>
            <a:off x="297962" y="1568335"/>
            <a:ext cx="1457858" cy="1379913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843A8-00C7-D647-51CD-BC00FFE3873A}"/>
              </a:ext>
            </a:extLst>
          </p:cNvPr>
          <p:cNvSpPr txBox="1"/>
          <p:nvPr/>
        </p:nvSpPr>
        <p:spPr>
          <a:xfrm>
            <a:off x="343682" y="19848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34DDC4-260D-7DE7-934A-D0325F909236}"/>
              </a:ext>
            </a:extLst>
          </p:cNvPr>
          <p:cNvSpPr/>
          <p:nvPr/>
        </p:nvSpPr>
        <p:spPr>
          <a:xfrm>
            <a:off x="1852442" y="15683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87530-86E2-338E-F6CF-FCB7009B87C4}"/>
              </a:ext>
            </a:extLst>
          </p:cNvPr>
          <p:cNvSpPr txBox="1"/>
          <p:nvPr/>
        </p:nvSpPr>
        <p:spPr>
          <a:xfrm>
            <a:off x="2035322" y="16195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dirty="0"/>
              <a:t>Input: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A061C-3D8D-AA0D-622B-1CBAF23BD35B}"/>
              </a:ext>
            </a:extLst>
          </p:cNvPr>
          <p:cNvSpPr txBox="1"/>
          <p:nvPr/>
        </p:nvSpPr>
        <p:spPr>
          <a:xfrm>
            <a:off x="2035322" y="2074157"/>
            <a:ext cx="66514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File CSV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 (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nghìn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r>
              <a:rPr lang="en-US" dirty="0"/>
              <a:t>)</a:t>
            </a:r>
          </a:p>
          <a:p>
            <a:pPr algn="l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EE9043-1F43-2A5F-FFA2-130991C5BD98}"/>
              </a:ext>
            </a:extLst>
          </p:cNvPr>
          <p:cNvSpPr/>
          <p:nvPr/>
        </p:nvSpPr>
        <p:spPr>
          <a:xfrm>
            <a:off x="297962" y="3168535"/>
            <a:ext cx="1457858" cy="137991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C0E1B-396C-27AC-56D6-C614F52A1AE9}"/>
              </a:ext>
            </a:extLst>
          </p:cNvPr>
          <p:cNvSpPr txBox="1"/>
          <p:nvPr/>
        </p:nvSpPr>
        <p:spPr>
          <a:xfrm>
            <a:off x="343682" y="35850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B1E4C4-3AF4-7DE7-7205-100448AD2978}"/>
              </a:ext>
            </a:extLst>
          </p:cNvPr>
          <p:cNvSpPr/>
          <p:nvPr/>
        </p:nvSpPr>
        <p:spPr>
          <a:xfrm>
            <a:off x="1852442" y="31685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871D61-A671-FAFB-0060-355349AB0F78}"/>
              </a:ext>
            </a:extLst>
          </p:cNvPr>
          <p:cNvSpPr txBox="1"/>
          <p:nvPr/>
        </p:nvSpPr>
        <p:spPr>
          <a:xfrm>
            <a:off x="2035322" y="32197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nn-NO" dirty="0"/>
              <a:t>Xử lý trong file ingest.</a:t>
            </a:r>
            <a:r>
              <a:rPr lang="vi-VN" dirty="0"/>
              <a:t>py: 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97B1C-7DEE-C48A-E6C6-A143A48CBE3D}"/>
              </a:ext>
            </a:extLst>
          </p:cNvPr>
          <p:cNvSpPr txBox="1"/>
          <p:nvPr/>
        </p:nvSpPr>
        <p:spPr>
          <a:xfrm>
            <a:off x="2035322" y="3585003"/>
            <a:ext cx="66514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</a:t>
            </a:r>
            <a:r>
              <a:rPr lang="vi-VN" dirty="0"/>
              <a:t> Loại bỏ dữ liệu trùng lặp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 </a:t>
            </a:r>
            <a:r>
              <a:rPr lang="vi-VN" dirty="0"/>
              <a:t>Chuẩn hóa tên tỉnh/ thành phố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 </a:t>
            </a:r>
            <a:r>
              <a:rPr lang="vi-VN" dirty="0"/>
              <a:t>Chuẩn hóa tên lĩnh vực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 </a:t>
            </a:r>
            <a:r>
              <a:rPr lang="vi-VN" dirty="0"/>
              <a:t>Tinh toán lại các giá trị cần thiết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F5B3A8-0E4A-2EDF-44D2-4466BB1171F8}"/>
              </a:ext>
            </a:extLst>
          </p:cNvPr>
          <p:cNvSpPr/>
          <p:nvPr/>
        </p:nvSpPr>
        <p:spPr>
          <a:xfrm>
            <a:off x="297962" y="4768735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C6977-78D6-2249-A60F-234EDF69A721}"/>
              </a:ext>
            </a:extLst>
          </p:cNvPr>
          <p:cNvSpPr txBox="1"/>
          <p:nvPr/>
        </p:nvSpPr>
        <p:spPr>
          <a:xfrm>
            <a:off x="343682" y="51852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3967AB-D813-9932-9C20-A70E5055EC78}"/>
              </a:ext>
            </a:extLst>
          </p:cNvPr>
          <p:cNvSpPr/>
          <p:nvPr/>
        </p:nvSpPr>
        <p:spPr>
          <a:xfrm>
            <a:off x="1852442" y="47687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412AB6-7B01-C9B6-811C-A98595B2829E}"/>
              </a:ext>
            </a:extLst>
          </p:cNvPr>
          <p:cNvSpPr txBox="1"/>
          <p:nvPr/>
        </p:nvSpPr>
        <p:spPr>
          <a:xfrm>
            <a:off x="2035322" y="48199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/>
              <a:t>Output: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480A1E-6EEA-2089-067F-FD9FF27F9E95}"/>
              </a:ext>
            </a:extLst>
          </p:cNvPr>
          <p:cNvSpPr txBox="1"/>
          <p:nvPr/>
        </p:nvSpPr>
        <p:spPr>
          <a:xfrm>
            <a:off x="2035322" y="5207323"/>
            <a:ext cx="665147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2 file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sạch</a:t>
            </a:r>
            <a:r>
              <a:rPr lang="en-US" dirty="0"/>
              <a:t> (Parquet):</a:t>
            </a:r>
            <a:endParaRPr lang="vi-VN" dirty="0"/>
          </a:p>
          <a:p>
            <a:pPr marL="285750" indent="-285750">
              <a:buFont typeface="Wingdings" panose="05000000000000000000" pitchFamily="2" charset="2"/>
              <a:buChar char="à"/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tender_snapshot.parquet</a:t>
            </a:r>
            <a:r>
              <a:rPr lang="en-US" dirty="0"/>
              <a:t> —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endParaRPr lang="vi-VN" dirty="0"/>
          </a:p>
          <a:p>
            <a:pPr marL="285750" indent="-285750">
              <a:buFont typeface="Wingdings" panose="05000000000000000000" pitchFamily="2" charset="2"/>
              <a:buChar char="à"/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contractor_history.parquet</a:t>
            </a:r>
            <a:r>
              <a:rPr lang="en-US" dirty="0"/>
              <a:t> —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ai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, </a:t>
            </a:r>
            <a:r>
              <a:rPr lang="en-US" dirty="0" err="1"/>
              <a:t>thắng</a:t>
            </a:r>
            <a:r>
              <a:rPr lang="en-US" dirty="0"/>
              <a:t> hay </a:t>
            </a:r>
            <a:r>
              <a:rPr lang="en-US" dirty="0" err="1"/>
              <a:t>thua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AFAAE8-32BD-702A-CC6B-0520D7295B34}"/>
              </a:ext>
            </a:extLst>
          </p:cNvPr>
          <p:cNvSpPr txBox="1"/>
          <p:nvPr/>
        </p:nvSpPr>
        <p:spPr>
          <a:xfrm>
            <a:off x="343682" y="999200"/>
            <a:ext cx="7511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Giai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đoạn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1: Thu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thập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Làm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sạch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Dữ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liệu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41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189C-5E16-7883-F904-037FAE74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CCE5-5611-EF5B-4C50-40D9F2F61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193691-8B08-CC3B-B09C-B91F52A4531D}"/>
              </a:ext>
            </a:extLst>
          </p:cNvPr>
          <p:cNvSpPr/>
          <p:nvPr/>
        </p:nvSpPr>
        <p:spPr>
          <a:xfrm>
            <a:off x="297962" y="1568336"/>
            <a:ext cx="1457858" cy="416468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B4287-AE22-3FC0-6C0C-B766690C9A37}"/>
              </a:ext>
            </a:extLst>
          </p:cNvPr>
          <p:cNvSpPr txBox="1"/>
          <p:nvPr/>
        </p:nvSpPr>
        <p:spPr>
          <a:xfrm>
            <a:off x="304115" y="161959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D4D4E7-BD54-321C-9B0D-6F8C362BA098}"/>
              </a:ext>
            </a:extLst>
          </p:cNvPr>
          <p:cNvSpPr/>
          <p:nvPr/>
        </p:nvSpPr>
        <p:spPr>
          <a:xfrm>
            <a:off x="1852442" y="1568336"/>
            <a:ext cx="7015942" cy="400110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ED53A-D92C-1C9E-1D58-B355AE17CB9B}"/>
              </a:ext>
            </a:extLst>
          </p:cNvPr>
          <p:cNvSpPr txBox="1"/>
          <p:nvPr/>
        </p:nvSpPr>
        <p:spPr>
          <a:xfrm>
            <a:off x="2035322" y="16195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+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vi-VN" dirty="0"/>
              <a:t>: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DAF409-6652-B919-AA77-6224A3481C57}"/>
              </a:ext>
            </a:extLst>
          </p:cNvPr>
          <p:cNvSpPr/>
          <p:nvPr/>
        </p:nvSpPr>
        <p:spPr>
          <a:xfrm>
            <a:off x="297962" y="2311039"/>
            <a:ext cx="1457858" cy="71090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BF9A8-EA03-6225-9B1D-5F318247AF61}"/>
              </a:ext>
            </a:extLst>
          </p:cNvPr>
          <p:cNvSpPr txBox="1"/>
          <p:nvPr/>
        </p:nvSpPr>
        <p:spPr>
          <a:xfrm>
            <a:off x="304115" y="2405902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465193-8893-CC1E-5C0B-BBBE3DBE0629}"/>
              </a:ext>
            </a:extLst>
          </p:cNvPr>
          <p:cNvSpPr/>
          <p:nvPr/>
        </p:nvSpPr>
        <p:spPr>
          <a:xfrm>
            <a:off x="1829822" y="2311040"/>
            <a:ext cx="7015942" cy="71090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F736C-7CE8-740E-CC0A-CEF3192CD2A2}"/>
              </a:ext>
            </a:extLst>
          </p:cNvPr>
          <p:cNvSpPr txBox="1"/>
          <p:nvPr/>
        </p:nvSpPr>
        <p:spPr>
          <a:xfrm>
            <a:off x="1978571" y="2363047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MẠNH (</a:t>
            </a:r>
            <a:r>
              <a:rPr lang="en-US" dirty="0" err="1"/>
              <a:t>strong_fields</a:t>
            </a:r>
            <a:r>
              <a:rPr lang="en-US" dirty="0"/>
              <a:t>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A44D3E-DCE8-F359-1597-E5DED6C763F7}"/>
              </a:ext>
            </a:extLst>
          </p:cNvPr>
          <p:cNvSpPr/>
          <p:nvPr/>
        </p:nvSpPr>
        <p:spPr>
          <a:xfrm>
            <a:off x="297962" y="3303322"/>
            <a:ext cx="1457858" cy="71090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FE76B-482A-6C18-4086-BBB6FE417A92}"/>
              </a:ext>
            </a:extLst>
          </p:cNvPr>
          <p:cNvSpPr txBox="1"/>
          <p:nvPr/>
        </p:nvSpPr>
        <p:spPr>
          <a:xfrm>
            <a:off x="304115" y="3317980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600C219-47D0-FA11-9564-54A9AD467B54}"/>
              </a:ext>
            </a:extLst>
          </p:cNvPr>
          <p:cNvSpPr/>
          <p:nvPr/>
        </p:nvSpPr>
        <p:spPr>
          <a:xfrm>
            <a:off x="1852442" y="3303323"/>
            <a:ext cx="7015942" cy="710901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F38CF7-CC00-A1F7-5779-70842B187F18}"/>
              </a:ext>
            </a:extLst>
          </p:cNvPr>
          <p:cNvSpPr txBox="1"/>
          <p:nvPr/>
        </p:nvSpPr>
        <p:spPr>
          <a:xfrm>
            <a:off x="1978571" y="3317980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MẠNH (</a:t>
            </a:r>
            <a:r>
              <a:rPr lang="en-US" dirty="0" err="1"/>
              <a:t>strong_provinces</a:t>
            </a:r>
            <a:r>
              <a:rPr lang="en-US" dirty="0"/>
              <a:t>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B5C1AB-4637-88EE-AB6F-BFBD4C735D16}"/>
              </a:ext>
            </a:extLst>
          </p:cNvPr>
          <p:cNvSpPr txBox="1"/>
          <p:nvPr/>
        </p:nvSpPr>
        <p:spPr>
          <a:xfrm>
            <a:off x="343682" y="999200"/>
            <a:ext cx="7511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Giai đoạn 2: Xây dựng Hồ sơ Doanh nghiệp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07DB0-26AB-726C-BFB8-00D8E8BC5ECA}"/>
              </a:ext>
            </a:extLst>
          </p:cNvPr>
          <p:cNvSpPr txBox="1"/>
          <p:nvPr/>
        </p:nvSpPr>
        <p:spPr>
          <a:xfrm>
            <a:off x="1670857" y="4657446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2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D4F487C2-324E-F92F-39E5-2143D4B653B3}"/>
              </a:ext>
            </a:extLst>
          </p:cNvPr>
          <p:cNvSpPr/>
          <p:nvPr/>
        </p:nvSpPr>
        <p:spPr>
          <a:xfrm>
            <a:off x="258557" y="4240670"/>
            <a:ext cx="1457858" cy="3876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47B035D8-A62D-4022-0ADC-0FFBEF09D25D}"/>
              </a:ext>
            </a:extLst>
          </p:cNvPr>
          <p:cNvSpPr/>
          <p:nvPr/>
        </p:nvSpPr>
        <p:spPr>
          <a:xfrm>
            <a:off x="258557" y="5081430"/>
            <a:ext cx="1457858" cy="7109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A35336-1BE7-D363-209F-27D07EE9D159}"/>
              </a:ext>
            </a:extLst>
          </p:cNvPr>
          <p:cNvSpPr txBox="1"/>
          <p:nvPr/>
        </p:nvSpPr>
        <p:spPr>
          <a:xfrm>
            <a:off x="258557" y="5135775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</a:t>
            </a:r>
            <a:r>
              <a:rPr lang="vi-VN" dirty="0"/>
              <a:t>5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3EB0A4-E1BB-0FEE-E264-C0FBFDC38B8C}"/>
              </a:ext>
            </a:extLst>
          </p:cNvPr>
          <p:cNvSpPr txBox="1"/>
          <p:nvPr/>
        </p:nvSpPr>
        <p:spPr>
          <a:xfrm>
            <a:off x="342264" y="4275085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</a:t>
            </a:r>
            <a:r>
              <a:rPr lang="vi-VN" dirty="0"/>
              <a:t>4</a:t>
            </a:r>
            <a:endParaRPr dirty="0"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755ADBE5-6B3F-2D1A-6207-C7960EAFC605}"/>
              </a:ext>
            </a:extLst>
          </p:cNvPr>
          <p:cNvSpPr/>
          <p:nvPr/>
        </p:nvSpPr>
        <p:spPr>
          <a:xfrm>
            <a:off x="1869501" y="5089607"/>
            <a:ext cx="7015942" cy="710901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3F834240-DDDC-47E3-0828-51BBE0FE8791}"/>
              </a:ext>
            </a:extLst>
          </p:cNvPr>
          <p:cNvSpPr/>
          <p:nvPr/>
        </p:nvSpPr>
        <p:spPr>
          <a:xfrm>
            <a:off x="1829822" y="4226621"/>
            <a:ext cx="7015942" cy="442566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280D6E-B233-A1BE-298D-73FB48460B43}"/>
              </a:ext>
            </a:extLst>
          </p:cNvPr>
          <p:cNvSpPr txBox="1"/>
          <p:nvPr/>
        </p:nvSpPr>
        <p:spPr>
          <a:xfrm>
            <a:off x="1978570" y="4226559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GIÁ (</a:t>
            </a:r>
            <a:r>
              <a:rPr lang="en-US" dirty="0" err="1"/>
              <a:t>price_low</a:t>
            </a:r>
            <a:r>
              <a:rPr lang="en-US" dirty="0"/>
              <a:t>, </a:t>
            </a:r>
            <a:r>
              <a:rPr lang="en-US" dirty="0" err="1"/>
              <a:t>price_high</a:t>
            </a:r>
            <a:r>
              <a:rPr lang="en-US" dirty="0"/>
              <a:t>, median)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DD9EDD-26C2-83C3-32A6-F65193EE6561}"/>
              </a:ext>
            </a:extLst>
          </p:cNvPr>
          <p:cNvSpPr txBox="1"/>
          <p:nvPr/>
        </p:nvSpPr>
        <p:spPr>
          <a:xfrm>
            <a:off x="1978569" y="5057494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dirty="0"/>
              <a:t>Xác định Chủ đầu tư QUEN (familiar_investors)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75E4C9-312A-E80A-0DAE-08978AF3003C}"/>
              </a:ext>
            </a:extLst>
          </p:cNvPr>
          <p:cNvSpPr txBox="1"/>
          <p:nvPr/>
        </p:nvSpPr>
        <p:spPr>
          <a:xfrm>
            <a:off x="1978570" y="2686496"/>
            <a:ext cx="66514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→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CAO NHẤT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E4CBB5-21FC-DE22-0F7C-F62C7C1D29F5}"/>
              </a:ext>
            </a:extLst>
          </p:cNvPr>
          <p:cNvSpPr txBox="1"/>
          <p:nvPr/>
        </p:nvSpPr>
        <p:spPr>
          <a:xfrm>
            <a:off x="1978569" y="3656533"/>
            <a:ext cx="66514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→ </a:t>
            </a:r>
            <a:r>
              <a:rPr lang="en-US" dirty="0" err="1"/>
              <a:t>Tỉnh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CAO NHẤT</a:t>
            </a: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39F5E7-24EA-392E-1760-7590B889229C}"/>
              </a:ext>
            </a:extLst>
          </p:cNvPr>
          <p:cNvSpPr txBox="1"/>
          <p:nvPr/>
        </p:nvSpPr>
        <p:spPr>
          <a:xfrm>
            <a:off x="1978569" y="5454555"/>
            <a:ext cx="66514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→ CĐT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&gt;= 1 </a:t>
            </a:r>
            <a:r>
              <a:rPr lang="en-US" dirty="0" err="1"/>
              <a:t>lần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58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C276-EDEA-AB09-CBBB-BC6C348A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0"/>
            <a:ext cx="5333999" cy="822722"/>
          </a:xfrm>
        </p:spPr>
        <p:txBody>
          <a:bodyPr/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9C052-ECFD-9263-32B7-FFBAF3604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628" y="1956027"/>
            <a:ext cx="8229600" cy="5402070"/>
          </a:xfrm>
        </p:spPr>
        <p:txBody>
          <a:bodyPr/>
          <a:lstStyle/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strong_fields</a:t>
            </a:r>
            <a:r>
              <a:rPr lang="en-US" dirty="0"/>
              <a:t>: ['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lắp</a:t>
            </a:r>
            <a:r>
              <a:rPr lang="en-US" dirty="0"/>
              <a:t>', '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']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 → Công ty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ở 2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strong_provinces</a:t>
            </a:r>
            <a:r>
              <a:rPr lang="en-US" dirty="0"/>
              <a:t>: ['Hà </a:t>
            </a:r>
            <a:r>
              <a:rPr lang="en-US" dirty="0" err="1"/>
              <a:t>Nội</a:t>
            </a:r>
            <a:r>
              <a:rPr lang="en-US" dirty="0"/>
              <a:t>', 'Hải </a:t>
            </a:r>
            <a:r>
              <a:rPr lang="en-US" dirty="0" err="1"/>
              <a:t>Phòng</a:t>
            </a:r>
            <a:r>
              <a:rPr lang="en-US" dirty="0"/>
              <a:t>']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→ Công ty hay </a:t>
            </a:r>
            <a:r>
              <a:rPr lang="en-US" dirty="0" err="1"/>
              <a:t>thắng</a:t>
            </a:r>
            <a:r>
              <a:rPr lang="en-US" dirty="0"/>
              <a:t> ở Hà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Hải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price_low</a:t>
            </a:r>
            <a:r>
              <a:rPr lang="en-US" dirty="0"/>
              <a:t>: 5 </a:t>
            </a:r>
            <a:r>
              <a:rPr lang="en-US" dirty="0" err="1"/>
              <a:t>tỷ</a:t>
            </a:r>
            <a:r>
              <a:rPr lang="en-US" dirty="0"/>
              <a:t> | </a:t>
            </a:r>
            <a:r>
              <a:rPr lang="en-US" dirty="0" err="1"/>
              <a:t>price_high</a:t>
            </a:r>
            <a:r>
              <a:rPr lang="en-US" dirty="0"/>
              <a:t>: 50 </a:t>
            </a:r>
            <a:r>
              <a:rPr lang="en-US" dirty="0" err="1"/>
              <a:t>tỷ</a:t>
            </a:r>
            <a:r>
              <a:rPr lang="en-US" dirty="0"/>
              <a:t> | </a:t>
            </a:r>
            <a:r>
              <a:rPr lang="en-US" dirty="0" err="1"/>
              <a:t>median_price</a:t>
            </a:r>
            <a:r>
              <a:rPr lang="en-US" dirty="0"/>
              <a:t>: 15 </a:t>
            </a:r>
            <a:r>
              <a:rPr lang="en-US" dirty="0" err="1"/>
              <a:t>tỷ</a:t>
            </a:r>
            <a:endParaRPr lang="en-US" dirty="0"/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 → Công ty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trúng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5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50 </a:t>
            </a:r>
            <a:r>
              <a:rPr lang="en-US" dirty="0" err="1"/>
              <a:t>tỷ</a:t>
            </a:r>
            <a:r>
              <a:rPr lang="en-US" dirty="0"/>
              <a:t>,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15 </a:t>
            </a:r>
            <a:r>
              <a:rPr lang="en-US" dirty="0" err="1"/>
              <a:t>tỷ</a:t>
            </a:r>
            <a:r>
              <a:rPr lang="en-US" dirty="0"/>
              <a:t> 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familiar_investors</a:t>
            </a:r>
            <a:r>
              <a:rPr lang="en-US" dirty="0"/>
              <a:t>: ['</a:t>
            </a:r>
            <a:r>
              <a:rPr lang="en-US" dirty="0" err="1"/>
              <a:t>VietinBank</a:t>
            </a:r>
            <a:r>
              <a:rPr lang="en-US" dirty="0"/>
              <a:t>', 'EVN']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 → Công ty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VietinBank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EVN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45EA8-4461-820A-0E79-C8BAF2F11EA8}"/>
              </a:ext>
            </a:extLst>
          </p:cNvPr>
          <p:cNvSpPr txBox="1"/>
          <p:nvPr/>
        </p:nvSpPr>
        <p:spPr>
          <a:xfrm>
            <a:off x="732310" y="135174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Ví dụ: Hồ sơ Công ty Xây dựng A</a:t>
            </a:r>
          </a:p>
        </p:txBody>
      </p:sp>
    </p:spTree>
    <p:extLst>
      <p:ext uri="{BB962C8B-B14F-4D97-AF65-F5344CB8AC3E}">
        <p14:creationId xmlns:p14="http://schemas.microsoft.com/office/powerpoint/2010/main" val="253473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84F2-DAC2-7C2A-A1BA-94294C9CC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350" y="137398"/>
            <a:ext cx="6764977" cy="822722"/>
          </a:xfrm>
        </p:spPr>
        <p:txBody>
          <a:bodyPr>
            <a:noAutofit/>
          </a:bodyPr>
          <a:lstStyle/>
          <a:p>
            <a:r>
              <a:rPr lang="vi-VN" sz="2800" dirty="0"/>
              <a:t>Giải thuật chi tiết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C6ED2-5363-CB65-F147-B615C33B92EC}"/>
              </a:ext>
            </a:extLst>
          </p:cNvPr>
          <p:cNvSpPr txBox="1"/>
          <p:nvPr/>
        </p:nvSpPr>
        <p:spPr>
          <a:xfrm>
            <a:off x="-937260" y="996017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9900"/>
                </a:solidFill>
              </a:defRPr>
            </a:pPr>
            <a:r>
              <a:rPr lang="vi-VN" sz="2000" dirty="0"/>
              <a:t>Giống như bạn sử dụng Shoppe hoặc Google</a:t>
            </a:r>
            <a:endParaRPr sz="2000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40ACA23-BDC4-13C9-3660-0B90EA036CBF}"/>
              </a:ext>
            </a:extLst>
          </p:cNvPr>
          <p:cNvSpPr/>
          <p:nvPr/>
        </p:nvSpPr>
        <p:spPr>
          <a:xfrm>
            <a:off x="457200" y="1920240"/>
            <a:ext cx="265176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59F6F-77DC-30B5-D1AA-6413D691CC7E}"/>
              </a:ext>
            </a:extLst>
          </p:cNvPr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70C0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1B530-AC10-5438-38BE-C97566F88787}"/>
              </a:ext>
            </a:extLst>
          </p:cNvPr>
          <p:cNvSpPr txBox="1"/>
          <p:nvPr/>
        </p:nvSpPr>
        <p:spPr>
          <a:xfrm>
            <a:off x="548640" y="2560320"/>
            <a:ext cx="24688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Nhập </a:t>
            </a:r>
            <a:br>
              <a:rPr lang="vi-VN" dirty="0"/>
            </a:br>
            <a:r>
              <a:rPr lang="vi-VN" dirty="0"/>
              <a:t>thông tin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1EA0F-0F94-4EA4-B5FA-86FD113F97D5}"/>
              </a:ext>
            </a:extLst>
          </p:cNvPr>
          <p:cNvSpPr/>
          <p:nvPr/>
        </p:nvSpPr>
        <p:spPr>
          <a:xfrm>
            <a:off x="731520" y="3474720"/>
            <a:ext cx="2103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050BD-8299-782A-743B-E4A9F64D4458}"/>
              </a:ext>
            </a:extLst>
          </p:cNvPr>
          <p:cNvSpPr txBox="1"/>
          <p:nvPr/>
        </p:nvSpPr>
        <p:spPr>
          <a:xfrm>
            <a:off x="580505" y="3611880"/>
            <a:ext cx="2377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nhập</a:t>
            </a:r>
            <a:r>
              <a:rPr dirty="0"/>
              <a:t>:</a:t>
            </a:r>
            <a:br>
              <a:rPr dirty="0"/>
            </a:br>
            <a:r>
              <a:rPr lang="vi-VN" dirty="0"/>
              <a:t>- Tên công ty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Lĩnh vực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Khu vực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Khoảng giá</a:t>
            </a:r>
            <a:endParaRPr dirty="0"/>
          </a:p>
        </p:txBody>
      </p:sp>
      <p:sp>
        <p:nvSpPr>
          <p:cNvPr id="11" name="Right Arrow 9">
            <a:extLst>
              <a:ext uri="{FF2B5EF4-FFF2-40B4-BE49-F238E27FC236}">
                <a16:creationId xmlns:a16="http://schemas.microsoft.com/office/drawing/2014/main" id="{BE3E3AF2-F0F0-0FE9-0ED3-D75E2018DA1F}"/>
              </a:ext>
            </a:extLst>
          </p:cNvPr>
          <p:cNvSpPr/>
          <p:nvPr/>
        </p:nvSpPr>
        <p:spPr>
          <a:xfrm>
            <a:off x="3154680" y="3840480"/>
            <a:ext cx="22860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34D6D5C4-0EC2-AB68-ECAC-F9CA68A7BBBE}"/>
              </a:ext>
            </a:extLst>
          </p:cNvPr>
          <p:cNvSpPr/>
          <p:nvPr/>
        </p:nvSpPr>
        <p:spPr>
          <a:xfrm>
            <a:off x="3383280" y="1920240"/>
            <a:ext cx="265176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09D8C-C000-854F-2F29-A440ED89702A}"/>
              </a:ext>
            </a:extLst>
          </p:cNvPr>
          <p:cNvSpPr txBox="1"/>
          <p:nvPr/>
        </p:nvSpPr>
        <p:spPr>
          <a:xfrm>
            <a:off x="34747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9900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47E52-1E74-0B49-E241-3B73858C10FF}"/>
              </a:ext>
            </a:extLst>
          </p:cNvPr>
          <p:cNvSpPr txBox="1"/>
          <p:nvPr/>
        </p:nvSpPr>
        <p:spPr>
          <a:xfrm>
            <a:off x="3474720" y="2560320"/>
            <a:ext cx="24688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Hệ thống</a:t>
            </a:r>
            <a:br>
              <a:rPr lang="vi-VN" dirty="0"/>
            </a:br>
            <a:r>
              <a:rPr lang="vi-VN" dirty="0"/>
              <a:t> xử lý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4430C-4EDD-D956-D92E-0AA5EDA7B0AF}"/>
              </a:ext>
            </a:extLst>
          </p:cNvPr>
          <p:cNvSpPr/>
          <p:nvPr/>
        </p:nvSpPr>
        <p:spPr>
          <a:xfrm>
            <a:off x="3657600" y="3474720"/>
            <a:ext cx="210312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2D75D-31D1-B9FB-D5AF-C83A8D4B73B8}"/>
              </a:ext>
            </a:extLst>
          </p:cNvPr>
          <p:cNvSpPr txBox="1"/>
          <p:nvPr/>
        </p:nvSpPr>
        <p:spPr>
          <a:xfrm>
            <a:off x="3520440" y="3611880"/>
            <a:ext cx="2377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Hệ thống tự động: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So sánh với 50,000+ gói thầu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Chấm điểm từng gói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Xếp hạng phù hợp</a:t>
            </a:r>
            <a:endParaRPr dirty="0"/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C1D52AFE-D198-CD65-DF9B-FE8E573D3E03}"/>
              </a:ext>
            </a:extLst>
          </p:cNvPr>
          <p:cNvSpPr/>
          <p:nvPr/>
        </p:nvSpPr>
        <p:spPr>
          <a:xfrm>
            <a:off x="6080760" y="3840480"/>
            <a:ext cx="22860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B7EFCDE2-E3FA-4F0D-EA51-19BBBC7C55C8}"/>
              </a:ext>
            </a:extLst>
          </p:cNvPr>
          <p:cNvSpPr/>
          <p:nvPr/>
        </p:nvSpPr>
        <p:spPr>
          <a:xfrm>
            <a:off x="6309360" y="1920240"/>
            <a:ext cx="265176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23E6D-134A-B131-101A-D209878B671C}"/>
              </a:ext>
            </a:extLst>
          </p:cNvPr>
          <p:cNvSpPr txBox="1"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B050"/>
                </a:solidFill>
              </a:defRPr>
            </a:pPr>
            <a: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C0185-7FDB-0F50-1437-80D67835F145}"/>
              </a:ext>
            </a:extLst>
          </p:cNvPr>
          <p:cNvSpPr txBox="1"/>
          <p:nvPr/>
        </p:nvSpPr>
        <p:spPr>
          <a:xfrm>
            <a:off x="6400800" y="2560320"/>
            <a:ext cx="24688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Nhận</a:t>
            </a:r>
            <a:br>
              <a:rPr lang="vi-VN" dirty="0"/>
            </a:br>
            <a:r>
              <a:rPr lang="vi-VN" dirty="0"/>
              <a:t> kết quả</a:t>
            </a:r>
            <a:endParaRPr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84960-9270-3982-A699-5B9F3DAE76A0}"/>
              </a:ext>
            </a:extLst>
          </p:cNvPr>
          <p:cNvSpPr/>
          <p:nvPr/>
        </p:nvSpPr>
        <p:spPr>
          <a:xfrm>
            <a:off x="6583680" y="3474720"/>
            <a:ext cx="2103120" cy="365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D1E42A-55D2-3E5A-E513-F674FED4A383}"/>
              </a:ext>
            </a:extLst>
          </p:cNvPr>
          <p:cNvSpPr txBox="1"/>
          <p:nvPr/>
        </p:nvSpPr>
        <p:spPr>
          <a:xfrm>
            <a:off x="6452062" y="3611880"/>
            <a:ext cx="2377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nhận được:</a:t>
            </a:r>
          </a:p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-    TOP 20 gói thầu phù hợp nhất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Tổng điểm cho từng gói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Phân tích đối thủ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4870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FE85-2842-ABC5-8DB1-FD74A0AA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A7A2AB-301B-9CA9-8059-8CDA58A4B1F8}"/>
              </a:ext>
            </a:extLst>
          </p:cNvPr>
          <p:cNvSpPr/>
          <p:nvPr/>
        </p:nvSpPr>
        <p:spPr>
          <a:xfrm>
            <a:off x="279862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89A46-7BB4-DC80-3B72-54F87FFEEB9F}"/>
              </a:ext>
            </a:extLst>
          </p:cNvPr>
          <p:cNvSpPr txBox="1"/>
          <p:nvPr/>
        </p:nvSpPr>
        <p:spPr>
          <a:xfrm>
            <a:off x="371302" y="23053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dirty="0"/>
              <a:t>100% </a:t>
            </a:r>
            <a:r>
              <a:rPr lang="vi-VN" dirty="0"/>
              <a:t>TỰ ĐỘNG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5D8E4C-8DF6-E70A-8E98-B972EA5865E9}"/>
              </a:ext>
            </a:extLst>
          </p:cNvPr>
          <p:cNvSpPr/>
          <p:nvPr/>
        </p:nvSpPr>
        <p:spPr>
          <a:xfrm>
            <a:off x="645622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AB57A-5787-F3C1-4464-6A73C3453DBC}"/>
              </a:ext>
            </a:extLst>
          </p:cNvPr>
          <p:cNvSpPr txBox="1"/>
          <p:nvPr/>
        </p:nvSpPr>
        <p:spPr>
          <a:xfrm>
            <a:off x="371302" y="3585556"/>
            <a:ext cx="1920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Hệ thống tự động gợi ý không cần làm thủ công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F4D2AA-D6AA-0A9B-51B5-79C996849C8A}"/>
              </a:ext>
            </a:extLst>
          </p:cNvPr>
          <p:cNvSpPr/>
          <p:nvPr/>
        </p:nvSpPr>
        <p:spPr>
          <a:xfrm>
            <a:off x="2474421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05178-D60C-E75F-A23A-45B9F700376F}"/>
              </a:ext>
            </a:extLst>
          </p:cNvPr>
          <p:cNvSpPr txBox="1"/>
          <p:nvPr/>
        </p:nvSpPr>
        <p:spPr>
          <a:xfrm>
            <a:off x="2565862" y="2305396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XẾP HẠNG</a:t>
            </a:r>
            <a:br>
              <a:rPr lang="vi-VN" dirty="0"/>
            </a:br>
            <a:r>
              <a:rPr lang="vi-VN" dirty="0"/>
              <a:t>THÔNG MINH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6B0FA4-6F8B-96BA-635F-4465FB99001C}"/>
              </a:ext>
            </a:extLst>
          </p:cNvPr>
          <p:cNvSpPr/>
          <p:nvPr/>
        </p:nvSpPr>
        <p:spPr>
          <a:xfrm>
            <a:off x="2840181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F2926-F4CE-2EB5-F8BE-F5563A0F366E}"/>
              </a:ext>
            </a:extLst>
          </p:cNvPr>
          <p:cNvSpPr txBox="1"/>
          <p:nvPr/>
        </p:nvSpPr>
        <p:spPr>
          <a:xfrm>
            <a:off x="2565862" y="3585556"/>
            <a:ext cx="1920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Mọi gói thầu được chấm điểm và xếp hàng từ cao </a:t>
            </a:r>
            <a:r>
              <a:rPr lang="vi-VN" dirty="0">
                <a:sym typeface="Wingdings" panose="05000000000000000000" pitchFamily="2" charset="2"/>
              </a:rPr>
              <a:t> thấp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6F153D-719C-3B3E-7A3E-DCB5EA2BF173}"/>
              </a:ext>
            </a:extLst>
          </p:cNvPr>
          <p:cNvSpPr/>
          <p:nvPr/>
        </p:nvSpPr>
        <p:spPr>
          <a:xfrm>
            <a:off x="4668982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26580-ED9F-5E95-AB17-38CDA5C871B6}"/>
              </a:ext>
            </a:extLst>
          </p:cNvPr>
          <p:cNvSpPr txBox="1"/>
          <p:nvPr/>
        </p:nvSpPr>
        <p:spPr>
          <a:xfrm>
            <a:off x="4760421" y="2305396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PHÂN TÍCH</a:t>
            </a:r>
            <a:br>
              <a:rPr lang="vi-VN" dirty="0"/>
            </a:br>
            <a:r>
              <a:rPr lang="vi-VN" dirty="0"/>
              <a:t> ĐỐI THỦ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E80DA-AEFB-2D1D-8C0E-8F552B790C84}"/>
              </a:ext>
            </a:extLst>
          </p:cNvPr>
          <p:cNvSpPr/>
          <p:nvPr/>
        </p:nvSpPr>
        <p:spPr>
          <a:xfrm>
            <a:off x="5034742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0280E-3614-7434-DDA9-77A8FFA6DFAC}"/>
              </a:ext>
            </a:extLst>
          </p:cNvPr>
          <p:cNvSpPr txBox="1"/>
          <p:nvPr/>
        </p:nvSpPr>
        <p:spPr>
          <a:xfrm>
            <a:off x="4760421" y="3585556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Biết ngay ai là đối thủ, đối thủ mạnh ở đau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6299E7A-A317-A61B-B300-6E638EBE13F9}"/>
              </a:ext>
            </a:extLst>
          </p:cNvPr>
          <p:cNvSpPr/>
          <p:nvPr/>
        </p:nvSpPr>
        <p:spPr>
          <a:xfrm>
            <a:off x="6863541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981FB8-6055-A1F4-66D8-99C8E9F763ED}"/>
              </a:ext>
            </a:extLst>
          </p:cNvPr>
          <p:cNvSpPr txBox="1"/>
          <p:nvPr/>
        </p:nvSpPr>
        <p:spPr>
          <a:xfrm>
            <a:off x="6954981" y="2305396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TIẾT KIỆM </a:t>
            </a:r>
            <a:br>
              <a:rPr lang="vi-VN" dirty="0"/>
            </a:br>
            <a:r>
              <a:rPr lang="vi-VN" dirty="0"/>
              <a:t>THỜI GIAN</a:t>
            </a:r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4BF6DE-1634-3170-5FCE-2EA4EF5BB09C}"/>
              </a:ext>
            </a:extLst>
          </p:cNvPr>
          <p:cNvSpPr/>
          <p:nvPr/>
        </p:nvSpPr>
        <p:spPr>
          <a:xfrm>
            <a:off x="7229301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A9B085-6405-2F51-B479-19AD084352AC}"/>
              </a:ext>
            </a:extLst>
          </p:cNvPr>
          <p:cNvSpPr txBox="1"/>
          <p:nvPr/>
        </p:nvSpPr>
        <p:spPr>
          <a:xfrm>
            <a:off x="6954981" y="3585556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Chỉ cần 30s để có kết quả gợi ý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F36514-6227-FBC1-BF1B-297288D0C3BC}"/>
              </a:ext>
            </a:extLst>
          </p:cNvPr>
          <p:cNvSpPr txBox="1"/>
          <p:nvPr/>
        </p:nvSpPr>
        <p:spPr>
          <a:xfrm>
            <a:off x="310342" y="1074081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tx1"/>
                </a:solidFill>
              </a:rPr>
              <a:t>Hệ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thống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lang="vi-VN" sz="2000" dirty="0">
                <a:solidFill>
                  <a:schemeClr val="tx1"/>
                </a:solidFill>
              </a:rPr>
              <a:t>này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giải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quyết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vấn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đề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này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thế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nào</a:t>
            </a:r>
            <a:r>
              <a:rPr sz="20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6123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4C9B-ADBB-B0C8-A4F4-9064CA51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00D231-B377-9D00-A3AB-7173B9DDCBBA}"/>
              </a:ext>
            </a:extLst>
          </p:cNvPr>
          <p:cNvSpPr/>
          <p:nvPr/>
        </p:nvSpPr>
        <p:spPr>
          <a:xfrm>
            <a:off x="357447" y="2047702"/>
            <a:ext cx="2651760" cy="51637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E5ADC-4A43-C81F-6172-7CA557DD8E9D}"/>
              </a:ext>
            </a:extLst>
          </p:cNvPr>
          <p:cNvSpPr txBox="1"/>
          <p:nvPr/>
        </p:nvSpPr>
        <p:spPr>
          <a:xfrm>
            <a:off x="448887" y="209342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TAB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665266-60EB-B781-113C-CAD8CE400756}"/>
              </a:ext>
            </a:extLst>
          </p:cNvPr>
          <p:cNvSpPr/>
          <p:nvPr/>
        </p:nvSpPr>
        <p:spPr>
          <a:xfrm>
            <a:off x="357447" y="2687782"/>
            <a:ext cx="2651760" cy="3319549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49345-B93A-376C-D17E-2629F25CDB9E}"/>
              </a:ext>
            </a:extLst>
          </p:cNvPr>
          <p:cNvSpPr txBox="1"/>
          <p:nvPr/>
        </p:nvSpPr>
        <p:spPr>
          <a:xfrm>
            <a:off x="448887" y="2870662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Hồ sơ</a:t>
            </a:r>
            <a:br>
              <a:rPr lang="vi-VN" dirty="0"/>
            </a:br>
            <a:r>
              <a:rPr lang="vi-VN" dirty="0"/>
              <a:t>doanh nghiệp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A8AF0-BA73-7C69-9C3F-60E5BE6D61D6}"/>
              </a:ext>
            </a:extLst>
          </p:cNvPr>
          <p:cNvSpPr/>
          <p:nvPr/>
        </p:nvSpPr>
        <p:spPr>
          <a:xfrm>
            <a:off x="723207" y="3785062"/>
            <a:ext cx="192024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3191B-FC44-9929-F3ED-FE624BF3AF13}"/>
              </a:ext>
            </a:extLst>
          </p:cNvPr>
          <p:cNvSpPr txBox="1"/>
          <p:nvPr/>
        </p:nvSpPr>
        <p:spPr>
          <a:xfrm>
            <a:off x="448887" y="3967942"/>
            <a:ext cx="24688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Xem thông tin công ty</a:t>
            </a:r>
            <a:br>
              <a:rPr lang="vi-VN" dirty="0"/>
            </a:br>
            <a:r>
              <a:rPr lang="vi-VN" dirty="0"/>
              <a:t> (Tổng số, Tỷ lệ thắng thầu, Lịch sử gói thầu đã tham gia,...)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E2EB75-C7EB-B8BE-D6D5-B1C37FC37C47}"/>
              </a:ext>
            </a:extLst>
          </p:cNvPr>
          <p:cNvSpPr/>
          <p:nvPr/>
        </p:nvSpPr>
        <p:spPr>
          <a:xfrm>
            <a:off x="3283527" y="2047702"/>
            <a:ext cx="2651760" cy="51637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57F47-26F4-9B1E-FA11-B83D881E7A54}"/>
              </a:ext>
            </a:extLst>
          </p:cNvPr>
          <p:cNvSpPr txBox="1"/>
          <p:nvPr/>
        </p:nvSpPr>
        <p:spPr>
          <a:xfrm>
            <a:off x="3374967" y="209342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TAB 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1AC328-8C50-8D2D-9B43-28F061F39E1F}"/>
              </a:ext>
            </a:extLst>
          </p:cNvPr>
          <p:cNvSpPr/>
          <p:nvPr/>
        </p:nvSpPr>
        <p:spPr>
          <a:xfrm>
            <a:off x="3283527" y="2687782"/>
            <a:ext cx="2651760" cy="3319549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9B79B9-7F86-E9EA-6443-3A29603C8195}"/>
              </a:ext>
            </a:extLst>
          </p:cNvPr>
          <p:cNvSpPr txBox="1"/>
          <p:nvPr/>
        </p:nvSpPr>
        <p:spPr>
          <a:xfrm>
            <a:off x="3374967" y="2870662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Gợi ý</a:t>
            </a:r>
            <a:br>
              <a:rPr lang="vi-VN" dirty="0"/>
            </a:br>
            <a:r>
              <a:rPr lang="vi-VN" dirty="0"/>
              <a:t> gói thầu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6E0AA3-76F5-180C-838F-9619ED9FFE52}"/>
              </a:ext>
            </a:extLst>
          </p:cNvPr>
          <p:cNvSpPr/>
          <p:nvPr/>
        </p:nvSpPr>
        <p:spPr>
          <a:xfrm>
            <a:off x="3649287" y="3785062"/>
            <a:ext cx="1920240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99BD2A-A948-766F-8041-2ACB8B779DF6}"/>
              </a:ext>
            </a:extLst>
          </p:cNvPr>
          <p:cNvSpPr txBox="1"/>
          <p:nvPr/>
        </p:nvSpPr>
        <p:spPr>
          <a:xfrm>
            <a:off x="3374967" y="3967942"/>
            <a:ext cx="2468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Nhập thông tin </a:t>
            </a:r>
            <a:r>
              <a:rPr lang="vi-VN" dirty="0">
                <a:sym typeface="Wingdings" panose="05000000000000000000" pitchFamily="2" charset="2"/>
              </a:rPr>
              <a:t> Nhận kết quả 20 gói phù hợp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A4CEDD5-C4E0-00C6-7307-BE68CEA8C9E2}"/>
              </a:ext>
            </a:extLst>
          </p:cNvPr>
          <p:cNvSpPr/>
          <p:nvPr/>
        </p:nvSpPr>
        <p:spPr>
          <a:xfrm>
            <a:off x="6209607" y="2047702"/>
            <a:ext cx="2651760" cy="516374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90CBF-4EAF-F000-0E85-CED366106FF3}"/>
              </a:ext>
            </a:extLst>
          </p:cNvPr>
          <p:cNvSpPr txBox="1"/>
          <p:nvPr/>
        </p:nvSpPr>
        <p:spPr>
          <a:xfrm>
            <a:off x="6301047" y="209342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TAB 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94B1BF-38A3-251B-1241-5AB90245A5B5}"/>
              </a:ext>
            </a:extLst>
          </p:cNvPr>
          <p:cNvSpPr/>
          <p:nvPr/>
        </p:nvSpPr>
        <p:spPr>
          <a:xfrm>
            <a:off x="6209607" y="2687782"/>
            <a:ext cx="2651760" cy="3319549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AA352A-4741-FBE5-5382-54734185D961}"/>
              </a:ext>
            </a:extLst>
          </p:cNvPr>
          <p:cNvSpPr txBox="1"/>
          <p:nvPr/>
        </p:nvSpPr>
        <p:spPr>
          <a:xfrm>
            <a:off x="6301047" y="2870662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Phân tích </a:t>
            </a:r>
            <a:br>
              <a:rPr lang="vi-VN" dirty="0"/>
            </a:br>
            <a:r>
              <a:rPr lang="vi-VN" dirty="0"/>
              <a:t>đối thủ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9B979F-1B3A-B9B2-45F0-AA7252B4B2B0}"/>
              </a:ext>
            </a:extLst>
          </p:cNvPr>
          <p:cNvSpPr/>
          <p:nvPr/>
        </p:nvSpPr>
        <p:spPr>
          <a:xfrm>
            <a:off x="6575367" y="3785062"/>
            <a:ext cx="1920240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E26C0-0B69-D49C-56B3-0CB45A2D9903}"/>
              </a:ext>
            </a:extLst>
          </p:cNvPr>
          <p:cNvSpPr txBox="1"/>
          <p:nvPr/>
        </p:nvSpPr>
        <p:spPr>
          <a:xfrm>
            <a:off x="6306589" y="3967942"/>
            <a:ext cx="24688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Chọn 1 gói </a:t>
            </a:r>
            <a:br>
              <a:rPr lang="vi-VN" dirty="0"/>
            </a:br>
            <a:r>
              <a:rPr lang="vi-VN" dirty="0">
                <a:sym typeface="Wingdings" panose="05000000000000000000" pitchFamily="2" charset="2"/>
              </a:rPr>
              <a:t> Xem ai là đối thủ nguy hiểm nhất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951C8-A390-610D-35E1-6B4BB6027F0F}"/>
              </a:ext>
            </a:extLst>
          </p:cNvPr>
          <p:cNvSpPr txBox="1"/>
          <p:nvPr/>
        </p:nvSpPr>
        <p:spPr>
          <a:xfrm>
            <a:off x="448887" y="1235157"/>
            <a:ext cx="7783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lang="vi-VN" sz="2000" dirty="0">
                <a:solidFill>
                  <a:schemeClr val="tx1"/>
                </a:solidFill>
              </a:rPr>
              <a:t>Giao diện hệ thống — Chỉ 3 Tab đơn giản</a:t>
            </a:r>
          </a:p>
        </p:txBody>
      </p:sp>
    </p:spTree>
    <p:extLst>
      <p:ext uri="{BB962C8B-B14F-4D97-AF65-F5344CB8AC3E}">
        <p14:creationId xmlns:p14="http://schemas.microsoft.com/office/powerpoint/2010/main" val="520461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98D4-8E55-40E0-A230-6193DEF8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FB06BF-68A4-E704-EABD-09295BB2E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270427"/>
              </p:ext>
            </p:extLst>
          </p:nvPr>
        </p:nvGraphicFramePr>
        <p:xfrm>
          <a:off x="457200" y="1879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1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3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Tỉ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trọng</a:t>
                      </a:r>
                      <a:endParaRPr dirty="0"/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Lexical Score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Các từ trong mô tả gói thầu có giống ngành nghề công ty?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Historical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đã từng thắng/tham gia lĩnh vực tương tự?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Price Fit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Giá gói thầu có nằm trong khả năng tài chính?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Recency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Gói thầu có sắp hết hạn nộp không?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Semantic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0%*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Ý </a:t>
                      </a:r>
                      <a:r>
                        <a:rPr dirty="0" err="1"/>
                        <a:t>nghĩa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tính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chất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gói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thầu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sát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với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công</a:t>
                      </a:r>
                      <a:r>
                        <a:rPr dirty="0"/>
                        <a:t> ty?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9A9455-A827-1DBA-186D-2F0BB371F7F9}"/>
              </a:ext>
            </a:extLst>
          </p:cNvPr>
          <p:cNvSpPr txBox="1"/>
          <p:nvPr/>
        </p:nvSpPr>
        <p:spPr>
          <a:xfrm>
            <a:off x="457200" y="535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* Semantic hiện đang TẮT trong cài đặt mặc định</a:t>
            </a:r>
          </a:p>
        </p:txBody>
      </p:sp>
    </p:spTree>
    <p:extLst>
      <p:ext uri="{BB962C8B-B14F-4D97-AF65-F5344CB8AC3E}">
        <p14:creationId xmlns:p14="http://schemas.microsoft.com/office/powerpoint/2010/main" val="67071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C0E9-530B-75EB-D84D-442B8F48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DEF5-C61A-EFE0-3F84-48C403DE6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D4A95F-5C39-2655-1177-2DD322AF7DC1}"/>
              </a:ext>
            </a:extLst>
          </p:cNvPr>
          <p:cNvSpPr/>
          <p:nvPr/>
        </p:nvSpPr>
        <p:spPr>
          <a:xfrm>
            <a:off x="297962" y="1568336"/>
            <a:ext cx="1457858" cy="416468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1A091-ECFE-0171-8EE6-166B52CA5634}"/>
              </a:ext>
            </a:extLst>
          </p:cNvPr>
          <p:cNvSpPr txBox="1"/>
          <p:nvPr/>
        </p:nvSpPr>
        <p:spPr>
          <a:xfrm>
            <a:off x="304115" y="161959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4AD84E-6EA0-33C7-64BC-41F97FDA8DD1}"/>
              </a:ext>
            </a:extLst>
          </p:cNvPr>
          <p:cNvSpPr/>
          <p:nvPr/>
        </p:nvSpPr>
        <p:spPr>
          <a:xfrm>
            <a:off x="1852442" y="1568336"/>
            <a:ext cx="7015942" cy="400110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FF099-205F-BDEA-BB19-24053069984A}"/>
              </a:ext>
            </a:extLst>
          </p:cNvPr>
          <p:cNvSpPr txBox="1"/>
          <p:nvPr/>
        </p:nvSpPr>
        <p:spPr>
          <a:xfrm>
            <a:off x="2035322" y="1619597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TF-IDF (Term Frequency - Inverse Document Frequency)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0E3DB3-F5F2-590D-E383-F3E9ACEC45E9}"/>
              </a:ext>
            </a:extLst>
          </p:cNvPr>
          <p:cNvSpPr/>
          <p:nvPr/>
        </p:nvSpPr>
        <p:spPr>
          <a:xfrm>
            <a:off x="297962" y="2240379"/>
            <a:ext cx="1457858" cy="60381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7E529-C3E1-A419-F7CE-335BB2DB181A}"/>
              </a:ext>
            </a:extLst>
          </p:cNvPr>
          <p:cNvSpPr txBox="1"/>
          <p:nvPr/>
        </p:nvSpPr>
        <p:spPr>
          <a:xfrm>
            <a:off x="342264" y="2282875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7A5263-4FBB-8483-C1A1-CFBA3EAB0164}"/>
              </a:ext>
            </a:extLst>
          </p:cNvPr>
          <p:cNvSpPr/>
          <p:nvPr/>
        </p:nvSpPr>
        <p:spPr>
          <a:xfrm>
            <a:off x="1829822" y="2246720"/>
            <a:ext cx="7015942" cy="597474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C074DC-1894-3989-E5E7-981D0085ACA0}"/>
              </a:ext>
            </a:extLst>
          </p:cNvPr>
          <p:cNvSpPr txBox="1"/>
          <p:nvPr/>
        </p:nvSpPr>
        <p:spPr>
          <a:xfrm>
            <a:off x="1978571" y="236304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Các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tả</a:t>
            </a:r>
            <a:r>
              <a:rPr lang="en-US" sz="1600" dirty="0"/>
              <a:t> </a:t>
            </a:r>
            <a:r>
              <a:rPr lang="en-US" sz="1600" dirty="0" err="1"/>
              <a:t>gói</a:t>
            </a:r>
            <a:r>
              <a:rPr lang="en-US" sz="1600" dirty="0"/>
              <a:t> </a:t>
            </a:r>
            <a:r>
              <a:rPr lang="en-US" sz="1600" dirty="0" err="1"/>
              <a:t>thầu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giống</a:t>
            </a:r>
            <a:r>
              <a:rPr lang="en-US" sz="1600" dirty="0"/>
              <a:t> </a:t>
            </a:r>
            <a:r>
              <a:rPr lang="en-US" sz="1600" dirty="0" err="1"/>
              <a:t>lĩnh</a:t>
            </a:r>
            <a:r>
              <a:rPr lang="en-US" sz="1600" dirty="0"/>
              <a:t> </a:t>
            </a:r>
            <a:r>
              <a:rPr lang="en-US" sz="1600" dirty="0" err="1"/>
              <a:t>vực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ty </a:t>
            </a:r>
            <a:r>
              <a:rPr lang="en-US" sz="1600" dirty="0" err="1"/>
              <a:t>không</a:t>
            </a:r>
            <a:r>
              <a:rPr lang="en-US" sz="1600" dirty="0"/>
              <a:t>?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F4F255-752D-68F4-A7EA-207E0C631A77}"/>
              </a:ext>
            </a:extLst>
          </p:cNvPr>
          <p:cNvSpPr/>
          <p:nvPr/>
        </p:nvSpPr>
        <p:spPr>
          <a:xfrm>
            <a:off x="296706" y="3284025"/>
            <a:ext cx="1457858" cy="111434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683FE-7889-7D73-B991-6256993792CE}"/>
              </a:ext>
            </a:extLst>
          </p:cNvPr>
          <p:cNvSpPr txBox="1"/>
          <p:nvPr/>
        </p:nvSpPr>
        <p:spPr>
          <a:xfrm>
            <a:off x="304115" y="3527250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ABB46D-462B-FE20-AF3D-868595AD3BA7}"/>
              </a:ext>
            </a:extLst>
          </p:cNvPr>
          <p:cNvSpPr/>
          <p:nvPr/>
        </p:nvSpPr>
        <p:spPr>
          <a:xfrm>
            <a:off x="1852442" y="3303323"/>
            <a:ext cx="7015942" cy="1114349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9E6CD-2DAF-2894-1554-9FDFE15B7841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1: LEXICAL SCORE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Từ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vựng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54%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vi-VN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3F2EE-0B3B-5DE1-D5AB-64E09EC53FB0}"/>
              </a:ext>
            </a:extLst>
          </p:cNvPr>
          <p:cNvSpPr txBox="1"/>
          <p:nvPr/>
        </p:nvSpPr>
        <p:spPr>
          <a:xfrm>
            <a:off x="1670857" y="4657446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2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2F8DDF01-0B9F-5810-4EBA-BF51F5155516}"/>
              </a:ext>
            </a:extLst>
          </p:cNvPr>
          <p:cNvSpPr/>
          <p:nvPr/>
        </p:nvSpPr>
        <p:spPr>
          <a:xfrm>
            <a:off x="285644" y="4787830"/>
            <a:ext cx="1457858" cy="101267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63FC50-D560-AC27-E56D-864B2E4A69C3}"/>
              </a:ext>
            </a:extLst>
          </p:cNvPr>
          <p:cNvSpPr txBox="1"/>
          <p:nvPr/>
        </p:nvSpPr>
        <p:spPr>
          <a:xfrm>
            <a:off x="304115" y="4989392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6DC420EA-15AE-C08F-8EF3-627D74833896}"/>
              </a:ext>
            </a:extLst>
          </p:cNvPr>
          <p:cNvSpPr/>
          <p:nvPr/>
        </p:nvSpPr>
        <p:spPr>
          <a:xfrm>
            <a:off x="1869501" y="4787831"/>
            <a:ext cx="7015942" cy="1012677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3DC962-3A92-DF22-DF55-D0CAC826CACC}"/>
              </a:ext>
            </a:extLst>
          </p:cNvPr>
          <p:cNvSpPr txBox="1"/>
          <p:nvPr/>
        </p:nvSpPr>
        <p:spPr>
          <a:xfrm>
            <a:off x="1978568" y="4866443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Công ty: 'Chuyên </a:t>
            </a:r>
            <a:r>
              <a:rPr lang="en-US" sz="1600" dirty="0" err="1"/>
              <a:t>xây</a:t>
            </a:r>
            <a:r>
              <a:rPr lang="en-US" sz="1600" dirty="0"/>
              <a:t> </a:t>
            </a:r>
            <a:r>
              <a:rPr lang="en-US" sz="1600" dirty="0" err="1"/>
              <a:t>lắp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giao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'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AB51C1-C054-D06E-8A06-76A0C3643D49}"/>
              </a:ext>
            </a:extLst>
          </p:cNvPr>
          <p:cNvSpPr txBox="1"/>
          <p:nvPr/>
        </p:nvSpPr>
        <p:spPr>
          <a:xfrm>
            <a:off x="1921822" y="3352442"/>
            <a:ext cx="6651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1: Mỗi gói thầu được chuyển thành một vector số (hàng nghìn chiều)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2: Thông tin công ty cũng được chuyển thành vector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GIỐNG NHAU (cosine similarity) </a:t>
            </a:r>
            <a:r>
              <a:rPr lang="en-US" dirty="0" err="1"/>
              <a:t>giữa</a:t>
            </a:r>
            <a:r>
              <a:rPr lang="en-US" dirty="0"/>
              <a:t> 2 vector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4: Giá trị từ 0 (không liên quan) → 1 (giống nhau hoàn toàn) 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F9C7CE-4E81-0D53-E183-00600E10C370}"/>
              </a:ext>
            </a:extLst>
          </p:cNvPr>
          <p:cNvSpPr txBox="1"/>
          <p:nvPr/>
        </p:nvSpPr>
        <p:spPr>
          <a:xfrm>
            <a:off x="1921821" y="5171136"/>
            <a:ext cx="66514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Gói A: 'Thi công xây lắp cầu đường'          → Similarity = 0.92 </a:t>
            </a:r>
            <a:r>
              <a:rPr lang="en-US" dirty="0"/>
              <a:t>✅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B: 'Cung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'             → Similarity = 0.15 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91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B569-281C-1558-6414-3FB1732C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3702-6297-F3A2-280B-BBC7A835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AAA830-B13C-E4B7-55D7-1903750DD722}"/>
              </a:ext>
            </a:extLst>
          </p:cNvPr>
          <p:cNvSpPr/>
          <p:nvPr/>
        </p:nvSpPr>
        <p:spPr>
          <a:xfrm>
            <a:off x="297962" y="1568335"/>
            <a:ext cx="1457858" cy="7078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1B8D4-6A4C-A8BF-CC6A-6C807EC20EB9}"/>
              </a:ext>
            </a:extLst>
          </p:cNvPr>
          <p:cNvSpPr txBox="1"/>
          <p:nvPr/>
        </p:nvSpPr>
        <p:spPr>
          <a:xfrm>
            <a:off x="369133" y="1662659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BC128F-0C38-EBE4-87AF-7895B879DEEB}"/>
              </a:ext>
            </a:extLst>
          </p:cNvPr>
          <p:cNvSpPr/>
          <p:nvPr/>
        </p:nvSpPr>
        <p:spPr>
          <a:xfrm>
            <a:off x="1852442" y="1568336"/>
            <a:ext cx="7015942" cy="715836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CAD57-6B58-59FD-B4B8-43FFB6135A40}"/>
              </a:ext>
            </a:extLst>
          </p:cNvPr>
          <p:cNvSpPr txBox="1"/>
          <p:nvPr/>
        </p:nvSpPr>
        <p:spPr>
          <a:xfrm>
            <a:off x="2035322" y="1697845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sz="1600" dirty="0"/>
              <a:t>Công ty đã từng tham gia/thắng lĩnh vực này chưa?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A0107F-E836-08D2-233E-ACEC050321CC}"/>
              </a:ext>
            </a:extLst>
          </p:cNvPr>
          <p:cNvSpPr/>
          <p:nvPr/>
        </p:nvSpPr>
        <p:spPr>
          <a:xfrm>
            <a:off x="297961" y="2451387"/>
            <a:ext cx="1483472" cy="150836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0D688-FFA5-8B17-63D2-4EFD5FD0F78D}"/>
              </a:ext>
            </a:extLst>
          </p:cNvPr>
          <p:cNvSpPr txBox="1"/>
          <p:nvPr/>
        </p:nvSpPr>
        <p:spPr>
          <a:xfrm>
            <a:off x="323575" y="2905780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/>
              <a:t>Công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A1BD7B-FE91-8B1D-18BE-7FABF6AC65A5}"/>
              </a:ext>
            </a:extLst>
          </p:cNvPr>
          <p:cNvSpPr/>
          <p:nvPr/>
        </p:nvSpPr>
        <p:spPr>
          <a:xfrm>
            <a:off x="1921822" y="2451387"/>
            <a:ext cx="7015942" cy="150836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E2BCC-3A84-D4A5-5579-4530F7E542CC}"/>
              </a:ext>
            </a:extLst>
          </p:cNvPr>
          <p:cNvSpPr txBox="1"/>
          <p:nvPr/>
        </p:nvSpPr>
        <p:spPr>
          <a:xfrm>
            <a:off x="2104054" y="253523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 HISTORICAL_FIT =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lĩnh</a:t>
            </a:r>
            <a:r>
              <a:rPr lang="en-US" sz="1600" dirty="0"/>
              <a:t> </a:t>
            </a:r>
            <a:r>
              <a:rPr lang="en-US" sz="1600" dirty="0" err="1"/>
              <a:t>vực</a:t>
            </a:r>
            <a:r>
              <a:rPr lang="en-US" sz="1600" dirty="0"/>
              <a:t> +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địa</a:t>
            </a:r>
            <a:r>
              <a:rPr lang="en-US" sz="1600" dirty="0"/>
              <a:t> </a:t>
            </a:r>
            <a:r>
              <a:rPr lang="en-US" sz="1600" dirty="0" err="1"/>
              <a:t>bàn</a:t>
            </a:r>
            <a:r>
              <a:rPr lang="en-US" sz="1600" dirty="0"/>
              <a:t> + </a:t>
            </a:r>
            <a:r>
              <a:rPr lang="en-US" sz="1600" dirty="0" err="1"/>
              <a:t>Điểm</a:t>
            </a:r>
            <a:r>
              <a:rPr lang="en-US" sz="1600" dirty="0"/>
              <a:t> CĐT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0CCB80-0F99-7A28-CFF8-C096921F1BA3}"/>
              </a:ext>
            </a:extLst>
          </p:cNvPr>
          <p:cNvSpPr/>
          <p:nvPr/>
        </p:nvSpPr>
        <p:spPr>
          <a:xfrm>
            <a:off x="297961" y="4428644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F1B9B-D862-347E-0FF6-34FED0758DF3}"/>
              </a:ext>
            </a:extLst>
          </p:cNvPr>
          <p:cNvSpPr txBox="1"/>
          <p:nvPr/>
        </p:nvSpPr>
        <p:spPr>
          <a:xfrm>
            <a:off x="297961" y="490743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Ví dụ 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136314-1765-9F25-20A9-AFF8554C6609}"/>
              </a:ext>
            </a:extLst>
          </p:cNvPr>
          <p:cNvSpPr/>
          <p:nvPr/>
        </p:nvSpPr>
        <p:spPr>
          <a:xfrm>
            <a:off x="1921821" y="4470198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8258B-D6BD-C2E1-ABFB-937F91CDCA50}"/>
              </a:ext>
            </a:extLst>
          </p:cNvPr>
          <p:cNvSpPr txBox="1"/>
          <p:nvPr/>
        </p:nvSpPr>
        <p:spPr>
          <a:xfrm>
            <a:off x="2104053" y="4721572"/>
            <a:ext cx="6651477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Công ty ABC </a:t>
            </a:r>
            <a:r>
              <a:rPr lang="en-US" sz="1200" dirty="0" err="1"/>
              <a:t>có</a:t>
            </a:r>
            <a:r>
              <a:rPr lang="en-US" sz="1200" dirty="0"/>
              <a:t>: </a:t>
            </a:r>
            <a:r>
              <a:rPr lang="en-US" sz="1200" dirty="0" err="1"/>
              <a:t>strong_fields</a:t>
            </a:r>
            <a:r>
              <a:rPr lang="en-US" sz="1200" dirty="0"/>
              <a:t>=['</a:t>
            </a:r>
            <a:r>
              <a:rPr lang="en-US" sz="1200" dirty="0" err="1"/>
              <a:t>Xây</a:t>
            </a:r>
            <a:r>
              <a:rPr lang="en-US" sz="1200" dirty="0"/>
              <a:t> </a:t>
            </a:r>
            <a:r>
              <a:rPr lang="en-US" sz="1200" dirty="0" err="1"/>
              <a:t>lắp</a:t>
            </a:r>
            <a:r>
              <a:rPr lang="en-US" sz="1200" dirty="0"/>
              <a:t>'], </a:t>
            </a:r>
            <a:r>
              <a:rPr lang="en-US" sz="1200" dirty="0" err="1"/>
              <a:t>strong_provinces</a:t>
            </a:r>
            <a:r>
              <a:rPr lang="en-US" sz="1200" dirty="0"/>
              <a:t>=['Hà </a:t>
            </a:r>
            <a:r>
              <a:rPr lang="en-US" sz="1200" dirty="0" err="1"/>
              <a:t>Nội</a:t>
            </a:r>
            <a:r>
              <a:rPr lang="en-US" sz="1200" dirty="0"/>
              <a:t>’]</a:t>
            </a:r>
            <a:endParaRPr lang="vi-VN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</a:t>
            </a:r>
            <a:r>
              <a:rPr lang="en-US" sz="1200" dirty="0" err="1"/>
              <a:t>Gói</a:t>
            </a:r>
            <a:r>
              <a:rPr lang="en-US" sz="1200" dirty="0"/>
              <a:t> </a:t>
            </a:r>
            <a:r>
              <a:rPr lang="en-US" sz="1200" dirty="0" err="1"/>
              <a:t>thầu</a:t>
            </a:r>
            <a:r>
              <a:rPr lang="en-US" sz="1200" dirty="0"/>
              <a:t> X: </a:t>
            </a:r>
            <a:r>
              <a:rPr lang="en-US" sz="1200" dirty="0" err="1"/>
              <a:t>Lĩnh</a:t>
            </a:r>
            <a:r>
              <a:rPr lang="en-US" sz="1200" dirty="0"/>
              <a:t> </a:t>
            </a:r>
            <a:r>
              <a:rPr lang="en-US" sz="1200" dirty="0" err="1"/>
              <a:t>vực</a:t>
            </a:r>
            <a:r>
              <a:rPr lang="en-US" sz="1200" dirty="0"/>
              <a:t> '</a:t>
            </a:r>
            <a:r>
              <a:rPr lang="en-US" sz="1200" dirty="0" err="1"/>
              <a:t>Xây</a:t>
            </a:r>
            <a:r>
              <a:rPr lang="en-US" sz="1200" dirty="0"/>
              <a:t> </a:t>
            </a:r>
            <a:r>
              <a:rPr lang="en-US" sz="1200" dirty="0" err="1"/>
              <a:t>lắp</a:t>
            </a:r>
            <a:r>
              <a:rPr lang="en-US" sz="1200" dirty="0"/>
              <a:t>' + </a:t>
            </a:r>
            <a:r>
              <a:rPr lang="en-US" sz="1200" dirty="0" err="1"/>
              <a:t>Tỉnh</a:t>
            </a:r>
            <a:r>
              <a:rPr lang="en-US" sz="1200" dirty="0"/>
              <a:t> 'Hà </a:t>
            </a:r>
            <a:r>
              <a:rPr lang="en-US" sz="1200" dirty="0" err="1"/>
              <a:t>Nội</a:t>
            </a:r>
            <a:r>
              <a:rPr lang="en-US" sz="1200" dirty="0"/>
              <a:t>’</a:t>
            </a:r>
            <a:endParaRPr lang="vi-VN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→ HISTORICAL_FIT = 50 + 30 + 0 = 80 </a:t>
            </a:r>
            <a:r>
              <a:rPr lang="en-US" sz="1200" dirty="0" err="1"/>
              <a:t>điểm</a:t>
            </a:r>
            <a:endParaRPr lang="en-US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2985D-6877-8E96-45D8-2BA6F76B97C8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2: HISTORICAL FIT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Lịch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23%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4D9ED-F1A1-66B2-AFE7-064D21C50644}"/>
              </a:ext>
            </a:extLst>
          </p:cNvPr>
          <p:cNvSpPr txBox="1"/>
          <p:nvPr/>
        </p:nvSpPr>
        <p:spPr>
          <a:xfrm>
            <a:off x="2104053" y="2898433"/>
            <a:ext cx="66514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200" dirty="0"/>
              <a:t> ├── ĐÚNG lĩnh vực mạnh    → +50 điểm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├── ĐÚNG </a:t>
            </a:r>
            <a:r>
              <a:rPr lang="en-US" sz="1200" dirty="0" err="1"/>
              <a:t>địa</a:t>
            </a:r>
            <a:r>
              <a:rPr lang="en-US" sz="1200" dirty="0"/>
              <a:t> </a:t>
            </a:r>
            <a:r>
              <a:rPr lang="en-US" sz="1200" dirty="0" err="1"/>
              <a:t>bàn</a:t>
            </a:r>
            <a:r>
              <a:rPr lang="en-US" sz="1200" dirty="0"/>
              <a:t> </a:t>
            </a:r>
            <a:r>
              <a:rPr lang="en-US" sz="1200" dirty="0" err="1"/>
              <a:t>mạnh</a:t>
            </a:r>
            <a:r>
              <a:rPr lang="en-US" sz="1200" dirty="0"/>
              <a:t>     → +30 </a:t>
            </a:r>
            <a:r>
              <a:rPr lang="en-US" sz="1200" dirty="0" err="1"/>
              <a:t>điểm</a:t>
            </a:r>
            <a:endParaRPr lang="vi-VN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200" dirty="0"/>
              <a:t> └── ĐÚNG chủ đầu tư quen  → +20 điểm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</a:t>
            </a:r>
            <a:r>
              <a:rPr lang="vi-VN" sz="1200" dirty="0"/>
              <a:t>  </a:t>
            </a:r>
            <a:r>
              <a:rPr lang="en-US" sz="1200" dirty="0"/>
              <a:t>→ </a:t>
            </a:r>
            <a:r>
              <a:rPr lang="en-US" sz="1200" dirty="0" err="1"/>
              <a:t>Tổng</a:t>
            </a:r>
            <a:r>
              <a:rPr lang="en-US" sz="1200" dirty="0"/>
              <a:t> </a:t>
            </a:r>
            <a:r>
              <a:rPr lang="en-US" sz="1200" dirty="0" err="1"/>
              <a:t>tối</a:t>
            </a:r>
            <a:r>
              <a:rPr lang="en-US" sz="1200" dirty="0"/>
              <a:t> </a:t>
            </a:r>
            <a:r>
              <a:rPr lang="en-US" sz="1200" dirty="0" err="1"/>
              <a:t>đa</a:t>
            </a:r>
            <a:r>
              <a:rPr lang="en-US" sz="1200" dirty="0"/>
              <a:t>: 100 </a:t>
            </a:r>
            <a:r>
              <a:rPr lang="en-US" sz="1200" dirty="0" err="1"/>
              <a:t>điểm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9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0D31-3EDF-C31C-BA0A-BAEB2ED8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6DEE-4C3E-1437-4379-191F0BD2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9A19A9-22F2-1246-D51C-009148FEC224}"/>
              </a:ext>
            </a:extLst>
          </p:cNvPr>
          <p:cNvSpPr/>
          <p:nvPr/>
        </p:nvSpPr>
        <p:spPr>
          <a:xfrm>
            <a:off x="297962" y="1568335"/>
            <a:ext cx="1457858" cy="7078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2E677-7BE2-C162-3655-3ED1742172CD}"/>
              </a:ext>
            </a:extLst>
          </p:cNvPr>
          <p:cNvSpPr txBox="1"/>
          <p:nvPr/>
        </p:nvSpPr>
        <p:spPr>
          <a:xfrm>
            <a:off x="369133" y="1662659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A1022B-249D-9903-D657-68145A91F315}"/>
              </a:ext>
            </a:extLst>
          </p:cNvPr>
          <p:cNvSpPr/>
          <p:nvPr/>
        </p:nvSpPr>
        <p:spPr>
          <a:xfrm>
            <a:off x="1852442" y="1568336"/>
            <a:ext cx="7015942" cy="715836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49825-1CD5-C34F-A6A8-708E4357B7DA}"/>
              </a:ext>
            </a:extLst>
          </p:cNvPr>
          <p:cNvSpPr txBox="1"/>
          <p:nvPr/>
        </p:nvSpPr>
        <p:spPr>
          <a:xfrm>
            <a:off x="2035322" y="1697845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không</a:t>
            </a:r>
            <a:r>
              <a:rPr lang="en-US" dirty="0"/>
              <a:t>?"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A785AB-3571-E21F-4C8C-5192706841A6}"/>
              </a:ext>
            </a:extLst>
          </p:cNvPr>
          <p:cNvSpPr/>
          <p:nvPr/>
        </p:nvSpPr>
        <p:spPr>
          <a:xfrm>
            <a:off x="297961" y="2451387"/>
            <a:ext cx="1483472" cy="150836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330D6-999A-9426-08FA-5309021C7653}"/>
              </a:ext>
            </a:extLst>
          </p:cNvPr>
          <p:cNvSpPr txBox="1"/>
          <p:nvPr/>
        </p:nvSpPr>
        <p:spPr>
          <a:xfrm>
            <a:off x="323575" y="2905780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/>
              <a:t>Công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BE6644-ED55-202C-3D5F-B5D5ECDDF9D7}"/>
              </a:ext>
            </a:extLst>
          </p:cNvPr>
          <p:cNvSpPr/>
          <p:nvPr/>
        </p:nvSpPr>
        <p:spPr>
          <a:xfrm>
            <a:off x="1921822" y="2451387"/>
            <a:ext cx="7015942" cy="150836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9374CD-F4E9-C373-11C1-73DD272E3539}"/>
              </a:ext>
            </a:extLst>
          </p:cNvPr>
          <p:cNvSpPr/>
          <p:nvPr/>
        </p:nvSpPr>
        <p:spPr>
          <a:xfrm>
            <a:off x="297961" y="4428644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2A8009-EF49-6792-DAD2-10E8C4E1BEAA}"/>
              </a:ext>
            </a:extLst>
          </p:cNvPr>
          <p:cNvSpPr txBox="1"/>
          <p:nvPr/>
        </p:nvSpPr>
        <p:spPr>
          <a:xfrm>
            <a:off x="297961" y="490743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Ví dụ 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C6F8F5-19D4-A5F4-FE87-9C25BCE44ECE}"/>
              </a:ext>
            </a:extLst>
          </p:cNvPr>
          <p:cNvSpPr/>
          <p:nvPr/>
        </p:nvSpPr>
        <p:spPr>
          <a:xfrm>
            <a:off x="1921821" y="4470198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7DB36-2ECF-5C74-B32B-196A8BE58729}"/>
              </a:ext>
            </a:extLst>
          </p:cNvPr>
          <p:cNvSpPr txBox="1"/>
          <p:nvPr/>
        </p:nvSpPr>
        <p:spPr>
          <a:xfrm>
            <a:off x="2104053" y="4721572"/>
            <a:ext cx="6651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Công ty ABC: </a:t>
            </a:r>
            <a:r>
              <a:rPr lang="en-US" dirty="0" err="1"/>
              <a:t>price_low</a:t>
            </a:r>
            <a:r>
              <a:rPr lang="en-US" dirty="0"/>
              <a:t> = 5 </a:t>
            </a:r>
            <a:r>
              <a:rPr lang="en-US" dirty="0" err="1"/>
              <a:t>tỷ</a:t>
            </a:r>
            <a:r>
              <a:rPr lang="en-US" dirty="0"/>
              <a:t>, </a:t>
            </a:r>
            <a:r>
              <a:rPr lang="en-US" dirty="0" err="1"/>
              <a:t>price_high</a:t>
            </a:r>
            <a:r>
              <a:rPr lang="en-US" dirty="0"/>
              <a:t> = 50 </a:t>
            </a:r>
            <a:r>
              <a:rPr lang="en-US" dirty="0" err="1"/>
              <a:t>tỷ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  </a:t>
            </a:r>
            <a:r>
              <a:rPr lang="en-US" dirty="0"/>
              <a:t>•    </a:t>
            </a:r>
            <a:r>
              <a:rPr lang="en-US" dirty="0" err="1"/>
              <a:t>Gói</a:t>
            </a:r>
            <a:r>
              <a:rPr lang="en-US" dirty="0"/>
              <a:t> 1: </a:t>
            </a:r>
            <a:r>
              <a:rPr lang="en-US" dirty="0" err="1"/>
              <a:t>Giá</a:t>
            </a:r>
            <a:r>
              <a:rPr lang="en-US" dirty="0"/>
              <a:t> 15 </a:t>
            </a:r>
            <a:r>
              <a:rPr lang="en-US" dirty="0" err="1"/>
              <a:t>tỷ</a:t>
            </a:r>
            <a:r>
              <a:rPr lang="en-US" dirty="0"/>
              <a:t>  →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→ 100 </a:t>
            </a:r>
            <a:r>
              <a:rPr lang="en-US" dirty="0" err="1"/>
              <a:t>điểm</a:t>
            </a:r>
            <a:r>
              <a:rPr lang="en-US" dirty="0"/>
              <a:t> ✅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  •    Gói 2: Giá 3 tỷ   → Thấp hơn 40%     → 60 điểm </a:t>
            </a:r>
            <a:r>
              <a:rPr lang="en-US" dirty="0"/>
              <a:t>🟡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  •    Gói 3: Giá 100 tỷ → Vượt ngân sách   → 0 điểm </a:t>
            </a:r>
            <a:r>
              <a:rPr lang="en-US" dirty="0"/>
              <a:t>❌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20317-BBA5-BB01-1438-474280115074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3: PRICE FIT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Giá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15%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E1F58-0D2A-3B25-BBFD-C30E457292A1}"/>
              </a:ext>
            </a:extLst>
          </p:cNvPr>
          <p:cNvSpPr txBox="1"/>
          <p:nvPr/>
        </p:nvSpPr>
        <p:spPr>
          <a:xfrm>
            <a:off x="2104053" y="2695492"/>
            <a:ext cx="683371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IF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[</a:t>
            </a:r>
            <a:r>
              <a:rPr lang="en-US" dirty="0" err="1"/>
              <a:t>price_low</a:t>
            </a:r>
            <a:r>
              <a:rPr lang="en-US" dirty="0"/>
              <a:t>, </a:t>
            </a:r>
            <a:r>
              <a:rPr lang="en-US" dirty="0" err="1"/>
              <a:t>price_high</a:t>
            </a:r>
            <a:r>
              <a:rPr lang="en-US" dirty="0"/>
              <a:t>]: → 100 </a:t>
            </a:r>
            <a:r>
              <a:rPr lang="en-US" dirty="0" err="1"/>
              <a:t>điểm</a:t>
            </a:r>
            <a:r>
              <a:rPr lang="en-US" dirty="0"/>
              <a:t> ✅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•    IF </a:t>
            </a:r>
            <a:r>
              <a:rPr lang="en-US" dirty="0" err="1"/>
              <a:t>giá</a:t>
            </a:r>
            <a:r>
              <a:rPr lang="en-US" dirty="0"/>
              <a:t> &lt; </a:t>
            </a:r>
            <a:r>
              <a:rPr lang="en-US" dirty="0" err="1"/>
              <a:t>price_low</a:t>
            </a:r>
            <a:r>
              <a:rPr lang="en-US" dirty="0"/>
              <a:t>: →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•    IF giá &gt; price_high: → Giảm điểm theo tỉ lệ vượt ngân sách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886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BAF6A-D874-19C7-F38B-018ED017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4004-36BC-5968-A342-0D0D6B22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100F9B-1E72-F2E1-95BC-58AC100F2985}"/>
              </a:ext>
            </a:extLst>
          </p:cNvPr>
          <p:cNvSpPr/>
          <p:nvPr/>
        </p:nvSpPr>
        <p:spPr>
          <a:xfrm>
            <a:off x="297962" y="1568335"/>
            <a:ext cx="1457858" cy="7078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31A9A-2F23-2810-3137-6207F383C45B}"/>
              </a:ext>
            </a:extLst>
          </p:cNvPr>
          <p:cNvSpPr txBox="1"/>
          <p:nvPr/>
        </p:nvSpPr>
        <p:spPr>
          <a:xfrm>
            <a:off x="369133" y="1662659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DB7E67-B94D-CD2B-7FB9-999A06A30E45}"/>
              </a:ext>
            </a:extLst>
          </p:cNvPr>
          <p:cNvSpPr/>
          <p:nvPr/>
        </p:nvSpPr>
        <p:spPr>
          <a:xfrm>
            <a:off x="1852442" y="1568336"/>
            <a:ext cx="7015942" cy="715836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AE20B-1AA5-D008-719D-09F18F6CB908}"/>
              </a:ext>
            </a:extLst>
          </p:cNvPr>
          <p:cNvSpPr txBox="1"/>
          <p:nvPr/>
        </p:nvSpPr>
        <p:spPr>
          <a:xfrm>
            <a:off x="2035322" y="1697845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sz="1600" dirty="0"/>
              <a:t>Gói thầu có sắp hết hạn không? → Ưu tiên gói sắp đóng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9B085B-97BC-C18A-0DDD-4633186593B9}"/>
              </a:ext>
            </a:extLst>
          </p:cNvPr>
          <p:cNvSpPr/>
          <p:nvPr/>
        </p:nvSpPr>
        <p:spPr>
          <a:xfrm>
            <a:off x="297961" y="2451387"/>
            <a:ext cx="1483472" cy="23879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9A67A-A778-6851-BB01-278C94608885}"/>
              </a:ext>
            </a:extLst>
          </p:cNvPr>
          <p:cNvSpPr txBox="1"/>
          <p:nvPr/>
        </p:nvSpPr>
        <p:spPr>
          <a:xfrm>
            <a:off x="297960" y="3383742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/>
              <a:t>Công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515F06-4F11-B16D-1B75-AAF99557BB62}"/>
              </a:ext>
            </a:extLst>
          </p:cNvPr>
          <p:cNvSpPr/>
          <p:nvPr/>
        </p:nvSpPr>
        <p:spPr>
          <a:xfrm>
            <a:off x="1921822" y="2451387"/>
            <a:ext cx="7015942" cy="2387930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D0E12-BE03-AC1B-A377-1981942EE7D7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4: RECENCY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Thời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gian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8%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99D94-C2AD-3988-BCAF-D3E297E65B82}"/>
              </a:ext>
            </a:extLst>
          </p:cNvPr>
          <p:cNvSpPr txBox="1"/>
          <p:nvPr/>
        </p:nvSpPr>
        <p:spPr>
          <a:xfrm>
            <a:off x="2104053" y="2695492"/>
            <a:ext cx="68337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┌──────────────────┬──────────┐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</a:t>
            </a:r>
            <a:r>
              <a:rPr lang="en-US" sz="1200" dirty="0" err="1"/>
              <a:t>Số</a:t>
            </a:r>
            <a:r>
              <a:rPr lang="en-US" sz="1200" dirty="0"/>
              <a:t> </a:t>
            </a:r>
            <a:r>
              <a:rPr lang="en-US" sz="1200" dirty="0" err="1"/>
              <a:t>ngày</a:t>
            </a:r>
            <a:r>
              <a:rPr lang="en-US" sz="1200" dirty="0"/>
              <a:t> </a:t>
            </a:r>
            <a:r>
              <a:rPr lang="en-US" sz="1200" dirty="0" err="1"/>
              <a:t>đến</a:t>
            </a:r>
            <a:r>
              <a:rPr lang="en-US" sz="1200" dirty="0"/>
              <a:t> </a:t>
            </a:r>
            <a:r>
              <a:rPr lang="en-US" sz="1200" dirty="0" err="1"/>
              <a:t>hạn</a:t>
            </a:r>
            <a:r>
              <a:rPr lang="en-US" sz="1200" dirty="0"/>
              <a:t>   │  </a:t>
            </a:r>
            <a:r>
              <a:rPr lang="en-US" sz="1200" dirty="0" err="1"/>
              <a:t>Điểm</a:t>
            </a:r>
            <a:r>
              <a:rPr lang="en-US" sz="1200" dirty="0"/>
              <a:t>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├──────────────────┼──────────┤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&lt; 0 (</a:t>
            </a:r>
            <a:r>
              <a:rPr lang="en-US" sz="1200" dirty="0" err="1"/>
              <a:t>đã</a:t>
            </a:r>
            <a:r>
              <a:rPr lang="en-US" sz="1200" dirty="0"/>
              <a:t> </a:t>
            </a:r>
            <a:r>
              <a:rPr lang="en-US" sz="1200" dirty="0" err="1"/>
              <a:t>quá</a:t>
            </a:r>
            <a:r>
              <a:rPr lang="en-US" sz="1200" dirty="0"/>
              <a:t> </a:t>
            </a:r>
            <a:r>
              <a:rPr lang="en-US" sz="1200" dirty="0" err="1"/>
              <a:t>hạn</a:t>
            </a:r>
            <a:r>
              <a:rPr lang="en-US" sz="1200" dirty="0"/>
              <a:t>)  │  30 pts │</a:t>
            </a:r>
            <a:r>
              <a:rPr lang="vi-VN" sz="1200" dirty="0"/>
              <a:t> </a:t>
            </a:r>
            <a:endParaRPr lang="en-US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0 - 7 </a:t>
            </a:r>
            <a:r>
              <a:rPr lang="en-US" sz="1200" dirty="0" err="1"/>
              <a:t>ngày</a:t>
            </a:r>
            <a:r>
              <a:rPr lang="en-US" sz="1200" dirty="0"/>
              <a:t>       </a:t>
            </a:r>
            <a:r>
              <a:rPr lang="vi-VN" sz="1200" dirty="0"/>
              <a:t>    </a:t>
            </a:r>
            <a:r>
              <a:rPr lang="en-US" sz="1200" dirty="0"/>
              <a:t> │ 100 pts │ ← </a:t>
            </a:r>
            <a:r>
              <a:rPr lang="en-US" sz="1200" dirty="0" err="1"/>
              <a:t>Khẩn</a:t>
            </a:r>
            <a:r>
              <a:rPr lang="en-US" sz="1200" dirty="0"/>
              <a:t> </a:t>
            </a:r>
            <a:r>
              <a:rPr lang="en-US" sz="1200" dirty="0" err="1"/>
              <a:t>cấp</a:t>
            </a:r>
            <a:r>
              <a:rPr lang="en-US" sz="1200" dirty="0"/>
              <a:t>!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8 - 30 </a:t>
            </a:r>
            <a:r>
              <a:rPr lang="en-US" sz="1200" dirty="0" err="1"/>
              <a:t>ngày</a:t>
            </a:r>
            <a:r>
              <a:rPr lang="en-US" sz="1200" dirty="0"/>
              <a:t>       </a:t>
            </a:r>
            <a:r>
              <a:rPr lang="vi-VN" sz="1200" dirty="0"/>
              <a:t>   </a:t>
            </a:r>
            <a:r>
              <a:rPr lang="en-US" sz="1200" dirty="0"/>
              <a:t>│  80 pts 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31 - 90 </a:t>
            </a:r>
            <a:r>
              <a:rPr lang="en-US" sz="1200" dirty="0" err="1"/>
              <a:t>ngày</a:t>
            </a:r>
            <a:r>
              <a:rPr lang="en-US" sz="1200" dirty="0"/>
              <a:t>      </a:t>
            </a:r>
            <a:r>
              <a:rPr lang="vi-VN" sz="1200" dirty="0"/>
              <a:t>  </a:t>
            </a:r>
            <a:r>
              <a:rPr lang="en-US" sz="1200" dirty="0"/>
              <a:t>│  60 pts 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&gt; 90 </a:t>
            </a:r>
            <a:r>
              <a:rPr lang="en-US" sz="1200" dirty="0" err="1"/>
              <a:t>ngày</a:t>
            </a:r>
            <a:r>
              <a:rPr lang="en-US" sz="1200" dirty="0"/>
              <a:t>        </a:t>
            </a:r>
            <a:r>
              <a:rPr lang="vi-VN" sz="1200" dirty="0"/>
              <a:t>   </a:t>
            </a:r>
            <a:r>
              <a:rPr lang="en-US" sz="1200" dirty="0"/>
              <a:t> │  40 pts 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└────────────┴─────┴──────────┘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200" dirty="0"/>
              <a:t>  → Hệ thống ưu tiên gợi ý gói sắp hết hạn nộp thầu</a:t>
            </a:r>
          </a:p>
        </p:txBody>
      </p:sp>
    </p:spTree>
    <p:extLst>
      <p:ext uri="{BB962C8B-B14F-4D97-AF65-F5344CB8AC3E}">
        <p14:creationId xmlns:p14="http://schemas.microsoft.com/office/powerpoint/2010/main" val="782062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EC9C1-5393-617A-43AE-E94847B4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28313-39B4-7B64-FC42-75016486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CC88E2-C4AA-835A-D533-C3672DF63BE7}"/>
              </a:ext>
            </a:extLst>
          </p:cNvPr>
          <p:cNvSpPr txBox="1"/>
          <p:nvPr/>
        </p:nvSpPr>
        <p:spPr>
          <a:xfrm>
            <a:off x="731520" y="1304835"/>
            <a:ext cx="34467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Công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thức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Tổng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hợp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endParaRPr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5788F7FE-A235-2BC5-D476-AE2D376E82DE}"/>
              </a:ext>
            </a:extLst>
          </p:cNvPr>
          <p:cNvSpPr/>
          <p:nvPr/>
        </p:nvSpPr>
        <p:spPr>
          <a:xfrm>
            <a:off x="398236" y="2573565"/>
            <a:ext cx="1487714" cy="82296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871AF-BE16-238C-5FC4-924ABEDF7D88}"/>
              </a:ext>
            </a:extLst>
          </p:cNvPr>
          <p:cNvSpPr txBox="1"/>
          <p:nvPr/>
        </p:nvSpPr>
        <p:spPr>
          <a:xfrm>
            <a:off x="296636" y="2710725"/>
            <a:ext cx="1589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W₁×Lex</a:t>
            </a:r>
            <a:br/>
            <a:r>
              <a:t>Lexical</a:t>
            </a:r>
          </a:p>
        </p:txBody>
      </p:sp>
      <p:sp>
        <p:nvSpPr>
          <p:cNvPr id="15" name="Right Arrow 5">
            <a:extLst>
              <a:ext uri="{FF2B5EF4-FFF2-40B4-BE49-F238E27FC236}">
                <a16:creationId xmlns:a16="http://schemas.microsoft.com/office/drawing/2014/main" id="{EEC667EF-E440-C008-50B6-A2EBAE7183F8}"/>
              </a:ext>
            </a:extLst>
          </p:cNvPr>
          <p:cNvSpPr/>
          <p:nvPr/>
        </p:nvSpPr>
        <p:spPr>
          <a:xfrm>
            <a:off x="1904238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36BA45FF-9C2D-9BDE-0C83-272124F34DF4}"/>
              </a:ext>
            </a:extLst>
          </p:cNvPr>
          <p:cNvSpPr/>
          <p:nvPr/>
        </p:nvSpPr>
        <p:spPr>
          <a:xfrm>
            <a:off x="2023110" y="2573565"/>
            <a:ext cx="1487714" cy="8229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45B8B5-F1C4-BED2-125B-893C761D9110}"/>
              </a:ext>
            </a:extLst>
          </p:cNvPr>
          <p:cNvSpPr txBox="1"/>
          <p:nvPr/>
        </p:nvSpPr>
        <p:spPr>
          <a:xfrm>
            <a:off x="1832024" y="2710725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W₂×Hist</a:t>
            </a:r>
            <a:br>
              <a:rPr dirty="0"/>
            </a:br>
            <a:r>
              <a:rPr dirty="0"/>
              <a:t>Historical</a:t>
            </a:r>
          </a:p>
        </p:txBody>
      </p:sp>
      <p:sp>
        <p:nvSpPr>
          <p:cNvPr id="18" name="Right Arrow 8">
            <a:extLst>
              <a:ext uri="{FF2B5EF4-FFF2-40B4-BE49-F238E27FC236}">
                <a16:creationId xmlns:a16="http://schemas.microsoft.com/office/drawing/2014/main" id="{6D4B51CE-53E4-09C3-024C-00FF38338571}"/>
              </a:ext>
            </a:extLst>
          </p:cNvPr>
          <p:cNvSpPr/>
          <p:nvPr/>
        </p:nvSpPr>
        <p:spPr>
          <a:xfrm>
            <a:off x="3561116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BAF974BB-7BA6-DE4E-0B5C-9B381BDF46BB}"/>
              </a:ext>
            </a:extLst>
          </p:cNvPr>
          <p:cNvSpPr/>
          <p:nvPr/>
        </p:nvSpPr>
        <p:spPr>
          <a:xfrm>
            <a:off x="3738548" y="2573565"/>
            <a:ext cx="1487715" cy="8229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01B279-CFA6-041C-2074-FE14A03D90E8}"/>
              </a:ext>
            </a:extLst>
          </p:cNvPr>
          <p:cNvSpPr txBox="1"/>
          <p:nvPr/>
        </p:nvSpPr>
        <p:spPr>
          <a:xfrm>
            <a:off x="3397464" y="2710725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W₃×Price</a:t>
            </a:r>
            <a:br/>
            <a:r>
              <a:t>Price</a:t>
            </a:r>
          </a:p>
        </p:txBody>
      </p:sp>
      <p:sp>
        <p:nvSpPr>
          <p:cNvPr id="22" name="Right Arrow 11">
            <a:extLst>
              <a:ext uri="{FF2B5EF4-FFF2-40B4-BE49-F238E27FC236}">
                <a16:creationId xmlns:a16="http://schemas.microsoft.com/office/drawing/2014/main" id="{49A03528-C4D0-F3C4-DFE7-A3378DC6BC21}"/>
              </a:ext>
            </a:extLst>
          </p:cNvPr>
          <p:cNvSpPr/>
          <p:nvPr/>
        </p:nvSpPr>
        <p:spPr>
          <a:xfrm>
            <a:off x="5244552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0456A7F6-8900-F67D-7782-C10C228CBF23}"/>
              </a:ext>
            </a:extLst>
          </p:cNvPr>
          <p:cNvSpPr/>
          <p:nvPr/>
        </p:nvSpPr>
        <p:spPr>
          <a:xfrm>
            <a:off x="5376172" y="2573565"/>
            <a:ext cx="1487718" cy="8229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84991-6CE3-61D1-2606-D9E84C298EF2}"/>
              </a:ext>
            </a:extLst>
          </p:cNvPr>
          <p:cNvSpPr txBox="1"/>
          <p:nvPr/>
        </p:nvSpPr>
        <p:spPr>
          <a:xfrm>
            <a:off x="5244551" y="2705746"/>
            <a:ext cx="1643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W₄×Rec</a:t>
            </a:r>
            <a:br>
              <a:rPr dirty="0"/>
            </a:br>
            <a:r>
              <a:rPr dirty="0"/>
              <a:t>Recency</a:t>
            </a:r>
          </a:p>
        </p:txBody>
      </p:sp>
      <p:sp>
        <p:nvSpPr>
          <p:cNvPr id="25" name="Right Arrow 14">
            <a:extLst>
              <a:ext uri="{FF2B5EF4-FFF2-40B4-BE49-F238E27FC236}">
                <a16:creationId xmlns:a16="http://schemas.microsoft.com/office/drawing/2014/main" id="{6FE5F59A-C69C-B700-9E0A-7C45FBE714DB}"/>
              </a:ext>
            </a:extLst>
          </p:cNvPr>
          <p:cNvSpPr/>
          <p:nvPr/>
        </p:nvSpPr>
        <p:spPr>
          <a:xfrm>
            <a:off x="6882178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A999DC81-0A6D-A583-9E2B-08AFB951D066}"/>
              </a:ext>
            </a:extLst>
          </p:cNvPr>
          <p:cNvSpPr/>
          <p:nvPr/>
        </p:nvSpPr>
        <p:spPr>
          <a:xfrm>
            <a:off x="7001050" y="2573565"/>
            <a:ext cx="1487718" cy="82296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BD6590-D3DF-9457-51AA-968B2D5C1ABC}"/>
              </a:ext>
            </a:extLst>
          </p:cNvPr>
          <p:cNvSpPr txBox="1"/>
          <p:nvPr/>
        </p:nvSpPr>
        <p:spPr>
          <a:xfrm>
            <a:off x="6714405" y="2821264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= </a:t>
            </a:r>
            <a:r>
              <a:rPr dirty="0" err="1"/>
              <a:t>Tổng</a:t>
            </a:r>
            <a:r>
              <a:rPr lang="vi-VN" dirty="0"/>
              <a:t> </a:t>
            </a:r>
            <a:r>
              <a:rPr dirty="0" err="1"/>
              <a:t>Điểm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034F69-CB4F-6645-4D4F-385CFF849D44}"/>
              </a:ext>
            </a:extLst>
          </p:cNvPr>
          <p:cNvSpPr txBox="1"/>
          <p:nvPr/>
        </p:nvSpPr>
        <p:spPr>
          <a:xfrm>
            <a:off x="318586" y="3856265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F8C8D"/>
                </a:solidFill>
              </a:defRPr>
            </a:pPr>
            <a:r>
              <a:t>W₁=0.54 | W₂=0.23 | W₃=0.15 | W₄=0.08</a:t>
            </a:r>
          </a:p>
        </p:txBody>
      </p:sp>
    </p:spTree>
    <p:extLst>
      <p:ext uri="{BB962C8B-B14F-4D97-AF65-F5344CB8AC3E}">
        <p14:creationId xmlns:p14="http://schemas.microsoft.com/office/powerpoint/2010/main" val="3316850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714C-CDF9-6723-FD9E-544E44B3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C42F0-8BB6-B92D-D4BB-1D3F95146CF7}"/>
              </a:ext>
            </a:extLst>
          </p:cNvPr>
          <p:cNvSpPr txBox="1"/>
          <p:nvPr/>
        </p:nvSpPr>
        <p:spPr>
          <a:xfrm>
            <a:off x="400050" y="1455420"/>
            <a:ext cx="47548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Ví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dụ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Tính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Tổng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cho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5C4546-EB3A-85B6-2073-DB3705A7C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84765"/>
              </p:ext>
            </p:extLst>
          </p:nvPr>
        </p:nvGraphicFramePr>
        <p:xfrm>
          <a:off x="400050" y="2139233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Điểm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Trọng số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Điểm x cốt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Lexical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× 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45.90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Semantic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× 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Historical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× 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18.40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Price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× 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Recency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× 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6.40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r>
                        <a:t>TỔNG CỘNG</a:t>
                      </a:r>
                    </a:p>
                  </a:txBody>
                  <a:tcPr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r>
                        <a:rPr dirty="0"/>
                        <a:t>85.70</a:t>
                      </a:r>
                    </a:p>
                  </a:txBody>
                  <a:tcPr>
                    <a:solidFill>
                      <a:srgbClr val="F0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083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A328-8592-13E4-4035-F2430F2F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Phân tích đối thủ cạnh tranh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553FF-95B9-6B31-3C3A-05697A0FE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57975"/>
            <a:ext cx="8229600" cy="5185948"/>
          </a:xfrm>
        </p:spPr>
        <p:txBody>
          <a:bodyPr/>
          <a:lstStyle/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• Khi đã có gợi ý gói thầu → Cần biết AI là đối thủ NGUY HIỂM NHẤT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• Tình huống thực tế: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Công ty bạn muốn tham gia gói thầu X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 → Bạn cần biết: Ai đã từng thắng các gói TƯƠNG TỰ?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 → Đối thủ đó MẠNH hay YẾU trên từng tiêu chí?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• Hệ thống phân tích đối thủ dựa trên 4 yếu tố: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Chủ đầu tư (CĐT) — Đã từng thắng với CĐT này?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Địa bàn (Tỉnh) — Đã từng thắng ở tỉnh này?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Lĩnh vực — Đã từng thắng ngành này?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Phân khúc giá — Đã từng thắng với mức giá tương tự?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8796B-AA4F-9D0F-EA50-ED00A841CE2F}"/>
              </a:ext>
            </a:extLst>
          </p:cNvPr>
          <p:cNvSpPr txBox="1"/>
          <p:nvPr/>
        </p:nvSpPr>
        <p:spPr>
          <a:xfrm>
            <a:off x="655982" y="89029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tích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Đối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—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Mục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đích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430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E29E-B8F9-DA08-5252-6A41825E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84F8-49E5-CD6E-0689-77C9001E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Phân tích đối thủ cạnh tranh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D93F68-6360-1212-0556-45D12C0863D3}"/>
              </a:ext>
            </a:extLst>
          </p:cNvPr>
          <p:cNvSpPr/>
          <p:nvPr/>
        </p:nvSpPr>
        <p:spPr>
          <a:xfrm>
            <a:off x="297962" y="1568335"/>
            <a:ext cx="1457858" cy="1379913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B51D8-7C44-1BC0-8A20-479875E4A578}"/>
              </a:ext>
            </a:extLst>
          </p:cNvPr>
          <p:cNvSpPr txBox="1"/>
          <p:nvPr/>
        </p:nvSpPr>
        <p:spPr>
          <a:xfrm>
            <a:off x="343682" y="19848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2DEC4F-2360-352C-75CD-9F190970027A}"/>
              </a:ext>
            </a:extLst>
          </p:cNvPr>
          <p:cNvSpPr/>
          <p:nvPr/>
        </p:nvSpPr>
        <p:spPr>
          <a:xfrm>
            <a:off x="1852442" y="15683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12FB8-1BA5-8826-F400-DB291622B3EA}"/>
              </a:ext>
            </a:extLst>
          </p:cNvPr>
          <p:cNvSpPr txBox="1"/>
          <p:nvPr/>
        </p:nvSpPr>
        <p:spPr>
          <a:xfrm>
            <a:off x="2035322" y="16195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TIỀM NĂNG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AE7C2-4745-0126-2497-FB2D7FD385EF}"/>
              </a:ext>
            </a:extLst>
          </p:cNvPr>
          <p:cNvSpPr txBox="1"/>
          <p:nvPr/>
        </p:nvSpPr>
        <p:spPr>
          <a:xfrm>
            <a:off x="2035322" y="1984803"/>
            <a:ext cx="6651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đã</a:t>
            </a:r>
            <a:r>
              <a:rPr lang="en-US" dirty="0"/>
              <a:t>: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    -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CĐT </a:t>
            </a:r>
            <a:r>
              <a:rPr lang="en-US" dirty="0" err="1"/>
              <a:t>này</a:t>
            </a:r>
            <a:r>
              <a:rPr lang="en-US" dirty="0"/>
              <a:t>, HOẶC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    -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, HOẶC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    -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bàn</a:t>
            </a:r>
            <a:endParaRPr lang="en-US" dirty="0"/>
          </a:p>
          <a:p>
            <a:pPr algn="l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B986EB-E414-0DA2-4F9E-A3A758392B03}"/>
              </a:ext>
            </a:extLst>
          </p:cNvPr>
          <p:cNvSpPr/>
          <p:nvPr/>
        </p:nvSpPr>
        <p:spPr>
          <a:xfrm>
            <a:off x="297962" y="3168535"/>
            <a:ext cx="1457858" cy="137991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9E8CE-4DAB-3B95-9127-E6D44ED1D814}"/>
              </a:ext>
            </a:extLst>
          </p:cNvPr>
          <p:cNvSpPr txBox="1"/>
          <p:nvPr/>
        </p:nvSpPr>
        <p:spPr>
          <a:xfrm>
            <a:off x="343682" y="35850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60A03CF-1733-4EFE-23E7-E2681055EA1C}"/>
              </a:ext>
            </a:extLst>
          </p:cNvPr>
          <p:cNvSpPr/>
          <p:nvPr/>
        </p:nvSpPr>
        <p:spPr>
          <a:xfrm>
            <a:off x="1852442" y="31685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D6EA0-0867-46C4-569D-01B85ACCCECC}"/>
              </a:ext>
            </a:extLst>
          </p:cNvPr>
          <p:cNvSpPr txBox="1"/>
          <p:nvPr/>
        </p:nvSpPr>
        <p:spPr>
          <a:xfrm>
            <a:off x="2035322" y="32197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"SỢ"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801CF-5C55-77B1-5C59-2FE1FB8B2395}"/>
              </a:ext>
            </a:extLst>
          </p:cNvPr>
          <p:cNvSpPr txBox="1"/>
          <p:nvPr/>
        </p:nvSpPr>
        <p:spPr>
          <a:xfrm>
            <a:off x="2035322" y="3585003"/>
            <a:ext cx="66514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TOTAL_SCORE = CĐT + </a:t>
            </a:r>
            <a:r>
              <a:rPr lang="en-US" dirty="0" err="1"/>
              <a:t>Tỉnh</a:t>
            </a:r>
            <a:r>
              <a:rPr lang="en-US" dirty="0"/>
              <a:t> +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+ </a:t>
            </a:r>
            <a:r>
              <a:rPr lang="en-US" dirty="0" err="1"/>
              <a:t>Giá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(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=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THẮNG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4078E8-B8E4-0143-2DEC-3D0C211D550A}"/>
              </a:ext>
            </a:extLst>
          </p:cNvPr>
          <p:cNvSpPr/>
          <p:nvPr/>
        </p:nvSpPr>
        <p:spPr>
          <a:xfrm>
            <a:off x="297962" y="4768735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5FC9C-6DF7-EBBA-D2CF-075EA42717DD}"/>
              </a:ext>
            </a:extLst>
          </p:cNvPr>
          <p:cNvSpPr txBox="1"/>
          <p:nvPr/>
        </p:nvSpPr>
        <p:spPr>
          <a:xfrm>
            <a:off x="343682" y="51852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051FE3-D45C-E6EE-3154-59AC5D1CADC8}"/>
              </a:ext>
            </a:extLst>
          </p:cNvPr>
          <p:cNvSpPr/>
          <p:nvPr/>
        </p:nvSpPr>
        <p:spPr>
          <a:xfrm>
            <a:off x="1852442" y="47687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2F09E-4E90-71C3-6FE4-D497F5889FFD}"/>
              </a:ext>
            </a:extLst>
          </p:cNvPr>
          <p:cNvSpPr txBox="1"/>
          <p:nvPr/>
        </p:nvSpPr>
        <p:spPr>
          <a:xfrm>
            <a:off x="2035322" y="48199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hạng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834429-B6E6-832C-E212-8AFF1E8D419A}"/>
              </a:ext>
            </a:extLst>
          </p:cNvPr>
          <p:cNvSpPr txBox="1"/>
          <p:nvPr/>
        </p:nvSpPr>
        <p:spPr>
          <a:xfrm>
            <a:off x="2035322" y="5207323"/>
            <a:ext cx="665147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&gt;= 2 </a:t>
            </a:r>
            <a:r>
              <a:rPr lang="en-US" dirty="0" err="1"/>
              <a:t>lần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TOTAL_SCORE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Hiển </a:t>
            </a:r>
            <a:r>
              <a:rPr lang="en-US" dirty="0" err="1"/>
              <a:t>thị</a:t>
            </a:r>
            <a:r>
              <a:rPr lang="en-US" dirty="0"/>
              <a:t> TOP 10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nguy</a:t>
            </a:r>
            <a:r>
              <a:rPr lang="en-US" dirty="0"/>
              <a:t> </a:t>
            </a:r>
            <a:r>
              <a:rPr lang="en-US" dirty="0" err="1"/>
              <a:t>hiểm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F9B2FB-D1BE-F165-EEDA-1782AD777009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/>
                </a:solidFill>
              </a:rPr>
              <a:t>Thuật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toán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Phân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tích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Đối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thủ</a:t>
            </a:r>
            <a:endParaRPr lang="en-US" sz="2000" dirty="0">
              <a:solidFill>
                <a:schemeClr val="bg2"/>
              </a:solidFill>
            </a:endParaRP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341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6823-7E6E-9749-3EFD-73A9A671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913A1-030E-9ECD-291A-BDF131265951}"/>
              </a:ext>
            </a:extLst>
          </p:cNvPr>
          <p:cNvSpPr txBox="1"/>
          <p:nvPr/>
        </p:nvSpPr>
        <p:spPr>
          <a:xfrm>
            <a:off x="457200" y="1331844"/>
            <a:ext cx="56236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Ví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dụ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Bảng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phân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tích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đối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cho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X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EB45CA-4257-7F31-07FE-18B3BD73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54816"/>
              </p:ext>
            </p:extLst>
          </p:nvPr>
        </p:nvGraphicFramePr>
        <p:xfrm>
          <a:off x="457200" y="2007705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Công 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CĐT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Tỉnh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Lĩnh vực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Giá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Tổng</a:t>
                      </a:r>
                      <a:r>
                        <a:rPr lang="vi-VN" dirty="0"/>
                        <a:t> </a:t>
                      </a:r>
                      <a:r>
                        <a:rPr dirty="0" err="1"/>
                        <a:t>điểm</a:t>
                      </a:r>
                      <a:endParaRPr dirty="0"/>
                    </a:p>
                  </a:txBody>
                  <a:tcPr>
                    <a:solidFill>
                      <a:srgbClr val="00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2/2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10/15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23 (Nguy hiểm!)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23 (Nguy hiểm!)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2/3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7/8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3/4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14 (Trung bình)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8 (</a:t>
                      </a:r>
                      <a:r>
                        <a:rPr dirty="0" err="1"/>
                        <a:t>Yếu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33AD171-C732-9193-3058-FAB4B6C8A051}"/>
              </a:ext>
            </a:extLst>
          </p:cNvPr>
          <p:cNvSpPr txBox="1"/>
          <p:nvPr/>
        </p:nvSpPr>
        <p:spPr>
          <a:xfrm>
            <a:off x="457200" y="5482425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rPr dirty="0"/>
              <a:t>Win =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THẮNG | Join =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THAM GIA |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=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nguy</a:t>
            </a:r>
            <a:r>
              <a:rPr dirty="0"/>
              <a:t> </a:t>
            </a:r>
            <a:r>
              <a:rPr dirty="0" err="1"/>
              <a:t>hiểm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7601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449E-0A06-8D67-AB8E-55704929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Demo hệ thống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5DA118-89DF-0BCD-3EBB-F63B1AB23A78}"/>
              </a:ext>
            </a:extLst>
          </p:cNvPr>
          <p:cNvSpPr/>
          <p:nvPr/>
        </p:nvSpPr>
        <p:spPr>
          <a:xfrm>
            <a:off x="457200" y="1554480"/>
            <a:ext cx="2651760" cy="2842591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4FA88-B769-98E6-C834-11F36B9C4A1B}"/>
              </a:ext>
            </a:extLst>
          </p:cNvPr>
          <p:cNvSpPr txBox="1"/>
          <p:nvPr/>
        </p:nvSpPr>
        <p:spPr>
          <a:xfrm>
            <a:off x="15087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70C0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75AC-B417-B846-0F23-6DA6F2710E8C}"/>
              </a:ext>
            </a:extLst>
          </p:cNvPr>
          <p:cNvSpPr txBox="1"/>
          <p:nvPr/>
        </p:nvSpPr>
        <p:spPr>
          <a:xfrm>
            <a:off x="548640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(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E30B52-F79A-D821-A4BA-54972A89E633}"/>
              </a:ext>
            </a:extLst>
          </p:cNvPr>
          <p:cNvSpPr/>
          <p:nvPr/>
        </p:nvSpPr>
        <p:spPr>
          <a:xfrm>
            <a:off x="822960" y="3429000"/>
            <a:ext cx="19202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9F5A7-3909-CDCD-2BCA-EAB279BE530D}"/>
              </a:ext>
            </a:extLst>
          </p:cNvPr>
          <p:cNvSpPr txBox="1"/>
          <p:nvPr/>
        </p:nvSpPr>
        <p:spPr>
          <a:xfrm>
            <a:off x="594360" y="3566160"/>
            <a:ext cx="2377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python main.py serve</a:t>
            </a:r>
          </a:p>
          <a:p>
            <a:pPr algn="ctr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227251-ECDC-D857-9303-B8BFD487396F}"/>
              </a:ext>
            </a:extLst>
          </p:cNvPr>
          <p:cNvSpPr/>
          <p:nvPr/>
        </p:nvSpPr>
        <p:spPr>
          <a:xfrm>
            <a:off x="3383280" y="1554480"/>
            <a:ext cx="2651760" cy="2842591"/>
          </a:xfrm>
          <a:prstGeom prst="roundRect">
            <a:avLst/>
          </a:prstGeom>
          <a:solidFill>
            <a:srgbClr val="FFFFFF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BC1F1-0254-9568-AE59-999F51A2606F}"/>
              </a:ext>
            </a:extLst>
          </p:cNvPr>
          <p:cNvSpPr txBox="1"/>
          <p:nvPr/>
        </p:nvSpPr>
        <p:spPr>
          <a:xfrm>
            <a:off x="44348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9900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7FEA8-0A11-2746-0A62-74DF66ADB83F}"/>
              </a:ext>
            </a:extLst>
          </p:cNvPr>
          <p:cNvSpPr txBox="1"/>
          <p:nvPr/>
        </p:nvSpPr>
        <p:spPr>
          <a:xfrm>
            <a:off x="3474720" y="2331720"/>
            <a:ext cx="2468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en-US" dirty="0"/>
              <a:t>Rebuild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(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49CC69-6E99-7F6B-0EDE-DB11E9B00D9E}"/>
              </a:ext>
            </a:extLst>
          </p:cNvPr>
          <p:cNvSpPr/>
          <p:nvPr/>
        </p:nvSpPr>
        <p:spPr>
          <a:xfrm>
            <a:off x="3749040" y="3429000"/>
            <a:ext cx="192024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63129E-F386-7E6A-80FE-D91ED50CABF8}"/>
              </a:ext>
            </a:extLst>
          </p:cNvPr>
          <p:cNvSpPr txBox="1"/>
          <p:nvPr/>
        </p:nvSpPr>
        <p:spPr>
          <a:xfrm>
            <a:off x="3520440" y="3566160"/>
            <a:ext cx="2377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python main.py rebuild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D0D9D5-A8FC-6166-D563-C2444002545A}"/>
              </a:ext>
            </a:extLst>
          </p:cNvPr>
          <p:cNvSpPr/>
          <p:nvPr/>
        </p:nvSpPr>
        <p:spPr>
          <a:xfrm>
            <a:off x="6309360" y="1554480"/>
            <a:ext cx="2651760" cy="2842591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479C1-BBEF-3B12-B986-4ED99093C142}"/>
              </a:ext>
            </a:extLst>
          </p:cNvPr>
          <p:cNvSpPr txBox="1"/>
          <p:nvPr/>
        </p:nvSpPr>
        <p:spPr>
          <a:xfrm>
            <a:off x="7360920" y="17145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B050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6C036-FC6F-82B4-CA1F-0ACEB32F2E30}"/>
              </a:ext>
            </a:extLst>
          </p:cNvPr>
          <p:cNvSpPr txBox="1"/>
          <p:nvPr/>
        </p:nvSpPr>
        <p:spPr>
          <a:xfrm>
            <a:off x="6400800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DỄ</a:t>
            </a:r>
            <a:r>
              <a:rPr dirty="0"/>
              <a:t> </a:t>
            </a:r>
            <a:r>
              <a:rPr lang="vi-VN" dirty="0"/>
              <a:t>DÙ</a:t>
            </a:r>
            <a:r>
              <a:rPr dirty="0"/>
              <a:t>NG</a:t>
            </a:r>
            <a:br>
              <a:rPr dirty="0"/>
            </a:br>
            <a:r>
              <a:rPr dirty="0"/>
              <a:t>CHO </a:t>
            </a:r>
            <a:r>
              <a:rPr lang="vi-VN" dirty="0"/>
              <a:t>MỌI</a:t>
            </a:r>
            <a:r>
              <a:rPr dirty="0"/>
              <a:t> </a:t>
            </a:r>
            <a:r>
              <a:rPr lang="vi-VN" dirty="0"/>
              <a:t>NGƯỜ</a:t>
            </a:r>
            <a:r>
              <a:rPr dirty="0"/>
              <a:t>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504D02-049D-AD23-6B83-4F656DD4D493}"/>
              </a:ext>
            </a:extLst>
          </p:cNvPr>
          <p:cNvSpPr/>
          <p:nvPr/>
        </p:nvSpPr>
        <p:spPr>
          <a:xfrm>
            <a:off x="6675120" y="3429000"/>
            <a:ext cx="1920240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9DF6C4-B37B-14DF-13B3-EB175031D5E1}"/>
              </a:ext>
            </a:extLst>
          </p:cNvPr>
          <p:cNvSpPr txBox="1"/>
          <p:nvPr/>
        </p:nvSpPr>
        <p:spPr>
          <a:xfrm>
            <a:off x="6446520" y="3566160"/>
            <a:ext cx="2377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python main.py run</a:t>
            </a:r>
          </a:p>
          <a:p>
            <a:pPr algn="ctr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D20F97-D581-DB7A-CCE4-F69EA9764298}"/>
              </a:ext>
            </a:extLst>
          </p:cNvPr>
          <p:cNvSpPr txBox="1"/>
          <p:nvPr/>
        </p:nvSpPr>
        <p:spPr>
          <a:xfrm>
            <a:off x="548640" y="94294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Cách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chạy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(Demo)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B37DD4-2AC1-FC65-EB6E-FE77A42DE292}"/>
              </a:ext>
            </a:extLst>
          </p:cNvPr>
          <p:cNvSpPr txBox="1"/>
          <p:nvPr/>
        </p:nvSpPr>
        <p:spPr>
          <a:xfrm>
            <a:off x="1238415" y="4714726"/>
            <a:ext cx="77644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rPr lang="en-US" sz="1800" dirty="0"/>
              <a:t>Sau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chạy</a:t>
            </a:r>
            <a:r>
              <a:rPr lang="en-US" sz="1800" dirty="0"/>
              <a:t>,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sẽ</a:t>
            </a:r>
            <a:r>
              <a:rPr lang="en-US" sz="1800" dirty="0"/>
              <a:t> </a:t>
            </a:r>
            <a:r>
              <a:rPr lang="en-US" sz="1800" dirty="0" err="1"/>
              <a:t>mở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duyệt</a:t>
            </a:r>
            <a:r>
              <a:rPr lang="en-US" sz="1800" dirty="0"/>
              <a:t> web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endParaRPr lang="en-US" sz="1800" dirty="0"/>
          </a:p>
          <a:p>
            <a:pPr>
              <a:defRPr sz="1300" i="1">
                <a:solidFill>
                  <a:srgbClr val="7F8C8D"/>
                </a:solidFill>
              </a:defRPr>
            </a:pPr>
            <a:r>
              <a:rPr lang="en-US" sz="1800" dirty="0" err="1"/>
              <a:t>Truy</a:t>
            </a:r>
            <a:r>
              <a:rPr lang="en-US" sz="1800" dirty="0"/>
              <a:t> </a:t>
            </a:r>
            <a:r>
              <a:rPr lang="en-US" sz="1800" dirty="0" err="1"/>
              <a:t>cập</a:t>
            </a:r>
            <a:r>
              <a:rPr lang="en-US" sz="1800" dirty="0"/>
              <a:t> </a:t>
            </a:r>
            <a:r>
              <a:rPr lang="en-US" sz="1800" dirty="0" err="1"/>
              <a:t>tại</a:t>
            </a:r>
            <a:r>
              <a:rPr lang="en-US" sz="1800" dirty="0"/>
              <a:t>: http://localhost:8501</a:t>
            </a:r>
          </a:p>
          <a:p>
            <a:pPr>
              <a:defRPr sz="1300" i="1">
                <a:solidFill>
                  <a:srgbClr val="7F8C8D"/>
                </a:solidFill>
              </a:defRPr>
            </a:pPr>
            <a:r>
              <a:rPr lang="vi-VN" sz="1800" dirty="0"/>
              <a:t>Lưu ý: Cần cài đặt Python và các thư viện trước (xem README.md)</a:t>
            </a:r>
          </a:p>
          <a:p>
            <a:pPr>
              <a:defRPr sz="1300" i="1">
                <a:solidFill>
                  <a:srgbClr val="7F8C8D"/>
                </a:solidFill>
              </a:defRPr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6088716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A283-A35C-5EF0-8B67-302EB555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96FAE0-99DB-7213-201C-54946BB8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44" y="1013554"/>
            <a:ext cx="8046721" cy="55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57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E18D-5C9C-3282-3CB6-5DBB0751F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F9B6-E8E1-9A54-7091-608F2D37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66744-E915-6544-A685-213951E0D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07" y="925452"/>
            <a:ext cx="8119930" cy="553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260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B152-D010-2694-F3CE-985917D86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E89-9FAC-607C-2B1D-7F3A8490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89B9A-8925-46E7-A428-D66C1A48B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15" y="923410"/>
            <a:ext cx="7749012" cy="566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00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A8D27-AB20-46B3-2B7B-927A11267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BB6451E-0A0E-A8B2-7D4D-6C739FBD56CE}"/>
              </a:ext>
            </a:extLst>
          </p:cNvPr>
          <p:cNvSpPr/>
          <p:nvPr/>
        </p:nvSpPr>
        <p:spPr>
          <a:xfrm>
            <a:off x="274320" y="1956142"/>
            <a:ext cx="4023360" cy="41702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323D0-39BE-590B-9AF1-7C01A843A765}"/>
              </a:ext>
            </a:extLst>
          </p:cNvPr>
          <p:cNvSpPr txBox="1"/>
          <p:nvPr/>
        </p:nvSpPr>
        <p:spPr>
          <a:xfrm>
            <a:off x="457200" y="2075291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C00000"/>
                </a:solidFill>
              </a:defRPr>
            </a:pPr>
            <a:r>
              <a:rPr lang="en-US" dirty="0" err="1">
                <a:solidFill>
                  <a:schemeClr val="bg2"/>
                </a:solidFill>
              </a:rPr>
              <a:t>Đối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với</a:t>
            </a:r>
            <a:r>
              <a:rPr lang="en-US" dirty="0">
                <a:solidFill>
                  <a:schemeClr val="bg2"/>
                </a:solidFill>
              </a:rPr>
              <a:t> Doanh </a:t>
            </a:r>
            <a:r>
              <a:rPr lang="en-US" dirty="0" err="1">
                <a:solidFill>
                  <a:schemeClr val="bg2"/>
                </a:solidFill>
              </a:rPr>
              <a:t>nghiệp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2597ED-4294-A096-9B1F-C7315FD99F1E}"/>
              </a:ext>
            </a:extLst>
          </p:cNvPr>
          <p:cNvSpPr/>
          <p:nvPr/>
        </p:nvSpPr>
        <p:spPr>
          <a:xfrm>
            <a:off x="1417320" y="2595833"/>
            <a:ext cx="173736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A9B49-C895-1027-A1F6-D5839183DB4C}"/>
              </a:ext>
            </a:extLst>
          </p:cNvPr>
          <p:cNvSpPr txBox="1"/>
          <p:nvPr/>
        </p:nvSpPr>
        <p:spPr>
          <a:xfrm>
            <a:off x="560567" y="2996570"/>
            <a:ext cx="34508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Tăng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tỉ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lệ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thắng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thầu</a:t>
            </a:r>
            <a:endParaRPr lang="vi-VN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vi-VN" sz="1800" dirty="0">
                <a:solidFill>
                  <a:schemeClr val="bg2"/>
                </a:solidFill>
              </a:rPr>
              <a:t>✓ Biết trước đối thủ cạnh tranh</a:t>
            </a: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Hiểu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rõ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điểm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mạnh</a:t>
            </a:r>
            <a:r>
              <a:rPr lang="en-US" sz="1800" dirty="0">
                <a:solidFill>
                  <a:schemeClr val="bg2"/>
                </a:solidFill>
              </a:rPr>
              <a:t>/</a:t>
            </a:r>
            <a:r>
              <a:rPr lang="en-US" sz="1800" dirty="0" err="1">
                <a:solidFill>
                  <a:schemeClr val="bg2"/>
                </a:solidFill>
              </a:rPr>
              <a:t>yếu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của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mình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Lọc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gói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thầu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theo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ngân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sách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Nắm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bắt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gói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thầu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sắp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hết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hạn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Xuất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báo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cáo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dễ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dàng</a:t>
            </a:r>
            <a:r>
              <a:rPr lang="en-US" sz="1800" dirty="0">
                <a:solidFill>
                  <a:schemeClr val="bg2"/>
                </a:solidFill>
              </a:rPr>
              <a:t> (Excel)</a:t>
            </a:r>
          </a:p>
          <a:p>
            <a:pPr>
              <a:defRPr sz="1400" b="0" i="0">
                <a:solidFill>
                  <a:srgbClr val="640000"/>
                </a:solidFill>
              </a:defRPr>
            </a:pP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09E96DC8-7B4C-2966-ABC0-2571A70DBEAE}"/>
              </a:ext>
            </a:extLst>
          </p:cNvPr>
          <p:cNvSpPr/>
          <p:nvPr/>
        </p:nvSpPr>
        <p:spPr>
          <a:xfrm>
            <a:off x="4892040" y="1956142"/>
            <a:ext cx="4023360" cy="4170218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879CA2-2016-4B32-DFBC-FF673995015D}"/>
              </a:ext>
            </a:extLst>
          </p:cNvPr>
          <p:cNvSpPr txBox="1"/>
          <p:nvPr/>
        </p:nvSpPr>
        <p:spPr>
          <a:xfrm>
            <a:off x="5029200" y="2075291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B050"/>
                </a:solidFill>
              </a:defRPr>
            </a:pPr>
            <a:r>
              <a:rPr lang="vi-VN" dirty="0"/>
              <a:t>Hệ</a:t>
            </a:r>
            <a:r>
              <a:rPr dirty="0"/>
              <a:t> </a:t>
            </a:r>
            <a:r>
              <a:rPr lang="vi-VN" dirty="0"/>
              <a:t>thống</a:t>
            </a:r>
            <a:r>
              <a:rPr dirty="0"/>
              <a:t> </a:t>
            </a:r>
            <a:r>
              <a:rPr lang="vi-VN" dirty="0"/>
              <a:t>mới</a:t>
            </a: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02F045-6F30-A73D-F3ED-B1C54E7A4EF8}"/>
              </a:ext>
            </a:extLst>
          </p:cNvPr>
          <p:cNvSpPr/>
          <p:nvPr/>
        </p:nvSpPr>
        <p:spPr>
          <a:xfrm>
            <a:off x="6094675" y="2617698"/>
            <a:ext cx="1737360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E3675-7A52-676E-DF2F-F9AC870C92A6}"/>
              </a:ext>
            </a:extLst>
          </p:cNvPr>
          <p:cNvSpPr txBox="1"/>
          <p:nvPr/>
        </p:nvSpPr>
        <p:spPr>
          <a:xfrm>
            <a:off x="5064981" y="2996570"/>
            <a:ext cx="38046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Tận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nội</a:t>
            </a:r>
            <a:r>
              <a:rPr lang="en-US" sz="1800" dirty="0"/>
              <a:t> </a:t>
            </a:r>
            <a:r>
              <a:rPr lang="en-US" sz="1800" dirty="0" err="1"/>
              <a:t>bộ</a:t>
            </a:r>
            <a:r>
              <a:rPr lang="en-US" sz="1800" dirty="0"/>
              <a:t> </a:t>
            </a:r>
            <a:r>
              <a:rPr lang="en-US" sz="1800" dirty="0" err="1"/>
              <a:t>hiệu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Hỗ</a:t>
            </a:r>
            <a:r>
              <a:rPr lang="en-US" sz="1800" dirty="0"/>
              <a:t> </a:t>
            </a:r>
            <a:r>
              <a:rPr lang="en-US" sz="1800" dirty="0" err="1"/>
              <a:t>trợ</a:t>
            </a:r>
            <a:r>
              <a:rPr lang="en-US" sz="1800" dirty="0"/>
              <a:t> </a:t>
            </a:r>
            <a:r>
              <a:rPr lang="en-US" sz="1800" dirty="0" err="1"/>
              <a:t>khách</a:t>
            </a:r>
            <a:r>
              <a:rPr lang="en-US" sz="1800" dirty="0"/>
              <a:t> </a:t>
            </a:r>
            <a:r>
              <a:rPr lang="en-US" sz="1800" dirty="0" err="1"/>
              <a:t>hàng</a:t>
            </a:r>
            <a:r>
              <a:rPr lang="en-US" sz="1800" dirty="0"/>
              <a:t> </a:t>
            </a:r>
            <a:r>
              <a:rPr lang="en-US" sz="1800" dirty="0" err="1"/>
              <a:t>doanh</a:t>
            </a:r>
            <a:r>
              <a:rPr lang="en-US" sz="1800" dirty="0"/>
              <a:t> </a:t>
            </a:r>
            <a:r>
              <a:rPr lang="en-US" sz="1800" dirty="0" err="1"/>
              <a:t>nghiệp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Nâng</a:t>
            </a:r>
            <a:r>
              <a:rPr lang="en-US" sz="1800" dirty="0"/>
              <a:t> </a:t>
            </a:r>
            <a:r>
              <a:rPr lang="en-US" sz="1800" dirty="0" err="1"/>
              <a:t>cao</a:t>
            </a:r>
            <a:r>
              <a:rPr lang="en-US" sz="1800" dirty="0"/>
              <a:t> </a:t>
            </a:r>
            <a:r>
              <a:rPr lang="en-US" sz="1800" dirty="0" err="1"/>
              <a:t>giá</a:t>
            </a:r>
            <a:r>
              <a:rPr lang="en-US" sz="1800" dirty="0"/>
              <a:t> </a:t>
            </a:r>
            <a:r>
              <a:rPr lang="en-US" sz="1800" dirty="0" err="1"/>
              <a:t>trị</a:t>
            </a:r>
            <a:r>
              <a:rPr lang="en-US" sz="1800" dirty="0"/>
              <a:t> </a:t>
            </a:r>
            <a:r>
              <a:rPr lang="en-US" sz="1800" dirty="0" err="1"/>
              <a:t>dịch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r>
              <a:rPr lang="en-US" sz="1800" dirty="0"/>
              <a:t> </a:t>
            </a:r>
            <a:r>
              <a:rPr lang="en-US" sz="1800" dirty="0" err="1"/>
              <a:t>ngân</a:t>
            </a:r>
            <a:r>
              <a:rPr lang="en-US" sz="1800" dirty="0"/>
              <a:t> </a:t>
            </a:r>
            <a:r>
              <a:rPr lang="en-US" sz="1800" dirty="0" err="1"/>
              <a:t>hàng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vi-VN" sz="1800" dirty="0"/>
              <a:t>✓ Phân tích xu hướng đấu thầu</a:t>
            </a:r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vi-VN" sz="1800" dirty="0"/>
              <a:t>✓ Dữ liệu được chuẩn hóa, sạch</a:t>
            </a:r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, </a:t>
            </a:r>
            <a:r>
              <a:rPr lang="en-US" sz="1800" dirty="0" err="1"/>
              <a:t>ít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trì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mở</a:t>
            </a:r>
            <a:r>
              <a:rPr lang="en-US" sz="1800" dirty="0"/>
              <a:t> </a:t>
            </a:r>
            <a:r>
              <a:rPr lang="en-US" sz="1800" dirty="0" err="1"/>
              <a:t>rộng</a:t>
            </a:r>
            <a:r>
              <a:rPr lang="en-US" sz="1800" dirty="0"/>
              <a:t> </a:t>
            </a:r>
            <a:r>
              <a:rPr lang="en-US" sz="1800" dirty="0" err="1"/>
              <a:t>thêm</a:t>
            </a:r>
            <a:r>
              <a:rPr lang="en-US" sz="1800" dirty="0"/>
              <a:t> </a:t>
            </a:r>
            <a:r>
              <a:rPr lang="en-US" sz="1800" dirty="0" err="1"/>
              <a:t>tính</a:t>
            </a:r>
            <a:r>
              <a:rPr lang="en-US" sz="1800" dirty="0"/>
              <a:t> </a:t>
            </a:r>
            <a:r>
              <a:rPr lang="en-US" sz="1800" dirty="0" err="1"/>
              <a:t>năng</a:t>
            </a:r>
            <a:endParaRPr lang="en-US" sz="1800" dirty="0"/>
          </a:p>
          <a:p>
            <a:pPr algn="l">
              <a:defRPr sz="1400" b="0" i="0">
                <a:solidFill>
                  <a:srgbClr val="006400"/>
                </a:solidFill>
              </a:defRPr>
            </a:pPr>
            <a:endParaRPr lang="vi-VN" sz="1800" dirty="0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EC7C33DC-B9FE-0C8C-4814-DF85DBF8ECDF}"/>
              </a:ext>
            </a:extLst>
          </p:cNvPr>
          <p:cNvSpPr txBox="1">
            <a:spLocks/>
          </p:cNvSpPr>
          <p:nvPr/>
        </p:nvSpPr>
        <p:spPr>
          <a:xfrm>
            <a:off x="-1699996" y="88995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bg2"/>
                </a:solidFill>
              </a:rPr>
              <a:t>Lợi ích khi sử dụng hệ thống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A5BA887-3F0A-7B15-E50E-6135A41E5448}"/>
              </a:ext>
            </a:extLst>
          </p:cNvPr>
          <p:cNvSpPr txBox="1">
            <a:spLocks/>
          </p:cNvSpPr>
          <p:nvPr/>
        </p:nvSpPr>
        <p:spPr>
          <a:xfrm>
            <a:off x="1921823" y="7012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dirty="0"/>
              <a:t>Kết luận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1130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739C3-9867-63EC-F46D-6A9C9C05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BCDBDD-67E7-D61F-B9B3-BF6442041F34}"/>
              </a:ext>
            </a:extLst>
          </p:cNvPr>
          <p:cNvSpPr txBox="1"/>
          <p:nvPr/>
        </p:nvSpPr>
        <p:spPr>
          <a:xfrm>
            <a:off x="640080" y="1236428"/>
            <a:ext cx="804671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</a:t>
            </a:r>
            <a:r>
              <a:rPr lang="vi-VN" dirty="0"/>
              <a:t>H</a:t>
            </a:r>
            <a:r>
              <a:rPr dirty="0"/>
              <a:t>ệ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VietinBank</a:t>
            </a:r>
            <a:r>
              <a:rPr dirty="0"/>
              <a:t> v2.0 — </a:t>
            </a:r>
            <a:r>
              <a:rPr dirty="0" err="1"/>
              <a:t>là</a:t>
            </a:r>
            <a:r>
              <a:rPr dirty="0"/>
              <a:t> CÔNG CỤ THÔNG MINH</a:t>
            </a:r>
            <a:r>
              <a:rPr lang="vi-VN"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rõ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cạnh</a:t>
            </a:r>
            <a:r>
              <a:rPr dirty="0"/>
              <a:t> </a:t>
            </a:r>
            <a:r>
              <a:rPr dirty="0" err="1"/>
              <a:t>tranh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</a:t>
            </a:r>
            <a:r>
              <a:rPr dirty="0" err="1"/>
              <a:t>Tóm</a:t>
            </a:r>
            <a:r>
              <a:rPr dirty="0"/>
              <a:t> </a:t>
            </a:r>
            <a:r>
              <a:rPr dirty="0" err="1"/>
              <a:t>tắt</a:t>
            </a:r>
            <a:r>
              <a:rPr dirty="0"/>
              <a:t> 3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① GỢI Ý THÔNG MINH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/>
              <a:t>•</a:t>
            </a:r>
            <a:r>
              <a:rPr dirty="0"/>
              <a:t>   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Hybrid (TF-IDF + Historical + Price + Recency)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/>
              <a:t>•</a:t>
            </a:r>
            <a:r>
              <a:rPr dirty="0"/>
              <a:t>   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hạng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nhất</a:t>
            </a:r>
            <a:endParaRPr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② PHÂN TÍCH ĐỐI THỦ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   </a:t>
            </a:r>
            <a:r>
              <a:rPr dirty="0" err="1"/>
              <a:t>Biết</a:t>
            </a:r>
            <a:r>
              <a:rPr dirty="0"/>
              <a:t> ai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nguy</a:t>
            </a:r>
            <a:r>
              <a:rPr dirty="0"/>
              <a:t> </a:t>
            </a:r>
            <a:r>
              <a:rPr dirty="0" err="1"/>
              <a:t>hiểm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quyết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gia</a:t>
            </a:r>
            <a:endParaRPr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③ GIAO DIỆN DỄ DÙNG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  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IT —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,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0406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B9E2-9491-E59D-C979-695CC1B6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E5A45-EE19-09C5-A5B8-D6FE6483D70E}"/>
              </a:ext>
            </a:extLst>
          </p:cNvPr>
          <p:cNvSpPr txBox="1"/>
          <p:nvPr/>
        </p:nvSpPr>
        <p:spPr>
          <a:xfrm>
            <a:off x="457200" y="1021743"/>
            <a:ext cx="38186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2"/>
                </a:solidFill>
              </a:rPr>
              <a:t>[BACKUP] Thông tin </a:t>
            </a:r>
            <a:r>
              <a:rPr sz="2000" dirty="0" err="1">
                <a:solidFill>
                  <a:schemeClr val="bg2"/>
                </a:solidFill>
              </a:rPr>
              <a:t>kỹ</a:t>
            </a:r>
            <a:r>
              <a:rPr sz="2000" dirty="0">
                <a:solidFill>
                  <a:schemeClr val="bg2"/>
                </a:solidFill>
              </a:rPr>
              <a:t> </a:t>
            </a:r>
            <a:r>
              <a:rPr sz="2000" dirty="0" err="1">
                <a:solidFill>
                  <a:schemeClr val="bg2"/>
                </a:solidFill>
              </a:rPr>
              <a:t>thuật</a:t>
            </a:r>
            <a:r>
              <a:rPr sz="20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A081-63A4-42D2-877C-0BB21DEED53E}"/>
              </a:ext>
            </a:extLst>
          </p:cNvPr>
          <p:cNvSpPr txBox="1"/>
          <p:nvPr/>
        </p:nvSpPr>
        <p:spPr>
          <a:xfrm>
            <a:off x="789227" y="1421853"/>
            <a:ext cx="6973294" cy="516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Framework: </a:t>
            </a:r>
            <a:r>
              <a:rPr sz="1600" dirty="0" err="1"/>
              <a:t>Streamlit</a:t>
            </a:r>
            <a:r>
              <a:rPr sz="1600" dirty="0"/>
              <a:t> (Python web framework)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Thuật</a:t>
            </a:r>
            <a:r>
              <a:rPr sz="1600" dirty="0"/>
              <a:t> </a:t>
            </a:r>
            <a:r>
              <a:rPr sz="1600" dirty="0" err="1"/>
              <a:t>toán</a:t>
            </a:r>
            <a:r>
              <a:rPr sz="1600" dirty="0"/>
              <a:t> </a:t>
            </a:r>
            <a:r>
              <a:rPr sz="1600" dirty="0" err="1"/>
              <a:t>tìm</a:t>
            </a:r>
            <a:r>
              <a:rPr sz="1600" dirty="0"/>
              <a:t> </a:t>
            </a:r>
            <a:r>
              <a:rPr sz="1600" dirty="0" err="1"/>
              <a:t>kiếm</a:t>
            </a:r>
            <a:r>
              <a:rPr sz="1600" dirty="0"/>
              <a:t>: TF-IDF Vectorizer (scikit-learn)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Mô</a:t>
            </a:r>
            <a:r>
              <a:rPr sz="1600" dirty="0"/>
              <a:t> </a:t>
            </a:r>
            <a:r>
              <a:rPr sz="1600" dirty="0" err="1"/>
              <a:t>hình</a:t>
            </a:r>
            <a:r>
              <a:rPr sz="1600" dirty="0"/>
              <a:t> </a:t>
            </a:r>
            <a:r>
              <a:rPr sz="1600" dirty="0" err="1"/>
              <a:t>ngữ</a:t>
            </a:r>
            <a:r>
              <a:rPr sz="1600" dirty="0"/>
              <a:t> </a:t>
            </a:r>
            <a:r>
              <a:rPr sz="1600" dirty="0" err="1"/>
              <a:t>nghĩa</a:t>
            </a:r>
            <a:r>
              <a:rPr sz="1600" dirty="0"/>
              <a:t>: BAAI/bge-m3 (Sentence-Transformer) — </a:t>
            </a:r>
            <a:r>
              <a:rPr sz="1600" dirty="0" err="1"/>
              <a:t>tùy</a:t>
            </a:r>
            <a:r>
              <a:rPr sz="1600" dirty="0"/>
              <a:t> </a:t>
            </a:r>
            <a:r>
              <a:rPr sz="1600" dirty="0" err="1"/>
              <a:t>chọn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Định </a:t>
            </a:r>
            <a:r>
              <a:rPr sz="1600" dirty="0" err="1"/>
              <a:t>dạng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: Parquet (</a:t>
            </a:r>
            <a:r>
              <a:rPr sz="1600" dirty="0" err="1"/>
              <a:t>nhanh</a:t>
            </a:r>
            <a:r>
              <a:rPr sz="1600" dirty="0"/>
              <a:t> </a:t>
            </a:r>
            <a:r>
              <a:rPr sz="1600" dirty="0" err="1"/>
              <a:t>hơn</a:t>
            </a:r>
            <a:r>
              <a:rPr sz="1600" dirty="0"/>
              <a:t> CSV ~10x)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Ngôn</a:t>
            </a:r>
            <a:r>
              <a:rPr sz="1600" dirty="0"/>
              <a:t> </a:t>
            </a:r>
            <a:r>
              <a:rPr sz="1600" dirty="0" err="1"/>
              <a:t>ngữ</a:t>
            </a:r>
            <a:r>
              <a:rPr sz="1600" dirty="0"/>
              <a:t> </a:t>
            </a:r>
            <a:r>
              <a:rPr sz="1600" dirty="0" err="1"/>
              <a:t>lập</a:t>
            </a:r>
            <a:r>
              <a:rPr sz="1600" dirty="0"/>
              <a:t> </a:t>
            </a:r>
            <a:r>
              <a:rPr sz="1600" dirty="0" err="1"/>
              <a:t>trình</a:t>
            </a:r>
            <a:r>
              <a:rPr sz="1600" dirty="0"/>
              <a:t>: Python 3.x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Cấu</a:t>
            </a:r>
            <a:r>
              <a:rPr sz="1600" dirty="0"/>
              <a:t> </a:t>
            </a:r>
            <a:r>
              <a:rPr sz="1600" dirty="0" err="1"/>
              <a:t>trúc</a:t>
            </a:r>
            <a:r>
              <a:rPr sz="1600" dirty="0"/>
              <a:t> </a:t>
            </a:r>
            <a:r>
              <a:rPr sz="1600" dirty="0" err="1"/>
              <a:t>thư</a:t>
            </a:r>
            <a:r>
              <a:rPr sz="1600" dirty="0"/>
              <a:t> </a:t>
            </a:r>
            <a:r>
              <a:rPr sz="1600" dirty="0" err="1"/>
              <a:t>mục</a:t>
            </a:r>
            <a:r>
              <a:rPr sz="1600" dirty="0"/>
              <a:t> </a:t>
            </a:r>
            <a:r>
              <a:rPr sz="1600" dirty="0" err="1"/>
              <a:t>chính</a:t>
            </a:r>
            <a:r>
              <a:rPr sz="1600" dirty="0"/>
              <a:t>: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   </a:t>
            </a:r>
            <a:r>
              <a:rPr sz="1600" dirty="0" err="1"/>
              <a:t>src</a:t>
            </a:r>
            <a:r>
              <a:rPr sz="1600" dirty="0"/>
              <a:t>/</a:t>
            </a:r>
            <a:r>
              <a:rPr sz="1600" dirty="0" err="1"/>
              <a:t>project_dau_thau</a:t>
            </a:r>
            <a:r>
              <a:rPr sz="1600" dirty="0"/>
              <a:t>/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├── data/      — </a:t>
            </a:r>
            <a:r>
              <a:rPr sz="1600" dirty="0" err="1"/>
              <a:t>Xử</a:t>
            </a:r>
            <a:r>
              <a:rPr sz="1600" dirty="0"/>
              <a:t> </a:t>
            </a:r>
            <a:r>
              <a:rPr sz="1600" dirty="0" err="1"/>
              <a:t>lý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├── ranking/    — </a:t>
            </a:r>
            <a:r>
              <a:rPr sz="1600" dirty="0" err="1"/>
              <a:t>Thuật</a:t>
            </a:r>
            <a:r>
              <a:rPr sz="1600" dirty="0"/>
              <a:t> </a:t>
            </a:r>
            <a:r>
              <a:rPr sz="1600" dirty="0" err="1"/>
              <a:t>toán</a:t>
            </a:r>
            <a:r>
              <a:rPr sz="1600" dirty="0"/>
              <a:t> </a:t>
            </a:r>
            <a:r>
              <a:rPr sz="1600" dirty="0" err="1"/>
              <a:t>xếp</a:t>
            </a:r>
            <a:r>
              <a:rPr sz="1600" dirty="0"/>
              <a:t> </a:t>
            </a:r>
            <a:r>
              <a:rPr sz="1600" dirty="0" err="1"/>
              <a:t>hạng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├── services/   — Logic </a:t>
            </a:r>
            <a:r>
              <a:rPr sz="1600" dirty="0" err="1"/>
              <a:t>nghiệp</a:t>
            </a:r>
            <a:r>
              <a:rPr sz="1600" dirty="0"/>
              <a:t> </a:t>
            </a:r>
            <a:r>
              <a:rPr sz="1600" dirty="0" err="1"/>
              <a:t>vụ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└── </a:t>
            </a:r>
            <a:r>
              <a:rPr sz="1600" dirty="0" err="1"/>
              <a:t>ui</a:t>
            </a:r>
            <a:r>
              <a:rPr sz="1600" dirty="0"/>
              <a:t>/         — Giao </a:t>
            </a:r>
            <a:r>
              <a:rPr sz="1600" dirty="0" err="1"/>
              <a:t>diện</a:t>
            </a:r>
            <a:r>
              <a:rPr sz="1600" dirty="0"/>
              <a:t> </a:t>
            </a:r>
            <a:r>
              <a:rPr sz="1600" dirty="0" err="1"/>
              <a:t>Streamlit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Các file artifact (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 </a:t>
            </a:r>
            <a:r>
              <a:rPr sz="1600" dirty="0" err="1"/>
              <a:t>đã</a:t>
            </a:r>
            <a:r>
              <a:rPr sz="1600" dirty="0"/>
              <a:t> </a:t>
            </a:r>
            <a:r>
              <a:rPr sz="1600" dirty="0" err="1"/>
              <a:t>xử</a:t>
            </a:r>
            <a:r>
              <a:rPr sz="1600" dirty="0"/>
              <a:t> </a:t>
            </a:r>
            <a:r>
              <a:rPr sz="1600" dirty="0" err="1"/>
              <a:t>lý</a:t>
            </a:r>
            <a:r>
              <a:rPr sz="1600" dirty="0"/>
              <a:t>):</a:t>
            </a:r>
            <a:r>
              <a:rPr lang="vi-VN" sz="1600" dirty="0"/>
              <a:t> </a:t>
            </a:r>
            <a:r>
              <a:rPr sz="1600" dirty="0"/>
              <a:t>data/curated/    +  artifacts/</a:t>
            </a:r>
          </a:p>
        </p:txBody>
      </p:sp>
    </p:spTree>
    <p:extLst>
      <p:ext uri="{BB962C8B-B14F-4D97-AF65-F5344CB8AC3E}">
        <p14:creationId xmlns:p14="http://schemas.microsoft.com/office/powerpoint/2010/main" val="16206611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5801-AF3B-4E3B-E477-EE26E8B7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Q&amp;A</a:t>
            </a:r>
            <a:endParaRPr lang="en-US" dirty="0"/>
          </a:p>
        </p:txBody>
      </p:sp>
      <p:pic>
        <p:nvPicPr>
          <p:cNvPr id="4" name="Google Shape;163;p9" descr="Image result for Q&amp;A">
            <a:extLst>
              <a:ext uri="{FF2B5EF4-FFF2-40B4-BE49-F238E27FC236}">
                <a16:creationId xmlns:a16="http://schemas.microsoft.com/office/drawing/2014/main" id="{1E0D45F3-B79B-E8A0-B410-41CBF40F7E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4775" y="1391478"/>
            <a:ext cx="6996183" cy="4673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5685889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2_Integration Managemen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2911</Words>
  <Application>Microsoft Office PowerPoint</Application>
  <PresentationFormat>On-screen Show (4:3)</PresentationFormat>
  <Paragraphs>429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Wingdings</vt:lpstr>
      <vt:lpstr>Session 02_Integration Management</vt:lpstr>
      <vt:lpstr>Hệ thống gợi ý đấu thầu  cho doanh nghiệp</vt:lpstr>
      <vt:lpstr>Nội dung trình bày</vt:lpstr>
      <vt:lpstr>Tổng quan dự án</vt:lpstr>
      <vt:lpstr>Tổng quan dự án</vt:lpstr>
      <vt:lpstr>Tổng quan dự án</vt:lpstr>
      <vt:lpstr>Chức năng chính</vt:lpstr>
      <vt:lpstr>Luồng hoạt động</vt:lpstr>
      <vt:lpstr>Giải thuật chi tiết</vt:lpstr>
      <vt:lpstr>Giải thuật chi tiết</vt:lpstr>
      <vt:lpstr>Giải thuật chi tiết</vt:lpstr>
      <vt:lpstr>Giải thuật chi tiết</vt:lpstr>
      <vt:lpstr>Giải thuật chi tiết</vt:lpstr>
      <vt:lpstr>Giải thuật chi tiết</vt:lpstr>
      <vt:lpstr>Cách hệ thống chấm điểm</vt:lpstr>
      <vt:lpstr>Cách hệ thống chấm điểm</vt:lpstr>
      <vt:lpstr>Cách hệ thống chấm điểm</vt:lpstr>
      <vt:lpstr>Cách hệ thống chấm điểm</vt:lpstr>
      <vt:lpstr>Cách hệ thống chấm điểm</vt:lpstr>
      <vt:lpstr>Cách hệ thống chấm điểm</vt:lpstr>
      <vt:lpstr>Cách hệ thống chấm điểm</vt:lpstr>
      <vt:lpstr>Phân tích đối thủ cạnh tranh</vt:lpstr>
      <vt:lpstr>Phân tích đối thủ cạnh tranh</vt:lpstr>
      <vt:lpstr>PowerPoint Presentation</vt:lpstr>
      <vt:lpstr>Demo hệ thống</vt:lpstr>
      <vt:lpstr>PowerPoint Presentation</vt:lpstr>
      <vt:lpstr>PowerPoint Presentation</vt:lpstr>
      <vt:lpstr>PowerPoint Presentation</vt:lpstr>
      <vt:lpstr>PowerPoint Presentation</vt:lpstr>
      <vt:lpstr>Kết luận</vt:lpstr>
      <vt:lpstr>PowerPoint Presentation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Kien Nguyen</dc:creator>
  <cp:lastModifiedBy>Cong Minh Nguyen</cp:lastModifiedBy>
  <cp:revision>5</cp:revision>
  <dcterms:created xsi:type="dcterms:W3CDTF">2023-06-06T00:47:32Z</dcterms:created>
  <dcterms:modified xsi:type="dcterms:W3CDTF">2026-03-26T09:41:40Z</dcterms:modified>
</cp:coreProperties>
</file>